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fntdata" ContentType="application/x-fontdata"/>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1365" cy="6858000" type="screen4x3"/>
  <p:notesSz cx="6858000" cy="9144000"/>
  <p:embeddedFontLst>
    <p:embeddedFont>
      <p:font typeface="Cairo" pitchFamily="2" charset="-78"/>
      <p:regular r:id="rId21"/>
      <p:bold r:id="rId2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 Id="rId21" Type="http://schemas.openxmlformats.org/officeDocument/2006/relationships/font" Target="fonts/font1.fntdata"/><Relationship Id="rId22"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0A14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ero_dark_ar.png"/>
          <p:cNvPicPr>
            <a:picLocks noChangeAspect="1"/>
          </p:cNvPicPr>
          <p:nvPr/>
        </p:nvPicPr>
        <p:blipFill>
          <a:blip r:embed="rId1"/>
          <a:stretch>
            <a:fillRect/>
          </a:stretch>
        </p:blipFill>
        <p:spPr>
          <a:xfrm>
            <a:off x="0" y="0"/>
            <a:ext cx="12191695" cy="6858000"/>
          </a:xfrm>
          <a:prstGeom prst="rect">
            <a:avLst/>
          </a:prstGeom>
        </p:spPr>
      </p:pic>
      <p:pic>
        <p:nvPicPr>
          <p:cNvPr id="4" name="Picture 3" descr="logo.png"/>
          <p:cNvPicPr>
            <a:picLocks noChangeAspect="1"/>
          </p:cNvPicPr>
          <p:nvPr/>
        </p:nvPicPr>
        <p:blipFill>
          <a:blip r:embed="rId2"/>
          <a:stretch>
            <a:fillRect/>
          </a:stretch>
        </p:blipFill>
        <p:spPr>
          <a:xfrm>
            <a:off x="11149279" y="566928"/>
            <a:ext cx="384048" cy="384048"/>
          </a:xfrm>
          <a:prstGeom prst="rect">
            <a:avLst/>
          </a:prstGeom>
        </p:spPr>
      </p:pic>
      <p:sp>
        <p:nvSpPr>
          <p:cNvPr id="5" name="TextBox 4"/>
          <p:cNvSpPr txBox="1"/>
          <p:nvPr/>
        </p:nvSpPr>
        <p:spPr>
          <a:xfrm>
            <a:off x="8305495" y="548640"/>
            <a:ext cx="2743200" cy="457200"/>
          </a:xfrm>
          <a:prstGeom prst="rect">
            <a:avLst/>
          </a:prstGeom>
          <a:noFill/>
        </p:spPr>
        <p:txBody>
          <a:bodyPr wrap="square" lIns="0" tIns="0" rIns="0" bIns="0" anchor="t">
            <a:spAutoFit/>
          </a:bodyPr>
          <a:lstStyle/>
          <a:p>
            <a:pPr algn="r" rtl="1">
              <a:lnSpc>
                <a:spcPct val="115000"/>
              </a:lnSpc>
            </a:pPr>
            <a:r>
              <a:rPr sz="2200" b="1" i="0">
                <a:solidFill>
                  <a:srgbClr val="F4F1EA"/>
                </a:solidFill>
                <a:latin typeface="Cairo"/>
                <a:cs typeface="Cairo"/>
              </a:rPr>
              <a:t>Hasio</a:t>
            </a:r>
            <a:endParaRPr sz="2200" b="1" i="0">
              <a:solidFill>
                <a:srgbClr val="F4F1EA"/>
              </a:solidFill>
              <a:latin typeface="Cairo"/>
              <a:cs typeface="Cairo"/>
            </a:endParaRPr>
          </a:p>
        </p:txBody>
      </p:sp>
      <p:sp>
        <p:nvSpPr>
          <p:cNvPr id="6" name="TextBox 5"/>
          <p:cNvSpPr txBox="1"/>
          <p:nvPr/>
        </p:nvSpPr>
        <p:spPr>
          <a:xfrm>
            <a:off x="4218127" y="2103120"/>
            <a:ext cx="7315200" cy="320040"/>
          </a:xfrm>
          <a:prstGeom prst="rect">
            <a:avLst/>
          </a:prstGeom>
          <a:noFill/>
        </p:spPr>
        <p:txBody>
          <a:bodyPr wrap="square" lIns="0" tIns="0" rIns="0" bIns="0" anchor="t">
            <a:spAutoFit/>
          </a:bodyPr>
          <a:lstStyle/>
          <a:p>
            <a:pPr algn="r" rtl="1">
              <a:lnSpc>
                <a:spcPct val="115000"/>
              </a:lnSpc>
            </a:pPr>
            <a:r>
              <a:rPr sz="1100" b="1" i="0">
                <a:solidFill>
                  <a:srgbClr val="E2C46A"/>
                </a:solidFill>
                <a:latin typeface="Cairo"/>
                <a:cs typeface="Cairo"/>
              </a:rPr>
              <a:t>عرض للمستثمرين · جولة تأسيسية</a:t>
            </a:r>
            <a:endParaRPr sz="1100" b="1" i="0">
              <a:solidFill>
                <a:srgbClr val="E2C46A"/>
              </a:solidFill>
              <a:latin typeface="Cairo"/>
              <a:cs typeface="Cairo"/>
            </a:endParaRPr>
          </a:p>
        </p:txBody>
      </p:sp>
      <p:sp>
        <p:nvSpPr>
          <p:cNvPr id="7" name="TextBox 6"/>
          <p:cNvSpPr txBox="1"/>
          <p:nvPr/>
        </p:nvSpPr>
        <p:spPr>
          <a:xfrm>
            <a:off x="3852367" y="2514600"/>
            <a:ext cx="7680960" cy="1828800"/>
          </a:xfrm>
          <a:prstGeom prst="rect">
            <a:avLst/>
          </a:prstGeom>
          <a:noFill/>
        </p:spPr>
        <p:txBody>
          <a:bodyPr wrap="square" lIns="0" tIns="0" rIns="0" bIns="0" anchor="t">
            <a:spAutoFit/>
          </a:bodyPr>
          <a:lstStyle/>
          <a:p>
            <a:pPr algn="r" rtl="1">
              <a:lnSpc>
                <a:spcPct val="115000"/>
              </a:lnSpc>
            </a:pPr>
            <a:r>
              <a:rPr sz="4800" b="1" i="0">
                <a:solidFill>
                  <a:srgbClr val="F4F1EA"/>
                </a:solidFill>
                <a:latin typeface="Cairo"/>
                <a:cs typeface="Cairo"/>
              </a:rPr>
              <a:t>السعودية،</a:t>
            </a:r>
            <a:endParaRPr sz="4800" b="1" i="0">
              <a:solidFill>
                <a:srgbClr val="F4F1EA"/>
              </a:solidFill>
              <a:latin typeface="Cairo"/>
              <a:cs typeface="Cairo"/>
            </a:endParaRPr>
          </a:p>
          <a:p>
            <a:pPr algn="r" rtl="1">
              <a:lnSpc>
                <a:spcPct val="115000"/>
              </a:lnSpc>
            </a:pPr>
            <a:r>
              <a:rPr sz="4800" b="1" i="0">
                <a:solidFill>
                  <a:srgbClr val="F4F1EA"/>
                </a:solidFill>
                <a:latin typeface="Cairo"/>
                <a:cs typeface="Cairo"/>
              </a:rPr>
              <a:t>أبعد من المتوقّع.</a:t>
            </a:r>
            <a:endParaRPr sz="4800" b="1" i="0">
              <a:solidFill>
                <a:srgbClr val="F4F1EA"/>
              </a:solidFill>
              <a:latin typeface="Cairo"/>
              <a:cs typeface="Cairo"/>
            </a:endParaRPr>
          </a:p>
        </p:txBody>
      </p:sp>
      <p:sp>
        <p:nvSpPr>
          <p:cNvPr id="8" name="TextBox 7"/>
          <p:cNvSpPr txBox="1"/>
          <p:nvPr/>
        </p:nvSpPr>
        <p:spPr>
          <a:xfrm>
            <a:off x="5498287" y="4434840"/>
            <a:ext cx="6035040" cy="1188720"/>
          </a:xfrm>
          <a:prstGeom prst="rect">
            <a:avLst/>
          </a:prstGeom>
          <a:noFill/>
        </p:spPr>
        <p:txBody>
          <a:bodyPr wrap="square" lIns="0" tIns="0" rIns="0" bIns="0" anchor="t">
            <a:spAutoFit/>
          </a:bodyPr>
          <a:lstStyle/>
          <a:p>
            <a:pPr algn="r" rtl="1">
              <a:lnSpc>
                <a:spcPct val="150000"/>
              </a:lnSpc>
            </a:pPr>
            <a:r>
              <a:rPr sz="1400" b="0" i="0">
                <a:solidFill>
                  <a:srgbClr val="DFE7E2"/>
                </a:solidFill>
                <a:latin typeface="Cairo"/>
                <a:cs typeface="Cairo"/>
              </a:rPr>
              <a:t>رفيق السفر الذكي للمملكة العربية السعودية. متوفر على iOS و Android، ويعمل اليوم في المنطقة الشرقية، وصُمّم ليجعل المسافر يشعر بالمكان قبل أن يذهب إليه.</a:t>
            </a:r>
            <a:endParaRPr sz="1400" b="0" i="0">
              <a:solidFill>
                <a:srgbClr val="DFE7E2"/>
              </a:solidFill>
              <a:latin typeface="Cairo"/>
              <a:cs typeface="Cairo"/>
            </a:endParaRPr>
          </a:p>
        </p:txBody>
      </p:sp>
      <p:sp>
        <p:nvSpPr>
          <p:cNvPr id="9" name="TextBox 8"/>
          <p:cNvSpPr txBox="1"/>
          <p:nvPr/>
        </p:nvSpPr>
        <p:spPr>
          <a:xfrm>
            <a:off x="6046927" y="6364224"/>
            <a:ext cx="5486400" cy="256032"/>
          </a:xfrm>
          <a:prstGeom prst="rect">
            <a:avLst/>
          </a:prstGeom>
          <a:noFill/>
        </p:spPr>
        <p:txBody>
          <a:bodyPr wrap="square" lIns="0" tIns="0" rIns="0" bIns="0" anchor="t">
            <a:spAutoFit/>
          </a:bodyPr>
          <a:lstStyle/>
          <a:p>
            <a:pPr algn="r" rtl="1">
              <a:lnSpc>
                <a:spcPct val="115000"/>
              </a:lnSpc>
            </a:pPr>
            <a:r>
              <a:rPr sz="900" b="0" i="0">
                <a:solidFill>
                  <a:srgbClr val="CFE0D7"/>
                </a:solidFill>
                <a:latin typeface="Cairo"/>
                <a:cs typeface="Cairo"/>
              </a:rPr>
              <a:t>مرزوق الشمري · hasio.net</a:t>
            </a:r>
            <a:endParaRPr sz="900" b="0" i="0">
              <a:solidFill>
                <a:srgbClr val="CFE0D7"/>
              </a:solidFill>
              <a:latin typeface="Cairo"/>
              <a:cs typeface="Cairo"/>
            </a:endParaRPr>
          </a:p>
        </p:txBody>
      </p:sp>
      <p:sp>
        <p:nvSpPr>
          <p:cNvPr id="10" name="TextBox 9"/>
          <p:cNvSpPr txBox="1"/>
          <p:nvPr/>
        </p:nvSpPr>
        <p:spPr>
          <a:xfrm>
            <a:off x="658368" y="6364224"/>
            <a:ext cx="4572000" cy="256032"/>
          </a:xfrm>
          <a:prstGeom prst="rect">
            <a:avLst/>
          </a:prstGeom>
          <a:noFill/>
        </p:spPr>
        <p:txBody>
          <a:bodyPr wrap="square" lIns="0" tIns="0" rIns="0" bIns="0" anchor="t">
            <a:spAutoFit/>
          </a:bodyPr>
          <a:lstStyle/>
          <a:p>
            <a:pPr algn="l" rtl="1">
              <a:lnSpc>
                <a:spcPct val="115000"/>
              </a:lnSpc>
            </a:pPr>
            <a:r>
              <a:rPr sz="900" b="0" i="0">
                <a:solidFill>
                  <a:srgbClr val="CFE0D7"/>
                </a:solidFill>
                <a:latin typeface="Cairo"/>
                <a:cs typeface="Cairo"/>
              </a:rPr>
              <a:t>سرّي · سبتمبر 2026</a:t>
            </a:r>
            <a:endParaRPr sz="900" b="0" i="0">
              <a:solidFill>
                <a:srgbClr val="CFE0D7"/>
              </a:solidFill>
              <a:latin typeface="Cairo"/>
              <a:cs typeface="Cairo"/>
            </a:endParaRPr>
          </a:p>
        </p:txBody>
      </p:sp>
      <p:sp>
        <p:nvSpPr>
          <p:cNvPr id="11" name="TextBox 10"/>
          <p:cNvSpPr txBox="1"/>
          <p:nvPr/>
        </p:nvSpPr>
        <p:spPr>
          <a:xfrm>
            <a:off x="658368" y="3886200"/>
            <a:ext cx="3246120" cy="320040"/>
          </a:xfrm>
          <a:prstGeom prst="rect">
            <a:avLst/>
          </a:prstGeom>
          <a:noFill/>
        </p:spPr>
        <p:txBody>
          <a:bodyPr wrap="square" lIns="0" tIns="0" rIns="0" bIns="0" anchor="ctr">
            <a:spAutoFit/>
          </a:bodyPr>
          <a:lstStyle/>
          <a:p>
            <a:pPr algn="ctr" rtl="1"/>
            <a:r>
              <a:rPr sz="1200" b="1">
                <a:solidFill>
                  <a:srgbClr val="E2C46A"/>
                </a:solidFill>
                <a:latin typeface="Cairo"/>
                <a:cs typeface="Cairo"/>
              </a:rPr>
              <a:t>حمّل التطبيق وجرّبه الآن</a:t>
            </a:r>
            <a:endParaRPr sz="1200" b="1">
              <a:solidFill>
                <a:srgbClr val="E2C46A"/>
              </a:solidFill>
              <a:latin typeface="Cairo"/>
              <a:cs typeface="Cairo"/>
            </a:endParaRPr>
          </a:p>
        </p:txBody>
      </p:sp>
      <p:sp>
        <p:nvSpPr>
          <p:cNvPr id="12" name="Rounded Rectangle 11"/>
          <p:cNvSpPr/>
          <p:nvPr/>
        </p:nvSpPr>
        <p:spPr>
          <a:xfrm>
            <a:off x="658368" y="4297680"/>
            <a:ext cx="1508760" cy="1874520"/>
          </a:xfrm>
          <a:prstGeom prst="roundRect">
            <a:avLst>
              <a:gd name="adj" fmla="val 8000"/>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qr_apple.png"/>
          <p:cNvPicPr>
            <a:picLocks noChangeAspect="1"/>
          </p:cNvPicPr>
          <p:nvPr/>
        </p:nvPicPr>
        <p:blipFill>
          <a:blip r:embed="rId3"/>
          <a:stretch>
            <a:fillRect/>
          </a:stretch>
        </p:blipFill>
        <p:spPr>
          <a:xfrm>
            <a:off x="772668" y="4411980"/>
            <a:ext cx="1280160" cy="1280160"/>
          </a:xfrm>
          <a:prstGeom prst="rect">
            <a:avLst/>
          </a:prstGeom>
        </p:spPr>
      </p:pic>
      <p:sp>
        <p:nvSpPr>
          <p:cNvPr id="14" name="TextBox 13"/>
          <p:cNvSpPr txBox="1"/>
          <p:nvPr/>
        </p:nvSpPr>
        <p:spPr>
          <a:xfrm>
            <a:off x="658368" y="5710428"/>
            <a:ext cx="1508760" cy="320040"/>
          </a:xfrm>
          <a:prstGeom prst="rect">
            <a:avLst/>
          </a:prstGeom>
          <a:noFill/>
        </p:spPr>
        <p:txBody>
          <a:bodyPr wrap="square" lIns="0" tIns="0" rIns="0" bIns="0" anchor="ctr">
            <a:spAutoFit/>
          </a:bodyPr>
          <a:lstStyle/>
          <a:p>
            <a:pPr algn="ctr" rtl="1"/>
            <a:r>
              <a:rPr sz="1100" b="1">
                <a:solidFill>
                  <a:srgbClr val="1C1B1B"/>
                </a:solidFill>
                <a:latin typeface="Cairo"/>
                <a:cs typeface="Cairo"/>
              </a:rPr>
              <a:t>App Store</a:t>
            </a:r>
            <a:endParaRPr sz="1100" b="1">
              <a:solidFill>
                <a:srgbClr val="1C1B1B"/>
              </a:solidFill>
              <a:latin typeface="Cairo"/>
              <a:cs typeface="Cairo"/>
            </a:endParaRPr>
          </a:p>
        </p:txBody>
      </p:sp>
      <p:sp>
        <p:nvSpPr>
          <p:cNvPr id="15" name="Rounded Rectangle 14"/>
          <p:cNvSpPr/>
          <p:nvPr/>
        </p:nvSpPr>
        <p:spPr>
          <a:xfrm>
            <a:off x="2395728" y="4297680"/>
            <a:ext cx="1508760" cy="1874520"/>
          </a:xfrm>
          <a:prstGeom prst="roundRect">
            <a:avLst>
              <a:gd name="adj" fmla="val 8000"/>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qr_play.png"/>
          <p:cNvPicPr>
            <a:picLocks noChangeAspect="1"/>
          </p:cNvPicPr>
          <p:nvPr/>
        </p:nvPicPr>
        <p:blipFill>
          <a:blip r:embed="rId4"/>
          <a:stretch>
            <a:fillRect/>
          </a:stretch>
        </p:blipFill>
        <p:spPr>
          <a:xfrm>
            <a:off x="2510028" y="4411980"/>
            <a:ext cx="1280160" cy="1280160"/>
          </a:xfrm>
          <a:prstGeom prst="rect">
            <a:avLst/>
          </a:prstGeom>
        </p:spPr>
      </p:pic>
      <p:sp>
        <p:nvSpPr>
          <p:cNvPr id="17" name="TextBox 16"/>
          <p:cNvSpPr txBox="1"/>
          <p:nvPr/>
        </p:nvSpPr>
        <p:spPr>
          <a:xfrm>
            <a:off x="2395728" y="5710428"/>
            <a:ext cx="1508760" cy="320040"/>
          </a:xfrm>
          <a:prstGeom prst="rect">
            <a:avLst/>
          </a:prstGeom>
          <a:noFill/>
        </p:spPr>
        <p:txBody>
          <a:bodyPr wrap="square" lIns="0" tIns="0" rIns="0" bIns="0" anchor="ctr">
            <a:spAutoFit/>
          </a:bodyPr>
          <a:lstStyle/>
          <a:p>
            <a:pPr algn="ctr" rtl="1"/>
            <a:r>
              <a:rPr sz="1100" b="1">
                <a:solidFill>
                  <a:srgbClr val="1C1B1B"/>
                </a:solidFill>
                <a:latin typeface="Cairo"/>
                <a:cs typeface="Cairo"/>
              </a:rPr>
              <a:t>Google Play</a:t>
            </a:r>
            <a:endParaRPr sz="1100" b="1">
              <a:solidFill>
                <a:srgbClr val="1C1B1B"/>
              </a:solidFill>
              <a:latin typeface="Cairo"/>
              <a:cs typeface="Cair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C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63847" y="457200"/>
            <a:ext cx="7315200" cy="292608"/>
          </a:xfrm>
          <a:prstGeom prst="rect">
            <a:avLst/>
          </a:prstGeom>
          <a:noFill/>
        </p:spPr>
        <p:txBody>
          <a:bodyPr wrap="square" lIns="0" tIns="0" rIns="0" bIns="0" anchor="t">
            <a:spAutoFit/>
          </a:bodyPr>
          <a:lstStyle/>
          <a:p>
            <a:pPr algn="r" rtl="1">
              <a:lnSpc>
                <a:spcPct val="115000"/>
              </a:lnSpc>
            </a:pPr>
            <a:r>
              <a:rPr sz="1050" b="1" i="0">
                <a:solidFill>
                  <a:srgbClr val="0D7A5F"/>
                </a:solidFill>
                <a:latin typeface="Cairo"/>
                <a:cs typeface="Cairo"/>
              </a:rPr>
              <a:t>المشكلة</a:t>
            </a:r>
            <a:endParaRPr sz="1050" b="1" i="0">
              <a:solidFill>
                <a:srgbClr val="0D7A5F"/>
              </a:solidFill>
              <a:latin typeface="Cairo"/>
              <a:cs typeface="Cairo"/>
            </a:endParaRPr>
          </a:p>
        </p:txBody>
      </p:sp>
      <p:sp>
        <p:nvSpPr>
          <p:cNvPr id="4" name="TextBox 3"/>
          <p:cNvSpPr txBox="1"/>
          <p:nvPr/>
        </p:nvSpPr>
        <p:spPr>
          <a:xfrm>
            <a:off x="612647" y="475488"/>
            <a:ext cx="1828800" cy="274320"/>
          </a:xfrm>
          <a:prstGeom prst="rect">
            <a:avLst/>
          </a:prstGeom>
          <a:noFill/>
        </p:spPr>
        <p:txBody>
          <a:bodyPr wrap="square" lIns="0" tIns="0" rIns="0" bIns="0" anchor="t">
            <a:spAutoFit/>
          </a:bodyPr>
          <a:lstStyle/>
          <a:p>
            <a:pPr algn="l" rtl="0">
              <a:lnSpc>
                <a:spcPct val="115000"/>
              </a:lnSpc>
            </a:pPr>
            <a:r>
              <a:rPr sz="950" b="0" i="0" spc="100">
                <a:solidFill>
                  <a:srgbClr val="57635D"/>
                </a:solidFill>
                <a:latin typeface="Cairo"/>
                <a:cs typeface="Cairo"/>
              </a:rPr>
              <a:t>02 / 14</a:t>
            </a:r>
            <a:endParaRPr sz="950" b="0" i="0" spc="100">
              <a:solidFill>
                <a:srgbClr val="57635D"/>
              </a:solidFill>
              <a:latin typeface="Cairo"/>
              <a:cs typeface="Cairo"/>
            </a:endParaRPr>
          </a:p>
        </p:txBody>
      </p:sp>
      <p:cxnSp>
        <p:nvCxnSpPr>
          <p:cNvPr id="5" name="Connector 4"/>
          <p:cNvCxnSpPr/>
          <p:nvPr/>
        </p:nvCxnSpPr>
        <p:spPr>
          <a:xfrm>
            <a:off x="612647" y="822960"/>
            <a:ext cx="10966400" cy="0"/>
          </a:xfrm>
          <a:prstGeom prst="line">
            <a:avLst/>
          </a:prstGeom>
          <a:ln w="9525">
            <a:solidFill>
              <a:srgbClr val="D9D2C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921447" y="6364224"/>
            <a:ext cx="3657600" cy="256032"/>
          </a:xfrm>
          <a:prstGeom prst="rect">
            <a:avLst/>
          </a:prstGeom>
          <a:noFill/>
        </p:spPr>
        <p:txBody>
          <a:bodyPr wrap="square" lIns="0" tIns="0" rIns="0" bIns="0" anchor="t">
            <a:spAutoFit/>
          </a:bodyPr>
          <a:lstStyle/>
          <a:p>
            <a:pPr algn="r" rtl="0">
              <a:lnSpc>
                <a:spcPct val="115000"/>
              </a:lnSpc>
            </a:pPr>
            <a:r>
              <a:rPr sz="900" b="1" i="0">
                <a:solidFill>
                  <a:srgbClr val="57635D"/>
                </a:solidFill>
                <a:latin typeface="Cairo"/>
                <a:cs typeface="Cairo"/>
              </a:rPr>
              <a:t>Hasio</a:t>
            </a:r>
            <a:endParaRPr sz="900" b="1" i="0">
              <a:solidFill>
                <a:srgbClr val="57635D"/>
              </a:solidFill>
              <a:latin typeface="Cairo"/>
              <a:cs typeface="Cairo"/>
            </a:endParaRPr>
          </a:p>
        </p:txBody>
      </p:sp>
      <p:sp>
        <p:nvSpPr>
          <p:cNvPr id="7" name="TextBox 6"/>
          <p:cNvSpPr txBox="1"/>
          <p:nvPr/>
        </p:nvSpPr>
        <p:spPr>
          <a:xfrm>
            <a:off x="612647" y="6364224"/>
            <a:ext cx="3657600" cy="256032"/>
          </a:xfrm>
          <a:prstGeom prst="rect">
            <a:avLst/>
          </a:prstGeom>
          <a:noFill/>
        </p:spPr>
        <p:txBody>
          <a:bodyPr wrap="square" lIns="0" tIns="0" rIns="0" bIns="0" anchor="t">
            <a:spAutoFit/>
          </a:bodyPr>
          <a:lstStyle/>
          <a:p>
            <a:pPr algn="l" rtl="1">
              <a:lnSpc>
                <a:spcPct val="115000"/>
              </a:lnSpc>
            </a:pPr>
            <a:r>
              <a:rPr sz="900" b="0" i="0">
                <a:solidFill>
                  <a:srgbClr val="57635D"/>
                </a:solidFill>
                <a:latin typeface="Cairo"/>
                <a:cs typeface="Cairo"/>
              </a:rPr>
              <a:t>المشكلة</a:t>
            </a:r>
            <a:endParaRPr sz="900" b="0" i="0">
              <a:solidFill>
                <a:srgbClr val="57635D"/>
              </a:solidFill>
              <a:latin typeface="Cairo"/>
              <a:cs typeface="Cairo"/>
            </a:endParaRPr>
          </a:p>
        </p:txBody>
      </p:sp>
      <p:sp>
        <p:nvSpPr>
          <p:cNvPr id="8" name="TextBox 7"/>
          <p:cNvSpPr txBox="1"/>
          <p:nvPr/>
        </p:nvSpPr>
        <p:spPr>
          <a:xfrm>
            <a:off x="6184087" y="1097280"/>
            <a:ext cx="5394960" cy="1463040"/>
          </a:xfrm>
          <a:prstGeom prst="rect">
            <a:avLst/>
          </a:prstGeom>
          <a:noFill/>
        </p:spPr>
        <p:txBody>
          <a:bodyPr wrap="square" lIns="0" tIns="0" rIns="0" bIns="0" anchor="t">
            <a:spAutoFit/>
          </a:bodyPr>
          <a:lstStyle/>
          <a:p>
            <a:pPr algn="r" rtl="1">
              <a:lnSpc>
                <a:spcPct val="120000"/>
              </a:lnSpc>
            </a:pPr>
            <a:r>
              <a:rPr sz="2600" b="1" i="0">
                <a:solidFill>
                  <a:srgbClr val="1C1B1B"/>
                </a:solidFill>
                <a:latin typeface="Cairo"/>
                <a:cs typeface="Cairo"/>
              </a:rPr>
              <a:t>المملكة تنفتح على العالم أسرع مما يستطيع المسافر أن يواكبه.</a:t>
            </a:r>
            <a:endParaRPr sz="2600" b="1" i="0">
              <a:solidFill>
                <a:srgbClr val="1C1B1B"/>
              </a:solidFill>
              <a:latin typeface="Cairo"/>
              <a:cs typeface="Cairo"/>
            </a:endParaRPr>
          </a:p>
        </p:txBody>
      </p:sp>
      <p:sp>
        <p:nvSpPr>
          <p:cNvPr id="9" name="TextBox 8"/>
          <p:cNvSpPr txBox="1"/>
          <p:nvPr/>
        </p:nvSpPr>
        <p:spPr>
          <a:xfrm>
            <a:off x="6366967" y="2697480"/>
            <a:ext cx="5212080" cy="1554480"/>
          </a:xfrm>
          <a:prstGeom prst="rect">
            <a:avLst/>
          </a:prstGeom>
          <a:noFill/>
        </p:spPr>
        <p:txBody>
          <a:bodyPr wrap="square" lIns="0" tIns="0" rIns="0" bIns="0" anchor="t">
            <a:spAutoFit/>
          </a:bodyPr>
          <a:lstStyle/>
          <a:p>
            <a:pPr algn="r" rtl="1">
              <a:lnSpc>
                <a:spcPct val="150000"/>
              </a:lnSpc>
            </a:pPr>
            <a:r>
              <a:rPr sz="1300" b="0" i="0">
                <a:solidFill>
                  <a:srgbClr val="1C1B1B"/>
                </a:solidFill>
                <a:latin typeface="Cairo"/>
                <a:cs typeface="Cairo"/>
              </a:rPr>
              <a:t>تنفق السعودية مئات المليارات لتصبح ضمن أفضل خمس وجهات في العالم. لكن تجربة الزائر خارج المشاريع الكبرى ما زالت تُجمَّع يدوياً: تطبيق خرائط يعرض نقطة، وموقع حجز يعرض غرفة، ومحادثة واتساب مع قريب «يعرف أحداً» يوفّر سائقاً.</a:t>
            </a:r>
            <a:endParaRPr sz="1300" b="0" i="0">
              <a:solidFill>
                <a:srgbClr val="1C1B1B"/>
              </a:solidFill>
              <a:latin typeface="Cairo"/>
              <a:cs typeface="Cairo"/>
            </a:endParaRPr>
          </a:p>
        </p:txBody>
      </p:sp>
      <p:sp>
        <p:nvSpPr>
          <p:cNvPr id="10" name="TextBox 9"/>
          <p:cNvSpPr txBox="1"/>
          <p:nvPr/>
        </p:nvSpPr>
        <p:spPr>
          <a:xfrm>
            <a:off x="6366967" y="4389120"/>
            <a:ext cx="5212080" cy="1737360"/>
          </a:xfrm>
          <a:prstGeom prst="rect">
            <a:avLst/>
          </a:prstGeom>
          <a:noFill/>
        </p:spPr>
        <p:txBody>
          <a:bodyPr wrap="square" lIns="0" tIns="0" rIns="0" bIns="0" anchor="t">
            <a:spAutoFit/>
          </a:bodyPr>
          <a:lstStyle/>
          <a:p>
            <a:pPr algn="r" rtl="1">
              <a:lnSpc>
                <a:spcPct val="150000"/>
              </a:lnSpc>
            </a:pPr>
            <a:r>
              <a:rPr sz="1150" b="0" i="0">
                <a:solidFill>
                  <a:srgbClr val="57635D"/>
                </a:solidFill>
                <a:latin typeface="Cairo"/>
                <a:cs typeface="Cairo"/>
              </a:rPr>
              <a:t>بالنسبة للعائلات المحلية ومسافري الخليج براً والموجة المتنامية من الزوار الدوليين، يعني التخطيط لرحلة إلى المنطقة الشرقية الجمع بين خمسة تطبيقات لا يعرف أيٌّ منها المكان. المطاعم بلا صفحات ثنائية اللغة، والمواقع التراثية بلا ساعات عمل على الإنترنت، والمصوّرون والمرشدون والسائقون بلا سوق على الإطلاق.</a:t>
            </a:r>
            <a:endParaRPr sz="1150" b="0" i="0">
              <a:solidFill>
                <a:srgbClr val="57635D"/>
              </a:solidFill>
              <a:latin typeface="Cairo"/>
              <a:cs typeface="Cairo"/>
            </a:endParaRPr>
          </a:p>
        </p:txBody>
      </p:sp>
      <p:cxnSp>
        <p:nvCxnSpPr>
          <p:cNvPr id="11" name="Connector 10"/>
          <p:cNvCxnSpPr/>
          <p:nvPr/>
        </p:nvCxnSpPr>
        <p:spPr>
          <a:xfrm>
            <a:off x="624535" y="1097280"/>
            <a:ext cx="5074920" cy="0"/>
          </a:xfrm>
          <a:prstGeom prst="line">
            <a:avLst/>
          </a:prstGeom>
          <a:ln w="19050">
            <a:solidFill>
              <a:srgbClr val="0D7A5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24535" y="1207007"/>
            <a:ext cx="5074920" cy="384048"/>
          </a:xfrm>
          <a:prstGeom prst="rect">
            <a:avLst/>
          </a:prstGeom>
          <a:noFill/>
        </p:spPr>
        <p:txBody>
          <a:bodyPr wrap="square" lIns="0" tIns="0" rIns="0" bIns="0" anchor="t">
            <a:spAutoFit/>
          </a:bodyPr>
          <a:lstStyle/>
          <a:p>
            <a:pPr algn="r" rtl="1">
              <a:lnSpc>
                <a:spcPct val="110000"/>
              </a:lnSpc>
            </a:pPr>
            <a:r>
              <a:rPr sz="1600" b="1" i="0">
                <a:solidFill>
                  <a:srgbClr val="1C1B1B"/>
                </a:solidFill>
                <a:latin typeface="Cairo"/>
                <a:cs typeface="Cairo"/>
              </a:rPr>
              <a:t>اكتشاف مشتّت</a:t>
            </a:r>
            <a:endParaRPr sz="1600" b="1" i="0">
              <a:solidFill>
                <a:srgbClr val="1C1B1B"/>
              </a:solidFill>
              <a:latin typeface="Cairo"/>
              <a:cs typeface="Cairo"/>
            </a:endParaRPr>
          </a:p>
        </p:txBody>
      </p:sp>
      <p:sp>
        <p:nvSpPr>
          <p:cNvPr id="13" name="TextBox 12"/>
          <p:cNvSpPr txBox="1"/>
          <p:nvPr/>
        </p:nvSpPr>
        <p:spPr>
          <a:xfrm>
            <a:off x="624535" y="1591056"/>
            <a:ext cx="5074920" cy="914400"/>
          </a:xfrm>
          <a:prstGeom prst="rect">
            <a:avLst/>
          </a:prstGeom>
          <a:noFill/>
        </p:spPr>
        <p:txBody>
          <a:bodyPr wrap="square" lIns="0" tIns="0" rIns="0" bIns="0" anchor="t">
            <a:spAutoFit/>
          </a:bodyPr>
          <a:lstStyle/>
          <a:p>
            <a:pPr algn="r" rtl="1">
              <a:lnSpc>
                <a:spcPct val="130000"/>
              </a:lnSpc>
            </a:pPr>
            <a:r>
              <a:rPr sz="1050" b="0" i="0">
                <a:solidFill>
                  <a:srgbClr val="57635D"/>
                </a:solidFill>
                <a:latin typeface="Cairo"/>
                <a:cs typeface="Cairo"/>
              </a:rPr>
              <a:t>تصنّف التطبيقات العالمية الواحة والسوق والكورنيش بعدد التقييمات لا بقيمة الوقت الذي تستحقه. أفضل الأماكن لا يعرفها إلا أهلها.</a:t>
            </a:r>
            <a:endParaRPr sz="1050" b="0" i="0">
              <a:solidFill>
                <a:srgbClr val="57635D"/>
              </a:solidFill>
              <a:latin typeface="Cairo"/>
              <a:cs typeface="Cairo"/>
            </a:endParaRPr>
          </a:p>
        </p:txBody>
      </p:sp>
      <p:cxnSp>
        <p:nvCxnSpPr>
          <p:cNvPr id="14" name="Connector 13"/>
          <p:cNvCxnSpPr/>
          <p:nvPr/>
        </p:nvCxnSpPr>
        <p:spPr>
          <a:xfrm>
            <a:off x="624535" y="2450592"/>
            <a:ext cx="5074920" cy="0"/>
          </a:xfrm>
          <a:prstGeom prst="line">
            <a:avLst/>
          </a:prstGeom>
          <a:ln w="19050">
            <a:solidFill>
              <a:srgbClr val="0D7A5F"/>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24535" y="2560320"/>
            <a:ext cx="5074920" cy="384048"/>
          </a:xfrm>
          <a:prstGeom prst="rect">
            <a:avLst/>
          </a:prstGeom>
          <a:noFill/>
        </p:spPr>
        <p:txBody>
          <a:bodyPr wrap="square" lIns="0" tIns="0" rIns="0" bIns="0" anchor="t">
            <a:spAutoFit/>
          </a:bodyPr>
          <a:lstStyle/>
          <a:p>
            <a:pPr algn="r" rtl="1">
              <a:lnSpc>
                <a:spcPct val="110000"/>
              </a:lnSpc>
            </a:pPr>
            <a:r>
              <a:rPr sz="1600" b="1" i="0">
                <a:solidFill>
                  <a:srgbClr val="1C1B1B"/>
                </a:solidFill>
                <a:latin typeface="Cairo"/>
                <a:cs typeface="Cairo"/>
              </a:rPr>
              <a:t>لا طبقة للتخطيط</a:t>
            </a:r>
            <a:endParaRPr sz="1600" b="1" i="0">
              <a:solidFill>
                <a:srgbClr val="1C1B1B"/>
              </a:solidFill>
              <a:latin typeface="Cairo"/>
              <a:cs typeface="Cairo"/>
            </a:endParaRPr>
          </a:p>
        </p:txBody>
      </p:sp>
      <p:sp>
        <p:nvSpPr>
          <p:cNvPr id="16" name="TextBox 15"/>
          <p:cNvSpPr txBox="1"/>
          <p:nvPr/>
        </p:nvSpPr>
        <p:spPr>
          <a:xfrm>
            <a:off x="624535" y="2944368"/>
            <a:ext cx="5074920" cy="914400"/>
          </a:xfrm>
          <a:prstGeom prst="rect">
            <a:avLst/>
          </a:prstGeom>
          <a:noFill/>
        </p:spPr>
        <p:txBody>
          <a:bodyPr wrap="square" lIns="0" tIns="0" rIns="0" bIns="0" anchor="t">
            <a:spAutoFit/>
          </a:bodyPr>
          <a:lstStyle/>
          <a:p>
            <a:pPr algn="r" rtl="1">
              <a:lnSpc>
                <a:spcPct val="130000"/>
              </a:lnSpc>
            </a:pPr>
            <a:r>
              <a:rPr sz="1050" b="0" i="0">
                <a:solidFill>
                  <a:srgbClr val="57635D"/>
                </a:solidFill>
                <a:latin typeface="Cairo"/>
                <a:cs typeface="Cairo"/>
              </a:rPr>
              <a:t>لا شيء يحوّل «ثلاثة أيام، طفلان، نحب الطعام» إلى برنامج بأوقات حقيقية وأماكن حقيقية وحجوزات حقيقية. المسافر يقوم بالعمل كله.</a:t>
            </a:r>
            <a:endParaRPr sz="1050" b="0" i="0">
              <a:solidFill>
                <a:srgbClr val="57635D"/>
              </a:solidFill>
              <a:latin typeface="Cairo"/>
              <a:cs typeface="Cairo"/>
            </a:endParaRPr>
          </a:p>
        </p:txBody>
      </p:sp>
      <p:cxnSp>
        <p:nvCxnSpPr>
          <p:cNvPr id="17" name="Connector 16"/>
          <p:cNvCxnSpPr/>
          <p:nvPr/>
        </p:nvCxnSpPr>
        <p:spPr>
          <a:xfrm>
            <a:off x="624535" y="3803904"/>
            <a:ext cx="5074920" cy="0"/>
          </a:xfrm>
          <a:prstGeom prst="line">
            <a:avLst/>
          </a:prstGeom>
          <a:ln w="19050">
            <a:solidFill>
              <a:srgbClr val="0D7A5F"/>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24535" y="3913632"/>
            <a:ext cx="5074920" cy="384048"/>
          </a:xfrm>
          <a:prstGeom prst="rect">
            <a:avLst/>
          </a:prstGeom>
          <a:noFill/>
        </p:spPr>
        <p:txBody>
          <a:bodyPr wrap="square" lIns="0" tIns="0" rIns="0" bIns="0" anchor="t">
            <a:spAutoFit/>
          </a:bodyPr>
          <a:lstStyle/>
          <a:p>
            <a:pPr algn="r" rtl="1">
              <a:lnSpc>
                <a:spcPct val="110000"/>
              </a:lnSpc>
            </a:pPr>
            <a:r>
              <a:rPr sz="1600" b="1" i="0">
                <a:solidFill>
                  <a:srgbClr val="1C1B1B"/>
                </a:solidFill>
                <a:latin typeface="Cairo"/>
                <a:cs typeface="Cairo"/>
              </a:rPr>
              <a:t>اقتصاد محلي غير مرئي</a:t>
            </a:r>
            <a:endParaRPr sz="1600" b="1" i="0">
              <a:solidFill>
                <a:srgbClr val="1C1B1B"/>
              </a:solidFill>
              <a:latin typeface="Cairo"/>
              <a:cs typeface="Cairo"/>
            </a:endParaRPr>
          </a:p>
        </p:txBody>
      </p:sp>
      <p:sp>
        <p:nvSpPr>
          <p:cNvPr id="19" name="TextBox 18"/>
          <p:cNvSpPr txBox="1"/>
          <p:nvPr/>
        </p:nvSpPr>
        <p:spPr>
          <a:xfrm>
            <a:off x="624535" y="4297680"/>
            <a:ext cx="5074920" cy="914400"/>
          </a:xfrm>
          <a:prstGeom prst="rect">
            <a:avLst/>
          </a:prstGeom>
          <a:noFill/>
        </p:spPr>
        <p:txBody>
          <a:bodyPr wrap="square" lIns="0" tIns="0" rIns="0" bIns="0" anchor="t">
            <a:spAutoFit/>
          </a:bodyPr>
          <a:lstStyle/>
          <a:p>
            <a:pPr algn="r" rtl="1">
              <a:lnSpc>
                <a:spcPct val="130000"/>
              </a:lnSpc>
            </a:pPr>
            <a:r>
              <a:rPr sz="1050" b="0" i="0">
                <a:solidFill>
                  <a:srgbClr val="57635D"/>
                </a:solidFill>
                <a:latin typeface="Cairo"/>
                <a:cs typeface="Cairo"/>
              </a:rPr>
              <a:t>آلاف الفنادق الصغيرة والمزارع والمطاعم والمرشدين المستقلين بلا واجهة رقمية تتحدث العربية والإنجليزية معاً.</a:t>
            </a:r>
            <a:endParaRPr sz="1050" b="0" i="0">
              <a:solidFill>
                <a:srgbClr val="57635D"/>
              </a:solidFill>
              <a:latin typeface="Cairo"/>
              <a:cs typeface="Cairo"/>
            </a:endParaRPr>
          </a:p>
        </p:txBody>
      </p:sp>
      <p:cxnSp>
        <p:nvCxnSpPr>
          <p:cNvPr id="20" name="Connector 19"/>
          <p:cNvCxnSpPr/>
          <p:nvPr/>
        </p:nvCxnSpPr>
        <p:spPr>
          <a:xfrm>
            <a:off x="624535" y="5157216"/>
            <a:ext cx="5074920" cy="0"/>
          </a:xfrm>
          <a:prstGeom prst="line">
            <a:avLst/>
          </a:prstGeom>
          <a:ln w="19050">
            <a:solidFill>
              <a:srgbClr val="0D7A5F"/>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24535" y="5266944"/>
            <a:ext cx="5074920" cy="384048"/>
          </a:xfrm>
          <a:prstGeom prst="rect">
            <a:avLst/>
          </a:prstGeom>
          <a:noFill/>
        </p:spPr>
        <p:txBody>
          <a:bodyPr wrap="square" lIns="0" tIns="0" rIns="0" bIns="0" anchor="t">
            <a:spAutoFit/>
          </a:bodyPr>
          <a:lstStyle/>
          <a:p>
            <a:pPr algn="r" rtl="1">
              <a:lnSpc>
                <a:spcPct val="110000"/>
              </a:lnSpc>
            </a:pPr>
            <a:r>
              <a:rPr sz="1600" b="1" i="0">
                <a:solidFill>
                  <a:srgbClr val="1C1B1B"/>
                </a:solidFill>
                <a:latin typeface="Cairo"/>
                <a:cs typeface="Cairo"/>
              </a:rPr>
              <a:t>لا يمكنك أن تشعر بالمكان قبل أن تذهب</a:t>
            </a:r>
            <a:endParaRPr sz="1600" b="1" i="0">
              <a:solidFill>
                <a:srgbClr val="1C1B1B"/>
              </a:solidFill>
              <a:latin typeface="Cairo"/>
              <a:cs typeface="Cairo"/>
            </a:endParaRPr>
          </a:p>
        </p:txBody>
      </p:sp>
      <p:sp>
        <p:nvSpPr>
          <p:cNvPr id="22" name="TextBox 21"/>
          <p:cNvSpPr txBox="1"/>
          <p:nvPr/>
        </p:nvSpPr>
        <p:spPr>
          <a:xfrm>
            <a:off x="624535" y="5650992"/>
            <a:ext cx="5074920" cy="914400"/>
          </a:xfrm>
          <a:prstGeom prst="rect">
            <a:avLst/>
          </a:prstGeom>
          <a:noFill/>
        </p:spPr>
        <p:txBody>
          <a:bodyPr wrap="square" lIns="0" tIns="0" rIns="0" bIns="0" anchor="t">
            <a:spAutoFit/>
          </a:bodyPr>
          <a:lstStyle/>
          <a:p>
            <a:pPr algn="r" rtl="1">
              <a:lnSpc>
                <a:spcPct val="130000"/>
              </a:lnSpc>
            </a:pPr>
            <a:r>
              <a:rPr sz="1050" b="0" i="0">
                <a:solidFill>
                  <a:srgbClr val="57635D"/>
                </a:solidFill>
                <a:latin typeface="Cairo"/>
                <a:cs typeface="Cairo"/>
              </a:rPr>
              <a:t>يُختار مكان الإقامة من ثلاث صور. أما حقيقته فتُكتشف عند الوصول، حين يكون الأوان قد فات.</a:t>
            </a:r>
            <a:endParaRPr sz="1050" b="0" i="0">
              <a:solidFill>
                <a:srgbClr val="57635D"/>
              </a:solidFill>
              <a:latin typeface="Cairo"/>
              <a:cs typeface="Cair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C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4535" y="1097280"/>
            <a:ext cx="4983480" cy="4846320"/>
          </a:xfrm>
          <a:prstGeom prst="roundRect">
            <a:avLst>
              <a:gd name="adj" fmla="val 4000"/>
            </a:avLst>
          </a:prstGeom>
          <a:solidFill>
            <a:srgbClr val="DF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63847" y="457200"/>
            <a:ext cx="7315200" cy="292608"/>
          </a:xfrm>
          <a:prstGeom prst="rect">
            <a:avLst/>
          </a:prstGeom>
          <a:noFill/>
        </p:spPr>
        <p:txBody>
          <a:bodyPr wrap="square" lIns="0" tIns="0" rIns="0" bIns="0" anchor="t">
            <a:spAutoFit/>
          </a:bodyPr>
          <a:lstStyle/>
          <a:p>
            <a:pPr algn="r" rtl="1">
              <a:lnSpc>
                <a:spcPct val="115000"/>
              </a:lnSpc>
            </a:pPr>
            <a:r>
              <a:rPr sz="1050" b="1" i="0">
                <a:solidFill>
                  <a:srgbClr val="0D7A5F"/>
                </a:solidFill>
                <a:latin typeface="Cairo"/>
                <a:cs typeface="Cairo"/>
              </a:rPr>
              <a:t>الحل</a:t>
            </a:r>
            <a:endParaRPr sz="1050" b="1" i="0">
              <a:solidFill>
                <a:srgbClr val="0D7A5F"/>
              </a:solidFill>
              <a:latin typeface="Cairo"/>
              <a:cs typeface="Cairo"/>
            </a:endParaRPr>
          </a:p>
        </p:txBody>
      </p:sp>
      <p:sp>
        <p:nvSpPr>
          <p:cNvPr id="4" name="TextBox 3"/>
          <p:cNvSpPr txBox="1"/>
          <p:nvPr/>
        </p:nvSpPr>
        <p:spPr>
          <a:xfrm>
            <a:off x="612647" y="475488"/>
            <a:ext cx="1828800" cy="274320"/>
          </a:xfrm>
          <a:prstGeom prst="rect">
            <a:avLst/>
          </a:prstGeom>
          <a:noFill/>
        </p:spPr>
        <p:txBody>
          <a:bodyPr wrap="square" lIns="0" tIns="0" rIns="0" bIns="0" anchor="t">
            <a:spAutoFit/>
          </a:bodyPr>
          <a:lstStyle/>
          <a:p>
            <a:pPr algn="l" rtl="0">
              <a:lnSpc>
                <a:spcPct val="115000"/>
              </a:lnSpc>
            </a:pPr>
            <a:r>
              <a:rPr sz="950" b="0" i="0" spc="100">
                <a:solidFill>
                  <a:srgbClr val="57635D"/>
                </a:solidFill>
                <a:latin typeface="Cairo"/>
                <a:cs typeface="Cairo"/>
              </a:rPr>
              <a:t>03 / 14</a:t>
            </a:r>
            <a:endParaRPr sz="950" b="0" i="0" spc="100">
              <a:solidFill>
                <a:srgbClr val="57635D"/>
              </a:solidFill>
              <a:latin typeface="Cairo"/>
              <a:cs typeface="Cairo"/>
            </a:endParaRPr>
          </a:p>
        </p:txBody>
      </p:sp>
      <p:cxnSp>
        <p:nvCxnSpPr>
          <p:cNvPr id="5" name="Connector 4"/>
          <p:cNvCxnSpPr/>
          <p:nvPr/>
        </p:nvCxnSpPr>
        <p:spPr>
          <a:xfrm>
            <a:off x="612647" y="822960"/>
            <a:ext cx="10966400" cy="0"/>
          </a:xfrm>
          <a:prstGeom prst="line">
            <a:avLst/>
          </a:prstGeom>
          <a:ln w="9525">
            <a:solidFill>
              <a:srgbClr val="D9D2C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921447" y="6364224"/>
            <a:ext cx="3657600" cy="256032"/>
          </a:xfrm>
          <a:prstGeom prst="rect">
            <a:avLst/>
          </a:prstGeom>
          <a:noFill/>
        </p:spPr>
        <p:txBody>
          <a:bodyPr wrap="square" lIns="0" tIns="0" rIns="0" bIns="0" anchor="t">
            <a:spAutoFit/>
          </a:bodyPr>
          <a:lstStyle/>
          <a:p>
            <a:pPr algn="r" rtl="0">
              <a:lnSpc>
                <a:spcPct val="115000"/>
              </a:lnSpc>
            </a:pPr>
            <a:r>
              <a:rPr sz="900" b="1" i="0">
                <a:solidFill>
                  <a:srgbClr val="57635D"/>
                </a:solidFill>
                <a:latin typeface="Cairo"/>
                <a:cs typeface="Cairo"/>
              </a:rPr>
              <a:t>Hasio</a:t>
            </a:r>
            <a:endParaRPr sz="900" b="1" i="0">
              <a:solidFill>
                <a:srgbClr val="57635D"/>
              </a:solidFill>
              <a:latin typeface="Cairo"/>
              <a:cs typeface="Cairo"/>
            </a:endParaRPr>
          </a:p>
        </p:txBody>
      </p:sp>
      <p:sp>
        <p:nvSpPr>
          <p:cNvPr id="7" name="TextBox 6"/>
          <p:cNvSpPr txBox="1"/>
          <p:nvPr/>
        </p:nvSpPr>
        <p:spPr>
          <a:xfrm>
            <a:off x="612647" y="6364224"/>
            <a:ext cx="3657600" cy="256032"/>
          </a:xfrm>
          <a:prstGeom prst="rect">
            <a:avLst/>
          </a:prstGeom>
          <a:noFill/>
        </p:spPr>
        <p:txBody>
          <a:bodyPr wrap="square" lIns="0" tIns="0" rIns="0" bIns="0" anchor="t">
            <a:spAutoFit/>
          </a:bodyPr>
          <a:lstStyle/>
          <a:p>
            <a:pPr algn="l" rtl="1">
              <a:lnSpc>
                <a:spcPct val="115000"/>
              </a:lnSpc>
            </a:pPr>
            <a:r>
              <a:rPr sz="900" b="0" i="0">
                <a:solidFill>
                  <a:srgbClr val="57635D"/>
                </a:solidFill>
                <a:latin typeface="Cairo"/>
                <a:cs typeface="Cairo"/>
              </a:rPr>
              <a:t>الحل</a:t>
            </a:r>
            <a:endParaRPr sz="900" b="0" i="0">
              <a:solidFill>
                <a:srgbClr val="57635D"/>
              </a:solidFill>
              <a:latin typeface="Cairo"/>
              <a:cs typeface="Cairo"/>
            </a:endParaRPr>
          </a:p>
        </p:txBody>
      </p:sp>
      <p:sp>
        <p:nvSpPr>
          <p:cNvPr id="8" name="TextBox 7"/>
          <p:cNvSpPr txBox="1"/>
          <p:nvPr/>
        </p:nvSpPr>
        <p:spPr>
          <a:xfrm>
            <a:off x="6092647" y="1097280"/>
            <a:ext cx="5486400" cy="1371600"/>
          </a:xfrm>
          <a:prstGeom prst="rect">
            <a:avLst/>
          </a:prstGeom>
          <a:noFill/>
        </p:spPr>
        <p:txBody>
          <a:bodyPr wrap="square" lIns="0" tIns="0" rIns="0" bIns="0" anchor="t">
            <a:spAutoFit/>
          </a:bodyPr>
          <a:lstStyle/>
          <a:p>
            <a:pPr algn="r" rtl="1">
              <a:lnSpc>
                <a:spcPct val="120000"/>
              </a:lnSpc>
            </a:pPr>
            <a:r>
              <a:rPr sz="2600" b="1" i="0">
                <a:solidFill>
                  <a:srgbClr val="1C1B1B"/>
                </a:solidFill>
                <a:latin typeface="Cairo"/>
                <a:cs typeface="Cairo"/>
              </a:rPr>
              <a:t>تطبيق واحد يعرف المكان، ويخطط الرحلة، ويحجزها.</a:t>
            </a:r>
            <a:endParaRPr sz="2600" b="1" i="0">
              <a:solidFill>
                <a:srgbClr val="1C1B1B"/>
              </a:solidFill>
              <a:latin typeface="Cairo"/>
              <a:cs typeface="Cairo"/>
            </a:endParaRPr>
          </a:p>
        </p:txBody>
      </p:sp>
      <p:sp>
        <p:nvSpPr>
          <p:cNvPr id="9" name="TextBox 8"/>
          <p:cNvSpPr txBox="1"/>
          <p:nvPr/>
        </p:nvSpPr>
        <p:spPr>
          <a:xfrm>
            <a:off x="6184087" y="2377440"/>
            <a:ext cx="5394960" cy="1280160"/>
          </a:xfrm>
          <a:prstGeom prst="rect">
            <a:avLst/>
          </a:prstGeom>
          <a:noFill/>
        </p:spPr>
        <p:txBody>
          <a:bodyPr wrap="square" lIns="0" tIns="0" rIns="0" bIns="0" anchor="t">
            <a:spAutoFit/>
          </a:bodyPr>
          <a:lstStyle/>
          <a:p>
            <a:pPr algn="r" rtl="1">
              <a:lnSpc>
                <a:spcPct val="150000"/>
              </a:lnSpc>
            </a:pPr>
            <a:r>
              <a:rPr sz="1300" b="0" i="0">
                <a:solidFill>
                  <a:srgbClr val="1C1B1B"/>
                </a:solidFill>
                <a:latin typeface="Cairo"/>
                <a:cs typeface="Cairo"/>
              </a:rPr>
              <a:t>Hasio رفيق سفر ثنائي اللغة مبني على الذكاء الاصطناعي. يجمع دليلاً منتقى للأماكن، ومخطِّط رحلات يتحدث معك، ومحرّك حجوزات، وسوقاً لمقدّمي الخدمات المحليين الموثّقين، في منتج واحد بحساب واحد.</a:t>
            </a:r>
            <a:endParaRPr sz="1300" b="0" i="0">
              <a:solidFill>
                <a:srgbClr val="1C1B1B"/>
              </a:solidFill>
              <a:latin typeface="Cairo"/>
              <a:cs typeface="Cairo"/>
            </a:endParaRPr>
          </a:p>
        </p:txBody>
      </p:sp>
      <p:sp>
        <p:nvSpPr>
          <p:cNvPr id="10" name="Oval 9"/>
          <p:cNvSpPr/>
          <p:nvPr/>
        </p:nvSpPr>
        <p:spPr>
          <a:xfrm>
            <a:off x="11487607" y="3758184"/>
            <a:ext cx="91440" cy="91440"/>
          </a:xfrm>
          <a:prstGeom prst="ellipse">
            <a:avLst/>
          </a:prstGeom>
          <a:solidFill>
            <a:srgbClr val="A88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84087" y="3657600"/>
            <a:ext cx="5166360" cy="640080"/>
          </a:xfrm>
          <a:prstGeom prst="rect">
            <a:avLst/>
          </a:prstGeom>
          <a:noFill/>
        </p:spPr>
        <p:txBody>
          <a:bodyPr wrap="square" lIns="0" tIns="0" rIns="0" bIns="0" anchor="t">
            <a:spAutoFit/>
          </a:bodyPr>
          <a:lstStyle/>
          <a:p>
            <a:pPr algn="r" rtl="1">
              <a:lnSpc>
                <a:spcPct val="140000"/>
              </a:lnSpc>
            </a:pPr>
            <a:r>
              <a:rPr sz="1050" b="1" i="0">
                <a:solidFill>
                  <a:srgbClr val="1C1B1B"/>
                </a:solidFill>
                <a:latin typeface="Cairo"/>
                <a:cs typeface="Cairo"/>
              </a:rPr>
              <a:t>منتقى لا مجموع آلياً. </a:t>
            </a:r>
            <a:r>
              <a:rPr sz="1050" b="0" i="0">
                <a:solidFill>
                  <a:srgbClr val="1C1B1B"/>
                </a:solidFill>
                <a:latin typeface="Cairo"/>
                <a:cs typeface="Cairo"/>
              </a:rPr>
              <a:t>كل إدراج يعتمده فريقنا، ويُحدَّد موقعه ويُصوَّر ويُكتب بالعربية والإنجليزية.</a:t>
            </a:r>
            <a:endParaRPr sz="1050" b="0" i="0">
              <a:solidFill>
                <a:srgbClr val="1C1B1B"/>
              </a:solidFill>
              <a:latin typeface="Cairo"/>
              <a:cs typeface="Cairo"/>
            </a:endParaRPr>
          </a:p>
        </p:txBody>
      </p:sp>
      <p:sp>
        <p:nvSpPr>
          <p:cNvPr id="12" name="Oval 11"/>
          <p:cNvSpPr/>
          <p:nvPr/>
        </p:nvSpPr>
        <p:spPr>
          <a:xfrm>
            <a:off x="11487607" y="4398264"/>
            <a:ext cx="91440" cy="91440"/>
          </a:xfrm>
          <a:prstGeom prst="ellipse">
            <a:avLst/>
          </a:prstGeom>
          <a:solidFill>
            <a:srgbClr val="A88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4087" y="4297680"/>
            <a:ext cx="5166360" cy="640080"/>
          </a:xfrm>
          <a:prstGeom prst="rect">
            <a:avLst/>
          </a:prstGeom>
          <a:noFill/>
        </p:spPr>
        <p:txBody>
          <a:bodyPr wrap="square" lIns="0" tIns="0" rIns="0" bIns="0" anchor="t">
            <a:spAutoFit/>
          </a:bodyPr>
          <a:lstStyle/>
          <a:p>
            <a:pPr algn="r" rtl="1">
              <a:lnSpc>
                <a:spcPct val="140000"/>
              </a:lnSpc>
            </a:pPr>
            <a:r>
              <a:rPr sz="1050" b="1" i="0">
                <a:solidFill>
                  <a:srgbClr val="1C1B1B"/>
                </a:solidFill>
                <a:latin typeface="Cairo"/>
                <a:cs typeface="Cairo"/>
              </a:rPr>
              <a:t>مخطِّط يسأل قبل أن يجيب. </a:t>
            </a:r>
            <a:r>
              <a:rPr sz="1050" b="0" i="0">
                <a:solidFill>
                  <a:srgbClr val="1C1B1B"/>
                </a:solidFill>
                <a:latin typeface="Cairo"/>
                <a:cs typeface="Cairo"/>
              </a:rPr>
              <a:t>يجري المرشد الذكي محادثة، ثم يقدّم برنامجاً يوماً بيوم يتحوّل إلى رحلة قابلة للحجز.</a:t>
            </a:r>
            <a:endParaRPr sz="1050" b="0" i="0">
              <a:solidFill>
                <a:srgbClr val="1C1B1B"/>
              </a:solidFill>
              <a:latin typeface="Cairo"/>
              <a:cs typeface="Cairo"/>
            </a:endParaRPr>
          </a:p>
        </p:txBody>
      </p:sp>
      <p:sp>
        <p:nvSpPr>
          <p:cNvPr id="14" name="Oval 13"/>
          <p:cNvSpPr/>
          <p:nvPr/>
        </p:nvSpPr>
        <p:spPr>
          <a:xfrm>
            <a:off x="11487607" y="5038344"/>
            <a:ext cx="91440" cy="91440"/>
          </a:xfrm>
          <a:prstGeom prst="ellipse">
            <a:avLst/>
          </a:prstGeom>
          <a:solidFill>
            <a:srgbClr val="A88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84087" y="4937760"/>
            <a:ext cx="5166360" cy="640080"/>
          </a:xfrm>
          <a:prstGeom prst="rect">
            <a:avLst/>
          </a:prstGeom>
          <a:noFill/>
        </p:spPr>
        <p:txBody>
          <a:bodyPr wrap="square" lIns="0" tIns="0" rIns="0" bIns="0" anchor="t">
            <a:spAutoFit/>
          </a:bodyPr>
          <a:lstStyle/>
          <a:p>
            <a:pPr algn="r" rtl="1">
              <a:lnSpc>
                <a:spcPct val="140000"/>
              </a:lnSpc>
            </a:pPr>
            <a:r>
              <a:rPr sz="1050" b="1" i="0">
                <a:solidFill>
                  <a:srgbClr val="1C1B1B"/>
                </a:solidFill>
                <a:latin typeface="Cairo"/>
                <a:cs typeface="Cairo"/>
              </a:rPr>
              <a:t>عرض من الجانبين. </a:t>
            </a:r>
            <a:r>
              <a:rPr sz="1050" b="0" i="0">
                <a:solidFill>
                  <a:srgbClr val="1C1B1B"/>
                </a:solidFill>
                <a:latin typeface="Cairo"/>
                <a:cs typeface="Cairo"/>
              </a:rPr>
              <a:t>الفنادق والمطاعم تنشر إدراجاتها؛ والمصوّرون والسائقون والمرشدون ينشرون خدماتهم. الجميع يمرّ بتوثيق المستندات وموافقة الإدارة.</a:t>
            </a:r>
            <a:endParaRPr sz="1050" b="0" i="0">
              <a:solidFill>
                <a:srgbClr val="1C1B1B"/>
              </a:solidFill>
              <a:latin typeface="Cairo"/>
              <a:cs typeface="Cairo"/>
            </a:endParaRPr>
          </a:p>
        </p:txBody>
      </p:sp>
      <p:sp>
        <p:nvSpPr>
          <p:cNvPr id="16" name="Oval 15"/>
          <p:cNvSpPr/>
          <p:nvPr/>
        </p:nvSpPr>
        <p:spPr>
          <a:xfrm>
            <a:off x="11487607" y="5678424"/>
            <a:ext cx="91440" cy="91440"/>
          </a:xfrm>
          <a:prstGeom prst="ellipse">
            <a:avLst/>
          </a:prstGeom>
          <a:solidFill>
            <a:srgbClr val="A88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84087" y="5577840"/>
            <a:ext cx="5166360" cy="640080"/>
          </a:xfrm>
          <a:prstGeom prst="rect">
            <a:avLst/>
          </a:prstGeom>
          <a:noFill/>
        </p:spPr>
        <p:txBody>
          <a:bodyPr wrap="square" lIns="0" tIns="0" rIns="0" bIns="0" anchor="t">
            <a:spAutoFit/>
          </a:bodyPr>
          <a:lstStyle/>
          <a:p>
            <a:pPr algn="r" rtl="1">
              <a:lnSpc>
                <a:spcPct val="140000"/>
              </a:lnSpc>
            </a:pPr>
            <a:r>
              <a:rPr sz="1050" b="1" i="0">
                <a:solidFill>
                  <a:srgbClr val="1C1B1B"/>
                </a:solidFill>
                <a:latin typeface="Cairo"/>
                <a:cs typeface="Cairo"/>
              </a:rPr>
              <a:t>مبني للتوسع مدينة بعد مدينة. </a:t>
            </a:r>
            <a:r>
              <a:rPr sz="1050" b="0" i="0">
                <a:solidFill>
                  <a:srgbClr val="1C1B1B"/>
                </a:solidFill>
                <a:latin typeface="Cairo"/>
                <a:cs typeface="Cairo"/>
              </a:rPr>
              <a:t>ثلاث عشرة مدينة في المنطقة الشرقية اليوم؛ والنموذج نفسه يمتد إلى بقية المملكة.</a:t>
            </a:r>
            <a:endParaRPr sz="1050" b="0" i="0">
              <a:solidFill>
                <a:srgbClr val="1C1B1B"/>
              </a:solidFill>
              <a:latin typeface="Cairo"/>
              <a:cs typeface="Cairo"/>
            </a:endParaRPr>
          </a:p>
        </p:txBody>
      </p:sp>
      <p:sp>
        <p:nvSpPr>
          <p:cNvPr id="19" name="TextBox 18"/>
          <p:cNvSpPr txBox="1"/>
          <p:nvPr/>
        </p:nvSpPr>
        <p:spPr>
          <a:xfrm>
            <a:off x="898855" y="1417320"/>
            <a:ext cx="4434840" cy="365760"/>
          </a:xfrm>
          <a:prstGeom prst="rect">
            <a:avLst/>
          </a:prstGeom>
          <a:noFill/>
        </p:spPr>
        <p:txBody>
          <a:bodyPr wrap="square" lIns="0" tIns="0" rIns="0" bIns="0" anchor="t">
            <a:spAutoFit/>
          </a:bodyPr>
          <a:lstStyle/>
          <a:p>
            <a:pPr algn="r" rtl="1"/>
            <a:r>
              <a:rPr sz="1200" b="1">
                <a:solidFill>
                  <a:srgbClr val="0D7A5F"/>
                </a:solidFill>
                <a:latin typeface="Cairo"/>
                <a:cs typeface="Cairo"/>
              </a:rPr>
              <a:t>كيف يعمل Hasio</a:t>
            </a:r>
            <a:endParaRPr sz="1200" b="1">
              <a:solidFill>
                <a:srgbClr val="0D7A5F"/>
              </a:solidFill>
              <a:latin typeface="Cairo"/>
              <a:cs typeface="Cairo"/>
            </a:endParaRPr>
          </a:p>
        </p:txBody>
      </p:sp>
      <p:sp>
        <p:nvSpPr>
          <p:cNvPr id="20" name="TextBox 19"/>
          <p:cNvSpPr txBox="1"/>
          <p:nvPr/>
        </p:nvSpPr>
        <p:spPr>
          <a:xfrm>
            <a:off x="898855" y="1783080"/>
            <a:ext cx="4434840" cy="640080"/>
          </a:xfrm>
          <a:prstGeom prst="rect">
            <a:avLst/>
          </a:prstGeom>
          <a:noFill/>
        </p:spPr>
        <p:txBody>
          <a:bodyPr wrap="square" lIns="0" tIns="0" rIns="0" bIns="0" anchor="t">
            <a:spAutoFit/>
          </a:bodyPr>
          <a:lstStyle/>
          <a:p>
            <a:pPr algn="r" rtl="1"/>
            <a:r>
              <a:rPr sz="2200" b="1">
                <a:solidFill>
                  <a:srgbClr val="1C1B1B"/>
                </a:solidFill>
                <a:latin typeface="Cairo"/>
                <a:cs typeface="Cairo"/>
              </a:rPr>
              <a:t>ثلاث خطوات، بحساب واحد.</a:t>
            </a:r>
            <a:endParaRPr sz="2200" b="1">
              <a:solidFill>
                <a:srgbClr val="1C1B1B"/>
              </a:solidFill>
              <a:latin typeface="Cairo"/>
              <a:cs typeface="Cairo"/>
            </a:endParaRPr>
          </a:p>
        </p:txBody>
      </p:sp>
      <p:sp>
        <p:nvSpPr>
          <p:cNvPr id="21" name="Oval 20"/>
          <p:cNvSpPr/>
          <p:nvPr/>
        </p:nvSpPr>
        <p:spPr>
          <a:xfrm>
            <a:off x="4876495" y="2606040"/>
            <a:ext cx="457200" cy="457200"/>
          </a:xfrm>
          <a:prstGeom prst="ellipse">
            <a:avLst/>
          </a:prstGeom>
          <a:solidFill>
            <a:srgbClr val="0D7A5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4F1EA"/>
                </a:solidFill>
                <a:latin typeface="Cairo"/>
                <a:cs typeface="Cairo"/>
              </a:rPr>
              <a:t>01</a:t>
            </a:r>
            <a:endParaRPr sz="1100" b="1">
              <a:solidFill>
                <a:srgbClr val="F4F1EA"/>
              </a:solidFill>
              <a:latin typeface="Cairo"/>
              <a:cs typeface="Cairo"/>
            </a:endParaRPr>
          </a:p>
        </p:txBody>
      </p:sp>
      <p:sp>
        <p:nvSpPr>
          <p:cNvPr id="22" name="TextBox 21"/>
          <p:cNvSpPr txBox="1"/>
          <p:nvPr/>
        </p:nvSpPr>
        <p:spPr>
          <a:xfrm>
            <a:off x="898855" y="2560320"/>
            <a:ext cx="3794760" cy="365760"/>
          </a:xfrm>
          <a:prstGeom prst="rect">
            <a:avLst/>
          </a:prstGeom>
          <a:noFill/>
        </p:spPr>
        <p:txBody>
          <a:bodyPr wrap="square" lIns="0" tIns="0" rIns="0" bIns="0" anchor="t">
            <a:spAutoFit/>
          </a:bodyPr>
          <a:lstStyle/>
          <a:p>
            <a:pPr algn="r" rtl="1"/>
            <a:r>
              <a:rPr sz="1400" b="1">
                <a:solidFill>
                  <a:srgbClr val="1C1B1B"/>
                </a:solidFill>
                <a:latin typeface="Cairo"/>
                <a:cs typeface="Cairo"/>
              </a:rPr>
              <a:t>اكتشف</a:t>
            </a:r>
            <a:endParaRPr sz="1400" b="1">
              <a:solidFill>
                <a:srgbClr val="1C1B1B"/>
              </a:solidFill>
              <a:latin typeface="Cairo"/>
              <a:cs typeface="Cairo"/>
            </a:endParaRPr>
          </a:p>
        </p:txBody>
      </p:sp>
      <p:sp>
        <p:nvSpPr>
          <p:cNvPr id="23" name="TextBox 22"/>
          <p:cNvSpPr txBox="1"/>
          <p:nvPr/>
        </p:nvSpPr>
        <p:spPr>
          <a:xfrm>
            <a:off x="898855" y="2935224"/>
            <a:ext cx="3794760" cy="731520"/>
          </a:xfrm>
          <a:prstGeom prst="rect">
            <a:avLst/>
          </a:prstGeom>
          <a:noFill/>
        </p:spPr>
        <p:txBody>
          <a:bodyPr wrap="square" lIns="0" tIns="0" rIns="0" bIns="0" anchor="t">
            <a:spAutoFit/>
          </a:bodyPr>
          <a:lstStyle/>
          <a:p>
            <a:pPr algn="r" rtl="1"/>
            <a:r>
              <a:rPr sz="1050" b="0">
                <a:solidFill>
                  <a:srgbClr val="57635D"/>
                </a:solidFill>
                <a:latin typeface="Cairo"/>
                <a:cs typeface="Cairo"/>
              </a:rPr>
              <a:t>دليل منتقى لفنادق ومطاعم ومعالم وفعاليات، بالعربية والإنجليزية، مع خريطة وساعات عمل وصور حقيقية.</a:t>
            </a:r>
            <a:endParaRPr sz="1050" b="0">
              <a:solidFill>
                <a:srgbClr val="57635D"/>
              </a:solidFill>
              <a:latin typeface="Cairo"/>
              <a:cs typeface="Cairo"/>
            </a:endParaRPr>
          </a:p>
        </p:txBody>
      </p:sp>
      <p:sp>
        <p:nvSpPr>
          <p:cNvPr id="24" name="Oval 23"/>
          <p:cNvSpPr/>
          <p:nvPr/>
        </p:nvSpPr>
        <p:spPr>
          <a:xfrm>
            <a:off x="4876495" y="3611880"/>
            <a:ext cx="457200" cy="457200"/>
          </a:xfrm>
          <a:prstGeom prst="ellipse">
            <a:avLst/>
          </a:prstGeom>
          <a:solidFill>
            <a:srgbClr val="0D7A5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4F1EA"/>
                </a:solidFill>
                <a:latin typeface="Cairo"/>
                <a:cs typeface="Cairo"/>
              </a:rPr>
              <a:t>02</a:t>
            </a:r>
            <a:endParaRPr sz="1100" b="1">
              <a:solidFill>
                <a:srgbClr val="F4F1EA"/>
              </a:solidFill>
              <a:latin typeface="Cairo"/>
              <a:cs typeface="Cairo"/>
            </a:endParaRPr>
          </a:p>
        </p:txBody>
      </p:sp>
      <p:sp>
        <p:nvSpPr>
          <p:cNvPr id="25" name="TextBox 24"/>
          <p:cNvSpPr txBox="1"/>
          <p:nvPr/>
        </p:nvSpPr>
        <p:spPr>
          <a:xfrm>
            <a:off x="898855" y="3566160"/>
            <a:ext cx="3794760" cy="365760"/>
          </a:xfrm>
          <a:prstGeom prst="rect">
            <a:avLst/>
          </a:prstGeom>
          <a:noFill/>
        </p:spPr>
        <p:txBody>
          <a:bodyPr wrap="square" lIns="0" tIns="0" rIns="0" bIns="0" anchor="t">
            <a:spAutoFit/>
          </a:bodyPr>
          <a:lstStyle/>
          <a:p>
            <a:pPr algn="r" rtl="1"/>
            <a:r>
              <a:rPr sz="1400" b="1">
                <a:solidFill>
                  <a:srgbClr val="1C1B1B"/>
                </a:solidFill>
                <a:latin typeface="Cairo"/>
                <a:cs typeface="Cairo"/>
              </a:rPr>
              <a:t>خطّط</a:t>
            </a:r>
            <a:endParaRPr sz="1400" b="1">
              <a:solidFill>
                <a:srgbClr val="1C1B1B"/>
              </a:solidFill>
              <a:latin typeface="Cairo"/>
              <a:cs typeface="Cairo"/>
            </a:endParaRPr>
          </a:p>
        </p:txBody>
      </p:sp>
      <p:sp>
        <p:nvSpPr>
          <p:cNvPr id="26" name="TextBox 25"/>
          <p:cNvSpPr txBox="1"/>
          <p:nvPr/>
        </p:nvSpPr>
        <p:spPr>
          <a:xfrm>
            <a:off x="898855" y="3941064"/>
            <a:ext cx="3794760" cy="731520"/>
          </a:xfrm>
          <a:prstGeom prst="rect">
            <a:avLst/>
          </a:prstGeom>
          <a:noFill/>
        </p:spPr>
        <p:txBody>
          <a:bodyPr wrap="square" lIns="0" tIns="0" rIns="0" bIns="0" anchor="t">
            <a:spAutoFit/>
          </a:bodyPr>
          <a:lstStyle/>
          <a:p>
            <a:pPr algn="r" rtl="1"/>
            <a:r>
              <a:rPr sz="1050" b="0">
                <a:solidFill>
                  <a:srgbClr val="57635D"/>
                </a:solidFill>
                <a:latin typeface="Cairo"/>
                <a:cs typeface="Cairo"/>
              </a:rPr>
              <a:t>مرشد ذكي يسأل عن إيقاعك ورفقتك وميزانيتك، ثم يبني برنامجاً يوماً بيوم من أماكن حقيقية.</a:t>
            </a:r>
            <a:endParaRPr sz="1050" b="0">
              <a:solidFill>
                <a:srgbClr val="57635D"/>
              </a:solidFill>
              <a:latin typeface="Cairo"/>
              <a:cs typeface="Cairo"/>
            </a:endParaRPr>
          </a:p>
        </p:txBody>
      </p:sp>
      <p:sp>
        <p:nvSpPr>
          <p:cNvPr id="27" name="Oval 26"/>
          <p:cNvSpPr/>
          <p:nvPr/>
        </p:nvSpPr>
        <p:spPr>
          <a:xfrm>
            <a:off x="4876495" y="4617720"/>
            <a:ext cx="457200" cy="457200"/>
          </a:xfrm>
          <a:prstGeom prst="ellipse">
            <a:avLst/>
          </a:prstGeom>
          <a:solidFill>
            <a:srgbClr val="0D7A5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4F1EA"/>
                </a:solidFill>
                <a:latin typeface="Cairo"/>
                <a:cs typeface="Cairo"/>
              </a:rPr>
              <a:t>03</a:t>
            </a:r>
            <a:endParaRPr sz="1100" b="1">
              <a:solidFill>
                <a:srgbClr val="F4F1EA"/>
              </a:solidFill>
              <a:latin typeface="Cairo"/>
              <a:cs typeface="Cairo"/>
            </a:endParaRPr>
          </a:p>
        </p:txBody>
      </p:sp>
      <p:sp>
        <p:nvSpPr>
          <p:cNvPr id="28" name="TextBox 27"/>
          <p:cNvSpPr txBox="1"/>
          <p:nvPr/>
        </p:nvSpPr>
        <p:spPr>
          <a:xfrm>
            <a:off x="898855" y="4572000"/>
            <a:ext cx="3794760" cy="365760"/>
          </a:xfrm>
          <a:prstGeom prst="rect">
            <a:avLst/>
          </a:prstGeom>
          <a:noFill/>
        </p:spPr>
        <p:txBody>
          <a:bodyPr wrap="square" lIns="0" tIns="0" rIns="0" bIns="0" anchor="t">
            <a:spAutoFit/>
          </a:bodyPr>
          <a:lstStyle/>
          <a:p>
            <a:pPr algn="r" rtl="1"/>
            <a:r>
              <a:rPr sz="1400" b="1">
                <a:solidFill>
                  <a:srgbClr val="1C1B1B"/>
                </a:solidFill>
                <a:latin typeface="Cairo"/>
                <a:cs typeface="Cairo"/>
              </a:rPr>
              <a:t>احجز</a:t>
            </a:r>
            <a:endParaRPr sz="1400" b="1">
              <a:solidFill>
                <a:srgbClr val="1C1B1B"/>
              </a:solidFill>
              <a:latin typeface="Cairo"/>
              <a:cs typeface="Cairo"/>
            </a:endParaRPr>
          </a:p>
        </p:txBody>
      </p:sp>
      <p:sp>
        <p:nvSpPr>
          <p:cNvPr id="29" name="TextBox 28"/>
          <p:cNvSpPr txBox="1"/>
          <p:nvPr/>
        </p:nvSpPr>
        <p:spPr>
          <a:xfrm>
            <a:off x="898855" y="4946904"/>
            <a:ext cx="3794760" cy="731520"/>
          </a:xfrm>
          <a:prstGeom prst="rect">
            <a:avLst/>
          </a:prstGeom>
          <a:noFill/>
        </p:spPr>
        <p:txBody>
          <a:bodyPr wrap="square" lIns="0" tIns="0" rIns="0" bIns="0" anchor="t">
            <a:spAutoFit/>
          </a:bodyPr>
          <a:lstStyle/>
          <a:p>
            <a:pPr algn="r" rtl="1"/>
            <a:r>
              <a:rPr sz="1050" b="0">
                <a:solidFill>
                  <a:srgbClr val="57635D"/>
                </a:solidFill>
                <a:latin typeface="Cairo"/>
                <a:cs typeface="Cairo"/>
              </a:rPr>
              <a:t>إقامة أو مائدة أو مصوّر أو سائق أو مرشد: كل محطة في الخطة تتحوّل إلى حجز مؤكّد داخل التطبيق.</a:t>
            </a:r>
            <a:endParaRPr sz="1050" b="0">
              <a:solidFill>
                <a:srgbClr val="57635D"/>
              </a:solidFill>
              <a:latin typeface="Cairo"/>
              <a:cs typeface="Cairo"/>
            </a:endParaRPr>
          </a:p>
        </p:txBody>
      </p:sp>
      <p:sp>
        <p:nvSpPr>
          <p:cNvPr id="30" name="TextBox 29"/>
          <p:cNvSpPr txBox="1"/>
          <p:nvPr/>
        </p:nvSpPr>
        <p:spPr>
          <a:xfrm>
            <a:off x="898855" y="5349240"/>
            <a:ext cx="4434840" cy="320040"/>
          </a:xfrm>
          <a:prstGeom prst="rect">
            <a:avLst/>
          </a:prstGeom>
          <a:noFill/>
        </p:spPr>
        <p:txBody>
          <a:bodyPr wrap="square" lIns="0" tIns="0" rIns="0" bIns="0" anchor="t">
            <a:spAutoFit/>
          </a:bodyPr>
          <a:lstStyle/>
          <a:p>
            <a:pPr algn="r" rtl="1"/>
            <a:r>
              <a:rPr sz="1000" b="1">
                <a:solidFill>
                  <a:srgbClr val="0D7A5F"/>
                </a:solidFill>
                <a:latin typeface="Cairo"/>
                <a:cs typeface="Cairo"/>
              </a:rPr>
              <a:t>متاح اليوم على App Store و Google Play في 13 مدينة بالمنطقة الشرقية.</a:t>
            </a:r>
            <a:endParaRPr sz="1000" b="1">
              <a:solidFill>
                <a:srgbClr val="0D7A5F"/>
              </a:solidFill>
              <a:latin typeface="Cairo"/>
              <a:cs typeface="Cair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065F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63847" y="457200"/>
            <a:ext cx="7315200" cy="292608"/>
          </a:xfrm>
          <a:prstGeom prst="rect">
            <a:avLst/>
          </a:prstGeom>
          <a:noFill/>
        </p:spPr>
        <p:txBody>
          <a:bodyPr wrap="square" lIns="0" tIns="0" rIns="0" bIns="0" anchor="t">
            <a:spAutoFit/>
          </a:bodyPr>
          <a:lstStyle/>
          <a:p>
            <a:pPr algn="r" rtl="1">
              <a:lnSpc>
                <a:spcPct val="115000"/>
              </a:lnSpc>
            </a:pPr>
            <a:r>
              <a:rPr sz="1050" b="1" i="0">
                <a:solidFill>
                  <a:srgbClr val="8FDCC0"/>
                </a:solidFill>
                <a:latin typeface="Cairo"/>
                <a:cs typeface="Cairo"/>
              </a:rPr>
              <a:t>القيمة المقترحة الفريدة</a:t>
            </a:r>
            <a:endParaRPr sz="1050" b="1" i="0">
              <a:solidFill>
                <a:srgbClr val="8FDCC0"/>
              </a:solidFill>
              <a:latin typeface="Cairo"/>
              <a:cs typeface="Cairo"/>
            </a:endParaRPr>
          </a:p>
        </p:txBody>
      </p:sp>
      <p:sp>
        <p:nvSpPr>
          <p:cNvPr id="4" name="TextBox 3"/>
          <p:cNvSpPr txBox="1"/>
          <p:nvPr/>
        </p:nvSpPr>
        <p:spPr>
          <a:xfrm>
            <a:off x="612647" y="475488"/>
            <a:ext cx="1828800" cy="274320"/>
          </a:xfrm>
          <a:prstGeom prst="rect">
            <a:avLst/>
          </a:prstGeom>
          <a:noFill/>
        </p:spPr>
        <p:txBody>
          <a:bodyPr wrap="square" lIns="0" tIns="0" rIns="0" bIns="0" anchor="t">
            <a:spAutoFit/>
          </a:bodyPr>
          <a:lstStyle/>
          <a:p>
            <a:pPr algn="l" rtl="0">
              <a:lnSpc>
                <a:spcPct val="115000"/>
              </a:lnSpc>
            </a:pPr>
            <a:r>
              <a:rPr sz="950" b="0" i="0" spc="100">
                <a:solidFill>
                  <a:srgbClr val="CFE0D7"/>
                </a:solidFill>
                <a:latin typeface="Cairo"/>
                <a:cs typeface="Cairo"/>
              </a:rPr>
              <a:t>04 / 14</a:t>
            </a:r>
            <a:endParaRPr sz="950" b="0" i="0" spc="100">
              <a:solidFill>
                <a:srgbClr val="CFE0D7"/>
              </a:solidFill>
              <a:latin typeface="Cairo"/>
              <a:cs typeface="Cairo"/>
            </a:endParaRPr>
          </a:p>
        </p:txBody>
      </p:sp>
      <p:cxnSp>
        <p:nvCxnSpPr>
          <p:cNvPr id="5" name="Connector 4"/>
          <p:cNvCxnSpPr/>
          <p:nvPr/>
        </p:nvCxnSpPr>
        <p:spPr>
          <a:xfrm>
            <a:off x="612647" y="822960"/>
            <a:ext cx="10966400" cy="0"/>
          </a:xfrm>
          <a:prstGeom prst="line">
            <a:avLst/>
          </a:prstGeom>
          <a:ln w="9525">
            <a:solidFill>
              <a:srgbClr val="3E7A6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921447" y="6364224"/>
            <a:ext cx="3657600" cy="256032"/>
          </a:xfrm>
          <a:prstGeom prst="rect">
            <a:avLst/>
          </a:prstGeom>
          <a:noFill/>
        </p:spPr>
        <p:txBody>
          <a:bodyPr wrap="square" lIns="0" tIns="0" rIns="0" bIns="0" anchor="t">
            <a:spAutoFit/>
          </a:bodyPr>
          <a:lstStyle/>
          <a:p>
            <a:pPr algn="r" rtl="0">
              <a:lnSpc>
                <a:spcPct val="115000"/>
              </a:lnSpc>
            </a:pPr>
            <a:r>
              <a:rPr sz="900" b="1" i="0">
                <a:solidFill>
                  <a:srgbClr val="CFE0D7"/>
                </a:solidFill>
                <a:latin typeface="Cairo"/>
                <a:cs typeface="Cairo"/>
              </a:rPr>
              <a:t>Hasio</a:t>
            </a:r>
            <a:endParaRPr sz="900" b="1" i="0">
              <a:solidFill>
                <a:srgbClr val="CFE0D7"/>
              </a:solidFill>
              <a:latin typeface="Cairo"/>
              <a:cs typeface="Cairo"/>
            </a:endParaRPr>
          </a:p>
        </p:txBody>
      </p:sp>
      <p:sp>
        <p:nvSpPr>
          <p:cNvPr id="7" name="TextBox 6"/>
          <p:cNvSpPr txBox="1"/>
          <p:nvPr/>
        </p:nvSpPr>
        <p:spPr>
          <a:xfrm>
            <a:off x="612647" y="6364224"/>
            <a:ext cx="3657600" cy="256032"/>
          </a:xfrm>
          <a:prstGeom prst="rect">
            <a:avLst/>
          </a:prstGeom>
          <a:noFill/>
        </p:spPr>
        <p:txBody>
          <a:bodyPr wrap="square" lIns="0" tIns="0" rIns="0" bIns="0" anchor="t">
            <a:spAutoFit/>
          </a:bodyPr>
          <a:lstStyle/>
          <a:p>
            <a:pPr algn="l" rtl="1">
              <a:lnSpc>
                <a:spcPct val="115000"/>
              </a:lnSpc>
            </a:pPr>
            <a:r>
              <a:rPr sz="900" b="0" i="0">
                <a:solidFill>
                  <a:srgbClr val="CFE0D7"/>
                </a:solidFill>
                <a:latin typeface="Cairo"/>
                <a:cs typeface="Cairo"/>
              </a:rPr>
              <a:t>لماذا نفوز</a:t>
            </a:r>
            <a:endParaRPr sz="900" b="0" i="0">
              <a:solidFill>
                <a:srgbClr val="CFE0D7"/>
              </a:solidFill>
              <a:latin typeface="Cairo"/>
              <a:cs typeface="Cairo"/>
            </a:endParaRPr>
          </a:p>
        </p:txBody>
      </p:sp>
      <p:sp>
        <p:nvSpPr>
          <p:cNvPr id="8" name="TextBox 7"/>
          <p:cNvSpPr txBox="1"/>
          <p:nvPr/>
        </p:nvSpPr>
        <p:spPr>
          <a:xfrm>
            <a:off x="5909767" y="1097280"/>
            <a:ext cx="5669280" cy="822960"/>
          </a:xfrm>
          <a:prstGeom prst="rect">
            <a:avLst/>
          </a:prstGeom>
          <a:noFill/>
        </p:spPr>
        <p:txBody>
          <a:bodyPr wrap="square" lIns="0" tIns="0" rIns="0" bIns="0" anchor="t">
            <a:spAutoFit/>
          </a:bodyPr>
          <a:lstStyle/>
          <a:p>
            <a:pPr algn="r" rtl="1">
              <a:lnSpc>
                <a:spcPct val="120000"/>
              </a:lnSpc>
            </a:pPr>
            <a:r>
              <a:rPr sz="3000" b="1" i="0">
                <a:solidFill>
                  <a:srgbClr val="F4F1EA"/>
                </a:solidFill>
                <a:latin typeface="Cairo"/>
                <a:cs typeface="Cairo"/>
              </a:rPr>
              <a:t>اشعر بالمكان قبل أن تذهب إليه.</a:t>
            </a:r>
            <a:endParaRPr sz="3000" b="1" i="0">
              <a:solidFill>
                <a:srgbClr val="F4F1EA"/>
              </a:solidFill>
              <a:latin typeface="Cairo"/>
              <a:cs typeface="Cairo"/>
            </a:endParaRPr>
          </a:p>
        </p:txBody>
      </p:sp>
      <p:sp>
        <p:nvSpPr>
          <p:cNvPr id="9" name="TextBox 8"/>
          <p:cNvSpPr txBox="1"/>
          <p:nvPr/>
        </p:nvSpPr>
        <p:spPr>
          <a:xfrm>
            <a:off x="6275527" y="2103120"/>
            <a:ext cx="5303520" cy="1463040"/>
          </a:xfrm>
          <a:prstGeom prst="rect">
            <a:avLst/>
          </a:prstGeom>
          <a:noFill/>
        </p:spPr>
        <p:txBody>
          <a:bodyPr wrap="square" lIns="0" tIns="0" rIns="0" bIns="0" anchor="t">
            <a:spAutoFit/>
          </a:bodyPr>
          <a:lstStyle/>
          <a:p>
            <a:pPr algn="r" rtl="1">
              <a:lnSpc>
                <a:spcPct val="150000"/>
              </a:lnSpc>
            </a:pPr>
            <a:r>
              <a:rPr sz="1350" b="0" i="0">
                <a:solidFill>
                  <a:srgbClr val="F4F1EA"/>
                </a:solidFill>
                <a:latin typeface="Cairo"/>
                <a:cs typeface="Cairo"/>
              </a:rPr>
              <a:t>هذا الوعد الواحد هو نقطة الاختراق. كل منتج سفر عالمي يحسّن المخزون والتقييمات. أما Hasio فيحسّن </a:t>
            </a:r>
            <a:r>
              <a:rPr sz="1500" b="1" i="0">
                <a:solidFill>
                  <a:srgbClr val="8FDCC0"/>
                </a:solidFill>
                <a:latin typeface="Cairo"/>
                <a:cs typeface="Cairo"/>
              </a:rPr>
              <a:t>الثقة</a:t>
            </a:r>
            <a:r>
              <a:rPr sz="1350" b="0" i="0">
                <a:solidFill>
                  <a:srgbClr val="F4F1EA"/>
                </a:solidFill>
                <a:latin typeface="Cairo"/>
                <a:cs typeface="Cairo"/>
              </a:rPr>
              <a:t>: اليقين بأن المكان الذي اخترته هو المكان الذي أردته.</a:t>
            </a:r>
            <a:endParaRPr sz="1350" b="0" i="0">
              <a:solidFill>
                <a:srgbClr val="F4F1EA"/>
              </a:solidFill>
              <a:latin typeface="Cairo"/>
              <a:cs typeface="Cairo"/>
            </a:endParaRPr>
          </a:p>
        </p:txBody>
      </p:sp>
      <p:sp>
        <p:nvSpPr>
          <p:cNvPr id="10" name="TextBox 9"/>
          <p:cNvSpPr txBox="1"/>
          <p:nvPr/>
        </p:nvSpPr>
        <p:spPr>
          <a:xfrm>
            <a:off x="6275527" y="3749039"/>
            <a:ext cx="5303520" cy="1737360"/>
          </a:xfrm>
          <a:prstGeom prst="rect">
            <a:avLst/>
          </a:prstGeom>
          <a:noFill/>
        </p:spPr>
        <p:txBody>
          <a:bodyPr wrap="square" lIns="0" tIns="0" rIns="0" bIns="0" anchor="t">
            <a:spAutoFit/>
          </a:bodyPr>
          <a:lstStyle/>
          <a:p>
            <a:pPr algn="r" rtl="1">
              <a:lnSpc>
                <a:spcPct val="150000"/>
              </a:lnSpc>
            </a:pPr>
            <a:r>
              <a:rPr sz="1200" b="0" i="0">
                <a:solidFill>
                  <a:srgbClr val="CFE0D7"/>
                </a:solidFill>
                <a:latin typeface="Cairo"/>
                <a:cs typeface="Cairo"/>
              </a:rPr>
              <a:t>اليوم تأتي هذه الثقة من الانتقاء، والعمق ثنائي اللغة، ومرشد ذكي يملك خبرة محلية حقيقية. وغداً تأتي من المعاينات الغامرة: ادخل غرفة الفندق أو المزرعة أو مطعم الكهف من غرفة معيشتك، على هاتفك أولاً ثم بنظارة الواقع الافتراضي.</a:t>
            </a:r>
            <a:endParaRPr sz="1200" b="0" i="0">
              <a:solidFill>
                <a:srgbClr val="CFE0D7"/>
              </a:solidFill>
              <a:latin typeface="Cairo"/>
              <a:cs typeface="Cairo"/>
            </a:endParaRPr>
          </a:p>
        </p:txBody>
      </p:sp>
      <p:cxnSp>
        <p:nvCxnSpPr>
          <p:cNvPr id="11" name="Connector 10"/>
          <p:cNvCxnSpPr/>
          <p:nvPr/>
        </p:nvCxnSpPr>
        <p:spPr>
          <a:xfrm>
            <a:off x="624535" y="1097280"/>
            <a:ext cx="5074920" cy="0"/>
          </a:xfrm>
          <a:prstGeom prst="line">
            <a:avLst/>
          </a:prstGeom>
          <a:ln w="19050">
            <a:solidFill>
              <a:srgbClr val="8FDCC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24535" y="1207007"/>
            <a:ext cx="5074920" cy="384048"/>
          </a:xfrm>
          <a:prstGeom prst="rect">
            <a:avLst/>
          </a:prstGeom>
          <a:noFill/>
        </p:spPr>
        <p:txBody>
          <a:bodyPr wrap="square" lIns="0" tIns="0" rIns="0" bIns="0" anchor="t">
            <a:spAutoFit/>
          </a:bodyPr>
          <a:lstStyle/>
          <a:p>
            <a:pPr algn="r" rtl="1">
              <a:lnSpc>
                <a:spcPct val="110000"/>
              </a:lnSpc>
            </a:pPr>
            <a:r>
              <a:rPr sz="1600" b="1" i="0">
                <a:solidFill>
                  <a:srgbClr val="F4F1EA"/>
                </a:solidFill>
                <a:latin typeface="Cairo"/>
                <a:cs typeface="Cairo"/>
              </a:rPr>
              <a:t>عمق محلي بدل اتساع عالمي</a:t>
            </a:r>
            <a:endParaRPr sz="1600" b="1" i="0">
              <a:solidFill>
                <a:srgbClr val="F4F1EA"/>
              </a:solidFill>
              <a:latin typeface="Cairo"/>
              <a:cs typeface="Cairo"/>
            </a:endParaRPr>
          </a:p>
        </p:txBody>
      </p:sp>
      <p:sp>
        <p:nvSpPr>
          <p:cNvPr id="13" name="TextBox 12"/>
          <p:cNvSpPr txBox="1"/>
          <p:nvPr/>
        </p:nvSpPr>
        <p:spPr>
          <a:xfrm>
            <a:off x="624535" y="1591056"/>
            <a:ext cx="5074920" cy="914400"/>
          </a:xfrm>
          <a:prstGeom prst="rect">
            <a:avLst/>
          </a:prstGeom>
          <a:noFill/>
        </p:spPr>
        <p:txBody>
          <a:bodyPr wrap="square" lIns="0" tIns="0" rIns="0" bIns="0" anchor="t">
            <a:spAutoFit/>
          </a:bodyPr>
          <a:lstStyle/>
          <a:p>
            <a:pPr algn="r" rtl="1">
              <a:lnSpc>
                <a:spcPct val="130000"/>
              </a:lnSpc>
            </a:pPr>
            <a:r>
              <a:rPr sz="1050" b="0" i="0">
                <a:solidFill>
                  <a:srgbClr val="CFE0D7"/>
                </a:solidFill>
                <a:latin typeface="Cairo"/>
                <a:cs typeface="Cairo"/>
              </a:rPr>
              <a:t>يعرض Booking.com أربعين فندقاً في الأحساء. أما Hasio فيعرف أيها يملك فناء النخيل وأي مطعم تقصده قبل الغروب. العمق حصن لأنه يُكتسب على الأرض.</a:t>
            </a:r>
            <a:endParaRPr sz="1050" b="0" i="0">
              <a:solidFill>
                <a:srgbClr val="CFE0D7"/>
              </a:solidFill>
              <a:latin typeface="Cairo"/>
              <a:cs typeface="Cairo"/>
            </a:endParaRPr>
          </a:p>
        </p:txBody>
      </p:sp>
      <p:cxnSp>
        <p:nvCxnSpPr>
          <p:cNvPr id="14" name="Connector 13"/>
          <p:cNvCxnSpPr/>
          <p:nvPr/>
        </p:nvCxnSpPr>
        <p:spPr>
          <a:xfrm>
            <a:off x="624535" y="2450592"/>
            <a:ext cx="5074920" cy="0"/>
          </a:xfrm>
          <a:prstGeom prst="line">
            <a:avLst/>
          </a:prstGeom>
          <a:ln w="19050">
            <a:solidFill>
              <a:srgbClr val="8FDCC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24535" y="2560320"/>
            <a:ext cx="5074920" cy="384048"/>
          </a:xfrm>
          <a:prstGeom prst="rect">
            <a:avLst/>
          </a:prstGeom>
          <a:noFill/>
        </p:spPr>
        <p:txBody>
          <a:bodyPr wrap="square" lIns="0" tIns="0" rIns="0" bIns="0" anchor="t">
            <a:spAutoFit/>
          </a:bodyPr>
          <a:lstStyle/>
          <a:p>
            <a:pPr algn="r" rtl="1">
              <a:lnSpc>
                <a:spcPct val="110000"/>
              </a:lnSpc>
            </a:pPr>
            <a:r>
              <a:rPr sz="1600" b="1" i="0">
                <a:solidFill>
                  <a:srgbClr val="F4F1EA"/>
                </a:solidFill>
                <a:latin typeface="Cairo"/>
                <a:cs typeface="Cairo"/>
              </a:rPr>
              <a:t>عربي أولاً، وإنجليزي أصيل</a:t>
            </a:r>
            <a:endParaRPr sz="1600" b="1" i="0">
              <a:solidFill>
                <a:srgbClr val="F4F1EA"/>
              </a:solidFill>
              <a:latin typeface="Cairo"/>
              <a:cs typeface="Cairo"/>
            </a:endParaRPr>
          </a:p>
        </p:txBody>
      </p:sp>
      <p:sp>
        <p:nvSpPr>
          <p:cNvPr id="16" name="TextBox 15"/>
          <p:cNvSpPr txBox="1"/>
          <p:nvPr/>
        </p:nvSpPr>
        <p:spPr>
          <a:xfrm>
            <a:off x="624535" y="2944368"/>
            <a:ext cx="5074920" cy="914400"/>
          </a:xfrm>
          <a:prstGeom prst="rect">
            <a:avLst/>
          </a:prstGeom>
          <a:noFill/>
        </p:spPr>
        <p:txBody>
          <a:bodyPr wrap="square" lIns="0" tIns="0" rIns="0" bIns="0" anchor="t">
            <a:spAutoFit/>
          </a:bodyPr>
          <a:lstStyle/>
          <a:p>
            <a:pPr algn="r" rtl="1">
              <a:lnSpc>
                <a:spcPct val="130000"/>
              </a:lnSpc>
            </a:pPr>
            <a:r>
              <a:rPr sz="1050" b="0" i="0">
                <a:solidFill>
                  <a:srgbClr val="CFE0D7"/>
                </a:solidFill>
                <a:latin typeface="Cairo"/>
                <a:cs typeface="Cairo"/>
              </a:rPr>
              <a:t>كل شاشة وإدراج ورد من الذكاء الاصطناعي مكتوب باللغتين منذ اليوم الأول. المنافسون يترجمون؛ أما Hasio فثنائي اللغة ببنيته، وهذا ما يهم العائلات المحلية وزوار الخليج.</a:t>
            </a:r>
            <a:endParaRPr sz="1050" b="0" i="0">
              <a:solidFill>
                <a:srgbClr val="CFE0D7"/>
              </a:solidFill>
              <a:latin typeface="Cairo"/>
              <a:cs typeface="Cairo"/>
            </a:endParaRPr>
          </a:p>
        </p:txBody>
      </p:sp>
      <p:cxnSp>
        <p:nvCxnSpPr>
          <p:cNvPr id="17" name="Connector 16"/>
          <p:cNvCxnSpPr/>
          <p:nvPr/>
        </p:nvCxnSpPr>
        <p:spPr>
          <a:xfrm>
            <a:off x="624535" y="3803904"/>
            <a:ext cx="5074920" cy="0"/>
          </a:xfrm>
          <a:prstGeom prst="line">
            <a:avLst/>
          </a:prstGeom>
          <a:ln w="19050">
            <a:solidFill>
              <a:srgbClr val="8FDCC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24535" y="3913632"/>
            <a:ext cx="5074920" cy="384048"/>
          </a:xfrm>
          <a:prstGeom prst="rect">
            <a:avLst/>
          </a:prstGeom>
          <a:noFill/>
        </p:spPr>
        <p:txBody>
          <a:bodyPr wrap="square" lIns="0" tIns="0" rIns="0" bIns="0" anchor="t">
            <a:spAutoFit/>
          </a:bodyPr>
          <a:lstStyle/>
          <a:p>
            <a:pPr algn="r" rtl="1">
              <a:lnSpc>
                <a:spcPct val="110000"/>
              </a:lnSpc>
            </a:pPr>
            <a:r>
              <a:rPr sz="1600" b="1" i="0">
                <a:solidFill>
                  <a:srgbClr val="F4F1EA"/>
                </a:solidFill>
                <a:latin typeface="Cairo"/>
                <a:cs typeface="Cairo"/>
              </a:rPr>
              <a:t>عرض من الجانبين في حساب واحد</a:t>
            </a:r>
            <a:endParaRPr sz="1600" b="1" i="0">
              <a:solidFill>
                <a:srgbClr val="F4F1EA"/>
              </a:solidFill>
              <a:latin typeface="Cairo"/>
              <a:cs typeface="Cairo"/>
            </a:endParaRPr>
          </a:p>
        </p:txBody>
      </p:sp>
      <p:sp>
        <p:nvSpPr>
          <p:cNvPr id="19" name="TextBox 18"/>
          <p:cNvSpPr txBox="1"/>
          <p:nvPr/>
        </p:nvSpPr>
        <p:spPr>
          <a:xfrm>
            <a:off x="624535" y="4297680"/>
            <a:ext cx="5074920" cy="914400"/>
          </a:xfrm>
          <a:prstGeom prst="rect">
            <a:avLst/>
          </a:prstGeom>
          <a:noFill/>
        </p:spPr>
        <p:txBody>
          <a:bodyPr wrap="square" lIns="0" tIns="0" rIns="0" bIns="0" anchor="t">
            <a:spAutoFit/>
          </a:bodyPr>
          <a:lstStyle/>
          <a:p>
            <a:pPr algn="r" rtl="1">
              <a:lnSpc>
                <a:spcPct val="130000"/>
              </a:lnSpc>
            </a:pPr>
            <a:r>
              <a:rPr sz="1050" b="0" i="0">
                <a:solidFill>
                  <a:srgbClr val="CFE0D7"/>
                </a:solidFill>
                <a:latin typeface="Cairo"/>
                <a:cs typeface="Cairo"/>
              </a:rPr>
              <a:t>الأماكن والأشخاص. الحجوزات مع سوق الخدمات تمنح Hasio مصادر دخل لا يملكها أي دليل، ومخزوناً لا يملكه أي موقع حجز.</a:t>
            </a:r>
            <a:endParaRPr sz="1050" b="0" i="0">
              <a:solidFill>
                <a:srgbClr val="CFE0D7"/>
              </a:solidFill>
              <a:latin typeface="Cairo"/>
              <a:cs typeface="Cairo"/>
            </a:endParaRPr>
          </a:p>
        </p:txBody>
      </p:sp>
      <p:cxnSp>
        <p:nvCxnSpPr>
          <p:cNvPr id="20" name="Connector 19"/>
          <p:cNvCxnSpPr/>
          <p:nvPr/>
        </p:nvCxnSpPr>
        <p:spPr>
          <a:xfrm>
            <a:off x="624535" y="5157216"/>
            <a:ext cx="5074920" cy="0"/>
          </a:xfrm>
          <a:prstGeom prst="line">
            <a:avLst/>
          </a:prstGeom>
          <a:ln w="19050">
            <a:solidFill>
              <a:srgbClr val="8FDCC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24535" y="5266944"/>
            <a:ext cx="5074920" cy="384048"/>
          </a:xfrm>
          <a:prstGeom prst="rect">
            <a:avLst/>
          </a:prstGeom>
          <a:noFill/>
        </p:spPr>
        <p:txBody>
          <a:bodyPr wrap="square" lIns="0" tIns="0" rIns="0" bIns="0" anchor="t">
            <a:spAutoFit/>
          </a:bodyPr>
          <a:lstStyle/>
          <a:p>
            <a:pPr algn="r" rtl="1">
              <a:lnSpc>
                <a:spcPct val="110000"/>
              </a:lnSpc>
            </a:pPr>
            <a:r>
              <a:rPr sz="1600" b="1" i="0">
                <a:solidFill>
                  <a:srgbClr val="F4F1EA"/>
                </a:solidFill>
                <a:latin typeface="Cairo"/>
                <a:cs typeface="Cairo"/>
              </a:rPr>
              <a:t>خارطة طريق لا يسلكها غيرنا هنا</a:t>
            </a:r>
            <a:endParaRPr sz="1600" b="1" i="0">
              <a:solidFill>
                <a:srgbClr val="F4F1EA"/>
              </a:solidFill>
              <a:latin typeface="Cairo"/>
              <a:cs typeface="Cairo"/>
            </a:endParaRPr>
          </a:p>
        </p:txBody>
      </p:sp>
      <p:sp>
        <p:nvSpPr>
          <p:cNvPr id="22" name="TextBox 21"/>
          <p:cNvSpPr txBox="1"/>
          <p:nvPr/>
        </p:nvSpPr>
        <p:spPr>
          <a:xfrm>
            <a:off x="624535" y="5650992"/>
            <a:ext cx="5074920" cy="914400"/>
          </a:xfrm>
          <a:prstGeom prst="rect">
            <a:avLst/>
          </a:prstGeom>
          <a:noFill/>
        </p:spPr>
        <p:txBody>
          <a:bodyPr wrap="square" lIns="0" tIns="0" rIns="0" bIns="0" anchor="t">
            <a:spAutoFit/>
          </a:bodyPr>
          <a:lstStyle/>
          <a:p>
            <a:pPr algn="r" rtl="1">
              <a:lnSpc>
                <a:spcPct val="130000"/>
              </a:lnSpc>
            </a:pPr>
            <a:r>
              <a:rPr sz="1050" b="0" i="0">
                <a:solidFill>
                  <a:srgbClr val="CFE0D7"/>
                </a:solidFill>
                <a:latin typeface="Cairo"/>
                <a:cs typeface="Cairo"/>
              </a:rPr>
              <a:t>معاينات واقع معزّز لإقامات ومواقع سعودية حقيقية. لا أحد يوثّق هذه المنطقة بصيغة غامرة. من يلتقط أولاً يملك أولاً.</a:t>
            </a:r>
            <a:endParaRPr sz="1050" b="0" i="0">
              <a:solidFill>
                <a:srgbClr val="CFE0D7"/>
              </a:solidFill>
              <a:latin typeface="Cairo"/>
              <a:cs typeface="Cair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C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63847" y="457200"/>
            <a:ext cx="7315200" cy="292608"/>
          </a:xfrm>
          <a:prstGeom prst="rect">
            <a:avLst/>
          </a:prstGeom>
          <a:noFill/>
        </p:spPr>
        <p:txBody>
          <a:bodyPr wrap="square" lIns="0" tIns="0" rIns="0" bIns="0" anchor="t">
            <a:spAutoFit/>
          </a:bodyPr>
          <a:lstStyle/>
          <a:p>
            <a:pPr algn="r" rtl="1">
              <a:lnSpc>
                <a:spcPct val="115000"/>
              </a:lnSpc>
            </a:pPr>
            <a:r>
              <a:rPr sz="1050" b="1" i="0">
                <a:solidFill>
                  <a:srgbClr val="0D7A5F"/>
                </a:solidFill>
                <a:latin typeface="Cairo"/>
                <a:cs typeface="Cairo"/>
              </a:rPr>
              <a:t>المنتج · النسخة الأولى، متاحة في المتجرين</a:t>
            </a:r>
            <a:endParaRPr sz="1050" b="1" i="0">
              <a:solidFill>
                <a:srgbClr val="0D7A5F"/>
              </a:solidFill>
              <a:latin typeface="Cairo"/>
              <a:cs typeface="Cairo"/>
            </a:endParaRPr>
          </a:p>
        </p:txBody>
      </p:sp>
      <p:sp>
        <p:nvSpPr>
          <p:cNvPr id="4" name="TextBox 3"/>
          <p:cNvSpPr txBox="1"/>
          <p:nvPr/>
        </p:nvSpPr>
        <p:spPr>
          <a:xfrm>
            <a:off x="612647" y="475488"/>
            <a:ext cx="1828800" cy="274320"/>
          </a:xfrm>
          <a:prstGeom prst="rect">
            <a:avLst/>
          </a:prstGeom>
          <a:noFill/>
        </p:spPr>
        <p:txBody>
          <a:bodyPr wrap="square" lIns="0" tIns="0" rIns="0" bIns="0" anchor="t">
            <a:spAutoFit/>
          </a:bodyPr>
          <a:lstStyle/>
          <a:p>
            <a:pPr algn="l" rtl="0">
              <a:lnSpc>
                <a:spcPct val="115000"/>
              </a:lnSpc>
            </a:pPr>
            <a:r>
              <a:rPr sz="950" b="0" i="0" spc="100">
                <a:solidFill>
                  <a:srgbClr val="57635D"/>
                </a:solidFill>
                <a:latin typeface="Cairo"/>
                <a:cs typeface="Cairo"/>
              </a:rPr>
              <a:t>05 / 14</a:t>
            </a:r>
            <a:endParaRPr sz="950" b="0" i="0" spc="100">
              <a:solidFill>
                <a:srgbClr val="57635D"/>
              </a:solidFill>
              <a:latin typeface="Cairo"/>
              <a:cs typeface="Cairo"/>
            </a:endParaRPr>
          </a:p>
        </p:txBody>
      </p:sp>
      <p:cxnSp>
        <p:nvCxnSpPr>
          <p:cNvPr id="5" name="Connector 4"/>
          <p:cNvCxnSpPr/>
          <p:nvPr/>
        </p:nvCxnSpPr>
        <p:spPr>
          <a:xfrm>
            <a:off x="612647" y="822960"/>
            <a:ext cx="10966400" cy="0"/>
          </a:xfrm>
          <a:prstGeom prst="line">
            <a:avLst/>
          </a:prstGeom>
          <a:ln w="9525">
            <a:solidFill>
              <a:srgbClr val="D9D2C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921447" y="6364224"/>
            <a:ext cx="3657600" cy="256032"/>
          </a:xfrm>
          <a:prstGeom prst="rect">
            <a:avLst/>
          </a:prstGeom>
          <a:noFill/>
        </p:spPr>
        <p:txBody>
          <a:bodyPr wrap="square" lIns="0" tIns="0" rIns="0" bIns="0" anchor="t">
            <a:spAutoFit/>
          </a:bodyPr>
          <a:lstStyle/>
          <a:p>
            <a:pPr algn="r" rtl="0">
              <a:lnSpc>
                <a:spcPct val="115000"/>
              </a:lnSpc>
            </a:pPr>
            <a:r>
              <a:rPr sz="900" b="1" i="0">
                <a:solidFill>
                  <a:srgbClr val="57635D"/>
                </a:solidFill>
                <a:latin typeface="Cairo"/>
                <a:cs typeface="Cairo"/>
              </a:rPr>
              <a:t>Hasio</a:t>
            </a:r>
            <a:endParaRPr sz="900" b="1" i="0">
              <a:solidFill>
                <a:srgbClr val="57635D"/>
              </a:solidFill>
              <a:latin typeface="Cairo"/>
              <a:cs typeface="Cairo"/>
            </a:endParaRPr>
          </a:p>
        </p:txBody>
      </p:sp>
      <p:sp>
        <p:nvSpPr>
          <p:cNvPr id="7" name="TextBox 6"/>
          <p:cNvSpPr txBox="1"/>
          <p:nvPr/>
        </p:nvSpPr>
        <p:spPr>
          <a:xfrm>
            <a:off x="612647" y="6364224"/>
            <a:ext cx="3657600" cy="256032"/>
          </a:xfrm>
          <a:prstGeom prst="rect">
            <a:avLst/>
          </a:prstGeom>
          <a:noFill/>
        </p:spPr>
        <p:txBody>
          <a:bodyPr wrap="square" lIns="0" tIns="0" rIns="0" bIns="0" anchor="t">
            <a:spAutoFit/>
          </a:bodyPr>
          <a:lstStyle/>
          <a:p>
            <a:pPr algn="l" rtl="1">
              <a:lnSpc>
                <a:spcPct val="115000"/>
              </a:lnSpc>
            </a:pPr>
            <a:r>
              <a:rPr sz="900" b="0" i="0">
                <a:solidFill>
                  <a:srgbClr val="57635D"/>
                </a:solidFill>
                <a:latin typeface="Cairo"/>
                <a:cs typeface="Cairo"/>
              </a:rPr>
              <a:t>المنتج</a:t>
            </a:r>
            <a:endParaRPr sz="900" b="0" i="0">
              <a:solidFill>
                <a:srgbClr val="57635D"/>
              </a:solidFill>
              <a:latin typeface="Cairo"/>
              <a:cs typeface="Cairo"/>
            </a:endParaRPr>
          </a:p>
        </p:txBody>
      </p:sp>
      <p:sp>
        <p:nvSpPr>
          <p:cNvPr id="8" name="TextBox 7"/>
          <p:cNvSpPr txBox="1"/>
          <p:nvPr/>
        </p:nvSpPr>
        <p:spPr>
          <a:xfrm>
            <a:off x="8470087" y="1097280"/>
            <a:ext cx="3108960" cy="731520"/>
          </a:xfrm>
          <a:prstGeom prst="rect">
            <a:avLst/>
          </a:prstGeom>
          <a:noFill/>
        </p:spPr>
        <p:txBody>
          <a:bodyPr wrap="square" lIns="0" tIns="0" rIns="0" bIns="0" anchor="t">
            <a:spAutoFit/>
          </a:bodyPr>
          <a:lstStyle/>
          <a:p>
            <a:pPr algn="r" rtl="1">
              <a:lnSpc>
                <a:spcPct val="120000"/>
              </a:lnSpc>
            </a:pPr>
            <a:r>
              <a:rPr sz="2800" b="1" i="0">
                <a:solidFill>
                  <a:srgbClr val="1C1B1B"/>
                </a:solidFill>
                <a:latin typeface="Cairo"/>
                <a:cs typeface="Cairo"/>
              </a:rPr>
              <a:t>اكتشف. خطّط. أقم.</a:t>
            </a:r>
            <a:endParaRPr sz="2800" b="1" i="0">
              <a:solidFill>
                <a:srgbClr val="1C1B1B"/>
              </a:solidFill>
              <a:latin typeface="Cairo"/>
              <a:cs typeface="Cairo"/>
            </a:endParaRPr>
          </a:p>
        </p:txBody>
      </p:sp>
      <p:sp>
        <p:nvSpPr>
          <p:cNvPr id="9" name="TextBox 8"/>
          <p:cNvSpPr txBox="1"/>
          <p:nvPr/>
        </p:nvSpPr>
        <p:spPr>
          <a:xfrm>
            <a:off x="8561527" y="2011680"/>
            <a:ext cx="3017520" cy="1280160"/>
          </a:xfrm>
          <a:prstGeom prst="rect">
            <a:avLst/>
          </a:prstGeom>
          <a:noFill/>
        </p:spPr>
        <p:txBody>
          <a:bodyPr wrap="square" lIns="0" tIns="0" rIns="0" bIns="0" anchor="t">
            <a:spAutoFit/>
          </a:bodyPr>
          <a:lstStyle/>
          <a:p>
            <a:pPr algn="r" rtl="1">
              <a:lnSpc>
                <a:spcPct val="150000"/>
              </a:lnSpc>
            </a:pPr>
            <a:r>
              <a:rPr sz="1150" b="0" i="0">
                <a:solidFill>
                  <a:srgbClr val="1C1B1B"/>
                </a:solidFill>
                <a:latin typeface="Cairo"/>
                <a:cs typeface="Cairo"/>
              </a:rPr>
              <a:t>الإصدار 1.0 في الإنتاج منذ منتصف 2026 على App Store و Google Play، في ثماني دول، بالعربية والإنجليزية بالكامل.</a:t>
            </a:r>
            <a:endParaRPr sz="1150" b="0" i="0">
              <a:solidFill>
                <a:srgbClr val="1C1B1B"/>
              </a:solidFill>
              <a:latin typeface="Cairo"/>
              <a:cs typeface="Cairo"/>
            </a:endParaRPr>
          </a:p>
        </p:txBody>
      </p:sp>
      <p:sp>
        <p:nvSpPr>
          <p:cNvPr id="10" name="Oval 9"/>
          <p:cNvSpPr/>
          <p:nvPr/>
        </p:nvSpPr>
        <p:spPr>
          <a:xfrm>
            <a:off x="11487607" y="3483864"/>
            <a:ext cx="91440" cy="91440"/>
          </a:xfrm>
          <a:prstGeom prst="ellipse">
            <a:avLst/>
          </a:prstGeom>
          <a:solidFill>
            <a:srgbClr val="A88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61527" y="3383280"/>
            <a:ext cx="2788920" cy="457200"/>
          </a:xfrm>
          <a:prstGeom prst="rect">
            <a:avLst/>
          </a:prstGeom>
          <a:noFill/>
        </p:spPr>
        <p:txBody>
          <a:bodyPr wrap="square" lIns="0" tIns="0" rIns="0" bIns="0" anchor="t">
            <a:spAutoFit/>
          </a:bodyPr>
          <a:lstStyle/>
          <a:p>
            <a:pPr algn="r" rtl="1">
              <a:lnSpc>
                <a:spcPct val="140000"/>
              </a:lnSpc>
            </a:pPr>
            <a:r>
              <a:rPr sz="1050" b="0" i="0">
                <a:solidFill>
                  <a:srgbClr val="1C1B1B"/>
                </a:solidFill>
                <a:latin typeface="Cairo"/>
                <a:cs typeface="Cairo"/>
              </a:rPr>
              <a:t>دليل فنادق ومطاعم ومعالم وفعاليات مع خريطة</a:t>
            </a:r>
            <a:endParaRPr sz="1050" b="0" i="0">
              <a:solidFill>
                <a:srgbClr val="1C1B1B"/>
              </a:solidFill>
              <a:latin typeface="Cairo"/>
              <a:cs typeface="Cairo"/>
            </a:endParaRPr>
          </a:p>
        </p:txBody>
      </p:sp>
      <p:sp>
        <p:nvSpPr>
          <p:cNvPr id="12" name="Oval 11"/>
          <p:cNvSpPr/>
          <p:nvPr/>
        </p:nvSpPr>
        <p:spPr>
          <a:xfrm>
            <a:off x="11487607" y="3941064"/>
            <a:ext cx="91440" cy="91440"/>
          </a:xfrm>
          <a:prstGeom prst="ellipse">
            <a:avLst/>
          </a:prstGeom>
          <a:solidFill>
            <a:srgbClr val="A88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61527" y="3840480"/>
            <a:ext cx="2788920" cy="457200"/>
          </a:xfrm>
          <a:prstGeom prst="rect">
            <a:avLst/>
          </a:prstGeom>
          <a:noFill/>
        </p:spPr>
        <p:txBody>
          <a:bodyPr wrap="square" lIns="0" tIns="0" rIns="0" bIns="0" anchor="t">
            <a:spAutoFit/>
          </a:bodyPr>
          <a:lstStyle/>
          <a:p>
            <a:pPr algn="r" rtl="1">
              <a:lnSpc>
                <a:spcPct val="140000"/>
              </a:lnSpc>
            </a:pPr>
            <a:r>
              <a:rPr sz="1050" b="0" i="0">
                <a:solidFill>
                  <a:srgbClr val="1C1B1B"/>
                </a:solidFill>
                <a:latin typeface="Cairo"/>
                <a:cs typeface="Cairo"/>
              </a:rPr>
              <a:t>مخطِّط رحلات ذكي تفاعلي</a:t>
            </a:r>
            <a:endParaRPr sz="1050" b="0" i="0">
              <a:solidFill>
                <a:srgbClr val="1C1B1B"/>
              </a:solidFill>
              <a:latin typeface="Cairo"/>
              <a:cs typeface="Cairo"/>
            </a:endParaRPr>
          </a:p>
        </p:txBody>
      </p:sp>
      <p:sp>
        <p:nvSpPr>
          <p:cNvPr id="14" name="Oval 13"/>
          <p:cNvSpPr/>
          <p:nvPr/>
        </p:nvSpPr>
        <p:spPr>
          <a:xfrm>
            <a:off x="11487607" y="4398264"/>
            <a:ext cx="91440" cy="91440"/>
          </a:xfrm>
          <a:prstGeom prst="ellipse">
            <a:avLst/>
          </a:prstGeom>
          <a:solidFill>
            <a:srgbClr val="A88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61527" y="4297680"/>
            <a:ext cx="2788920" cy="457200"/>
          </a:xfrm>
          <a:prstGeom prst="rect">
            <a:avLst/>
          </a:prstGeom>
          <a:noFill/>
        </p:spPr>
        <p:txBody>
          <a:bodyPr wrap="square" lIns="0" tIns="0" rIns="0" bIns="0" anchor="t">
            <a:spAutoFit/>
          </a:bodyPr>
          <a:lstStyle/>
          <a:p>
            <a:pPr algn="r" rtl="1">
              <a:lnSpc>
                <a:spcPct val="140000"/>
              </a:lnSpc>
            </a:pPr>
            <a:r>
              <a:rPr sz="1050" b="0" i="0">
                <a:solidFill>
                  <a:srgbClr val="1C1B1B"/>
                </a:solidFill>
                <a:latin typeface="Cairo"/>
                <a:cs typeface="Cairo"/>
              </a:rPr>
              <a:t>منشئ رحلات بمحطات وتواريخ وملاحظات</a:t>
            </a:r>
            <a:endParaRPr sz="1050" b="0" i="0">
              <a:solidFill>
                <a:srgbClr val="1C1B1B"/>
              </a:solidFill>
              <a:latin typeface="Cairo"/>
              <a:cs typeface="Cairo"/>
            </a:endParaRPr>
          </a:p>
        </p:txBody>
      </p:sp>
      <p:sp>
        <p:nvSpPr>
          <p:cNvPr id="16" name="Oval 15"/>
          <p:cNvSpPr/>
          <p:nvPr/>
        </p:nvSpPr>
        <p:spPr>
          <a:xfrm>
            <a:off x="11487607" y="4855464"/>
            <a:ext cx="91440" cy="91440"/>
          </a:xfrm>
          <a:prstGeom prst="ellipse">
            <a:avLst/>
          </a:prstGeom>
          <a:solidFill>
            <a:srgbClr val="A88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61527" y="4754880"/>
            <a:ext cx="2788920" cy="457200"/>
          </a:xfrm>
          <a:prstGeom prst="rect">
            <a:avLst/>
          </a:prstGeom>
          <a:noFill/>
        </p:spPr>
        <p:txBody>
          <a:bodyPr wrap="square" lIns="0" tIns="0" rIns="0" bIns="0" anchor="t">
            <a:spAutoFit/>
          </a:bodyPr>
          <a:lstStyle/>
          <a:p>
            <a:pPr algn="r" rtl="1">
              <a:lnSpc>
                <a:spcPct val="140000"/>
              </a:lnSpc>
            </a:pPr>
            <a:r>
              <a:rPr sz="1050" b="0" i="0">
                <a:solidFill>
                  <a:srgbClr val="1C1B1B"/>
                </a:solidFill>
                <a:latin typeface="Cairo"/>
                <a:cs typeface="Cairo"/>
              </a:rPr>
              <a:t>حجوزات بمواعيد وتأكيد وإعادة جدولة</a:t>
            </a:r>
            <a:endParaRPr sz="1050" b="0" i="0">
              <a:solidFill>
                <a:srgbClr val="1C1B1B"/>
              </a:solidFill>
              <a:latin typeface="Cairo"/>
              <a:cs typeface="Cairo"/>
            </a:endParaRPr>
          </a:p>
        </p:txBody>
      </p:sp>
      <p:sp>
        <p:nvSpPr>
          <p:cNvPr id="18" name="Oval 17"/>
          <p:cNvSpPr/>
          <p:nvPr/>
        </p:nvSpPr>
        <p:spPr>
          <a:xfrm>
            <a:off x="11487607" y="5312664"/>
            <a:ext cx="91440" cy="91440"/>
          </a:xfrm>
          <a:prstGeom prst="ellipse">
            <a:avLst/>
          </a:prstGeom>
          <a:solidFill>
            <a:srgbClr val="A88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61527" y="5212080"/>
            <a:ext cx="2788920" cy="457200"/>
          </a:xfrm>
          <a:prstGeom prst="rect">
            <a:avLst/>
          </a:prstGeom>
          <a:noFill/>
        </p:spPr>
        <p:txBody>
          <a:bodyPr wrap="square" lIns="0" tIns="0" rIns="0" bIns="0" anchor="t">
            <a:spAutoFit/>
          </a:bodyPr>
          <a:lstStyle/>
          <a:p>
            <a:pPr algn="r" rtl="1">
              <a:lnSpc>
                <a:spcPct val="140000"/>
              </a:lnSpc>
            </a:pPr>
            <a:r>
              <a:rPr sz="1050" b="0" i="0">
                <a:solidFill>
                  <a:srgbClr val="1C1B1B"/>
                </a:solidFill>
                <a:latin typeface="Cairo"/>
                <a:cs typeface="Cairo"/>
              </a:rPr>
              <a:t>سوق خدمات المستقلين</a:t>
            </a:r>
            <a:endParaRPr sz="1050" b="0" i="0">
              <a:solidFill>
                <a:srgbClr val="1C1B1B"/>
              </a:solidFill>
              <a:latin typeface="Cairo"/>
              <a:cs typeface="Cairo"/>
            </a:endParaRPr>
          </a:p>
        </p:txBody>
      </p:sp>
      <p:sp>
        <p:nvSpPr>
          <p:cNvPr id="20" name="Oval 19"/>
          <p:cNvSpPr/>
          <p:nvPr/>
        </p:nvSpPr>
        <p:spPr>
          <a:xfrm>
            <a:off x="11487607" y="5769864"/>
            <a:ext cx="91440" cy="91440"/>
          </a:xfrm>
          <a:prstGeom prst="ellipse">
            <a:avLst/>
          </a:prstGeom>
          <a:solidFill>
            <a:srgbClr val="A88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61527" y="5669280"/>
            <a:ext cx="2788920" cy="457200"/>
          </a:xfrm>
          <a:prstGeom prst="rect">
            <a:avLst/>
          </a:prstGeom>
          <a:noFill/>
        </p:spPr>
        <p:txBody>
          <a:bodyPr wrap="square" lIns="0" tIns="0" rIns="0" bIns="0" anchor="t">
            <a:spAutoFit/>
          </a:bodyPr>
          <a:lstStyle/>
          <a:p>
            <a:pPr algn="r" rtl="1">
              <a:lnSpc>
                <a:spcPct val="140000"/>
              </a:lnSpc>
            </a:pPr>
            <a:r>
              <a:rPr sz="1050" b="0" i="0">
                <a:solidFill>
                  <a:srgbClr val="1C1B1B"/>
                </a:solidFill>
                <a:latin typeface="Cairo"/>
                <a:cs typeface="Cairo"/>
              </a:rPr>
              <a:t>المفضلة والتقييمات والملفات الشخصية</a:t>
            </a:r>
            <a:endParaRPr sz="1050" b="0" i="0">
              <a:solidFill>
                <a:srgbClr val="1C1B1B"/>
              </a:solidFill>
              <a:latin typeface="Cairo"/>
              <a:cs typeface="Cairo"/>
            </a:endParaRPr>
          </a:p>
        </p:txBody>
      </p:sp>
      <p:pic>
        <p:nvPicPr>
          <p:cNvPr id="22" name="Picture 21" descr="discover.png"/>
          <p:cNvPicPr>
            <a:picLocks noChangeAspect="1"/>
          </p:cNvPicPr>
          <p:nvPr/>
        </p:nvPicPr>
        <p:blipFill>
          <a:blip r:embed="rId1"/>
          <a:stretch>
            <a:fillRect/>
          </a:stretch>
        </p:blipFill>
        <p:spPr>
          <a:xfrm>
            <a:off x="5699455" y="1097280"/>
            <a:ext cx="2331720" cy="3886200"/>
          </a:xfrm>
          <a:prstGeom prst="rect">
            <a:avLst/>
          </a:prstGeom>
        </p:spPr>
      </p:pic>
      <p:sp>
        <p:nvSpPr>
          <p:cNvPr id="23" name="TextBox 22"/>
          <p:cNvSpPr txBox="1"/>
          <p:nvPr/>
        </p:nvSpPr>
        <p:spPr>
          <a:xfrm>
            <a:off x="5699455" y="5093208"/>
            <a:ext cx="2331720" cy="292608"/>
          </a:xfrm>
          <a:prstGeom prst="rect">
            <a:avLst/>
          </a:prstGeom>
          <a:noFill/>
        </p:spPr>
        <p:txBody>
          <a:bodyPr wrap="square" lIns="0" tIns="0" rIns="0" bIns="0" anchor="t">
            <a:spAutoFit/>
          </a:bodyPr>
          <a:lstStyle/>
          <a:p>
            <a:pPr algn="r" rtl="1">
              <a:lnSpc>
                <a:spcPct val="115000"/>
              </a:lnSpc>
            </a:pPr>
            <a:r>
              <a:rPr sz="1250" b="1" i="0">
                <a:solidFill>
                  <a:srgbClr val="1C1B1B"/>
                </a:solidFill>
                <a:latin typeface="Cairo"/>
                <a:cs typeface="Cairo"/>
              </a:rPr>
              <a:t>اكتشف</a:t>
            </a:r>
            <a:endParaRPr sz="1250" b="1" i="0">
              <a:solidFill>
                <a:srgbClr val="1C1B1B"/>
              </a:solidFill>
              <a:latin typeface="Cairo"/>
              <a:cs typeface="Cairo"/>
            </a:endParaRPr>
          </a:p>
        </p:txBody>
      </p:sp>
      <p:sp>
        <p:nvSpPr>
          <p:cNvPr id="24" name="TextBox 23"/>
          <p:cNvSpPr txBox="1"/>
          <p:nvPr/>
        </p:nvSpPr>
        <p:spPr>
          <a:xfrm>
            <a:off x="5699455" y="5394960"/>
            <a:ext cx="2331720" cy="914400"/>
          </a:xfrm>
          <a:prstGeom prst="rect">
            <a:avLst/>
          </a:prstGeom>
          <a:noFill/>
        </p:spPr>
        <p:txBody>
          <a:bodyPr wrap="square" lIns="0" tIns="0" rIns="0" bIns="0" anchor="t">
            <a:spAutoFit/>
          </a:bodyPr>
          <a:lstStyle/>
          <a:p>
            <a:pPr algn="r" rtl="1">
              <a:lnSpc>
                <a:spcPct val="135000"/>
              </a:lnSpc>
            </a:pPr>
            <a:r>
              <a:rPr sz="1000" b="0" i="0">
                <a:solidFill>
                  <a:srgbClr val="57635D"/>
                </a:solidFill>
                <a:latin typeface="Cairo"/>
                <a:cs typeface="Cairo"/>
              </a:rPr>
              <a:t>مواقع تراثية ودروب الواحة وكورنيشات والأماكن التي يقصدها الأهالي فعلاً، على الخريطة أو في قائمة.</a:t>
            </a:r>
            <a:endParaRPr sz="1000" b="0" i="0">
              <a:solidFill>
                <a:srgbClr val="57635D"/>
              </a:solidFill>
              <a:latin typeface="Cairo"/>
              <a:cs typeface="Cairo"/>
            </a:endParaRPr>
          </a:p>
        </p:txBody>
      </p:sp>
      <p:pic>
        <p:nvPicPr>
          <p:cNvPr id="25" name="Picture 24" descr="plan.png"/>
          <p:cNvPicPr>
            <a:picLocks noChangeAspect="1"/>
          </p:cNvPicPr>
          <p:nvPr/>
        </p:nvPicPr>
        <p:blipFill>
          <a:blip r:embed="rId2"/>
          <a:stretch>
            <a:fillRect/>
          </a:stretch>
        </p:blipFill>
        <p:spPr>
          <a:xfrm>
            <a:off x="3093415" y="1097280"/>
            <a:ext cx="2331720" cy="3886200"/>
          </a:xfrm>
          <a:prstGeom prst="rect">
            <a:avLst/>
          </a:prstGeom>
        </p:spPr>
      </p:pic>
      <p:sp>
        <p:nvSpPr>
          <p:cNvPr id="26" name="TextBox 25"/>
          <p:cNvSpPr txBox="1"/>
          <p:nvPr/>
        </p:nvSpPr>
        <p:spPr>
          <a:xfrm>
            <a:off x="3093415" y="5093208"/>
            <a:ext cx="2331720" cy="292608"/>
          </a:xfrm>
          <a:prstGeom prst="rect">
            <a:avLst/>
          </a:prstGeom>
          <a:noFill/>
        </p:spPr>
        <p:txBody>
          <a:bodyPr wrap="square" lIns="0" tIns="0" rIns="0" bIns="0" anchor="t">
            <a:spAutoFit/>
          </a:bodyPr>
          <a:lstStyle/>
          <a:p>
            <a:pPr algn="r" rtl="1">
              <a:lnSpc>
                <a:spcPct val="115000"/>
              </a:lnSpc>
            </a:pPr>
            <a:r>
              <a:rPr sz="1250" b="1" i="0">
                <a:solidFill>
                  <a:srgbClr val="1C1B1B"/>
                </a:solidFill>
                <a:latin typeface="Cairo"/>
                <a:cs typeface="Cairo"/>
              </a:rPr>
              <a:t>خطّط</a:t>
            </a:r>
            <a:endParaRPr sz="1250" b="1" i="0">
              <a:solidFill>
                <a:srgbClr val="1C1B1B"/>
              </a:solidFill>
              <a:latin typeface="Cairo"/>
              <a:cs typeface="Cairo"/>
            </a:endParaRPr>
          </a:p>
        </p:txBody>
      </p:sp>
      <p:sp>
        <p:nvSpPr>
          <p:cNvPr id="27" name="TextBox 26"/>
          <p:cNvSpPr txBox="1"/>
          <p:nvPr/>
        </p:nvSpPr>
        <p:spPr>
          <a:xfrm>
            <a:off x="3093415" y="5394960"/>
            <a:ext cx="2331720" cy="914400"/>
          </a:xfrm>
          <a:prstGeom prst="rect">
            <a:avLst/>
          </a:prstGeom>
          <a:noFill/>
        </p:spPr>
        <p:txBody>
          <a:bodyPr wrap="square" lIns="0" tIns="0" rIns="0" bIns="0" anchor="t">
            <a:spAutoFit/>
          </a:bodyPr>
          <a:lstStyle/>
          <a:p>
            <a:pPr algn="r" rtl="1">
              <a:lnSpc>
                <a:spcPct val="135000"/>
              </a:lnSpc>
            </a:pPr>
            <a:r>
              <a:rPr sz="1000" b="0" i="0">
                <a:solidFill>
                  <a:srgbClr val="57635D"/>
                </a:solidFill>
                <a:latin typeface="Cairo"/>
                <a:cs typeface="Cairo"/>
              </a:rPr>
              <a:t>أخبر Hasio بإيقاعك وتواريخك. يسأل المرشد ثم يبني برنامجاً يوماً بيوم يمكنك تحويله إلى رحلة.</a:t>
            </a:r>
            <a:endParaRPr sz="1000" b="0" i="0">
              <a:solidFill>
                <a:srgbClr val="57635D"/>
              </a:solidFill>
              <a:latin typeface="Cairo"/>
              <a:cs typeface="Cairo"/>
            </a:endParaRPr>
          </a:p>
        </p:txBody>
      </p:sp>
      <p:pic>
        <p:nvPicPr>
          <p:cNvPr id="28" name="Picture 27" descr="stay.png"/>
          <p:cNvPicPr>
            <a:picLocks noChangeAspect="1"/>
          </p:cNvPicPr>
          <p:nvPr/>
        </p:nvPicPr>
        <p:blipFill>
          <a:blip r:embed="rId3"/>
          <a:stretch>
            <a:fillRect/>
          </a:stretch>
        </p:blipFill>
        <p:spPr>
          <a:xfrm>
            <a:off x="487375" y="1097280"/>
            <a:ext cx="2331720" cy="3886200"/>
          </a:xfrm>
          <a:prstGeom prst="rect">
            <a:avLst/>
          </a:prstGeom>
        </p:spPr>
      </p:pic>
      <p:sp>
        <p:nvSpPr>
          <p:cNvPr id="29" name="TextBox 28"/>
          <p:cNvSpPr txBox="1"/>
          <p:nvPr/>
        </p:nvSpPr>
        <p:spPr>
          <a:xfrm>
            <a:off x="487375" y="5093208"/>
            <a:ext cx="2331720" cy="292608"/>
          </a:xfrm>
          <a:prstGeom prst="rect">
            <a:avLst/>
          </a:prstGeom>
          <a:noFill/>
        </p:spPr>
        <p:txBody>
          <a:bodyPr wrap="square" lIns="0" tIns="0" rIns="0" bIns="0" anchor="t">
            <a:spAutoFit/>
          </a:bodyPr>
          <a:lstStyle/>
          <a:p>
            <a:pPr algn="r" rtl="1">
              <a:lnSpc>
                <a:spcPct val="115000"/>
              </a:lnSpc>
            </a:pPr>
            <a:r>
              <a:rPr sz="1250" b="1" i="0">
                <a:solidFill>
                  <a:srgbClr val="1C1B1B"/>
                </a:solidFill>
                <a:latin typeface="Cairo"/>
                <a:cs typeface="Cairo"/>
              </a:rPr>
              <a:t>أقم وتذوّق</a:t>
            </a:r>
            <a:endParaRPr sz="1250" b="1" i="0">
              <a:solidFill>
                <a:srgbClr val="1C1B1B"/>
              </a:solidFill>
              <a:latin typeface="Cairo"/>
              <a:cs typeface="Cairo"/>
            </a:endParaRPr>
          </a:p>
        </p:txBody>
      </p:sp>
      <p:sp>
        <p:nvSpPr>
          <p:cNvPr id="30" name="TextBox 29"/>
          <p:cNvSpPr txBox="1"/>
          <p:nvPr/>
        </p:nvSpPr>
        <p:spPr>
          <a:xfrm>
            <a:off x="487375" y="5394960"/>
            <a:ext cx="2331720" cy="914400"/>
          </a:xfrm>
          <a:prstGeom prst="rect">
            <a:avLst/>
          </a:prstGeom>
          <a:noFill/>
        </p:spPr>
        <p:txBody>
          <a:bodyPr wrap="square" lIns="0" tIns="0" rIns="0" bIns="0" anchor="t">
            <a:spAutoFit/>
          </a:bodyPr>
          <a:lstStyle/>
          <a:p>
            <a:pPr algn="r" rtl="1">
              <a:lnSpc>
                <a:spcPct val="135000"/>
              </a:lnSpc>
            </a:pPr>
            <a:r>
              <a:rPr sz="1000" b="0" i="0">
                <a:solidFill>
                  <a:srgbClr val="57635D"/>
                </a:solidFill>
                <a:latin typeface="Cairo"/>
                <a:cs typeface="Cairo"/>
              </a:rPr>
              <a:t>فنادق ومزارع للإقامة وموائد تستحق عناء الطريق، مع الصور وساعات العمل والحجز بلمسة.</a:t>
            </a:r>
            <a:endParaRPr sz="1000" b="0" i="0">
              <a:solidFill>
                <a:srgbClr val="57635D"/>
              </a:solidFill>
              <a:latin typeface="Cairo"/>
              <a:cs typeface="Cair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C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63847" y="457200"/>
            <a:ext cx="7315200" cy="292608"/>
          </a:xfrm>
          <a:prstGeom prst="rect">
            <a:avLst/>
          </a:prstGeom>
          <a:noFill/>
        </p:spPr>
        <p:txBody>
          <a:bodyPr wrap="square" lIns="0" tIns="0" rIns="0" bIns="0" anchor="t">
            <a:spAutoFit/>
          </a:bodyPr>
          <a:lstStyle/>
          <a:p>
            <a:pPr algn="r" rtl="1">
              <a:lnSpc>
                <a:spcPct val="115000"/>
              </a:lnSpc>
            </a:pPr>
            <a:r>
              <a:rPr sz="1050" b="1" i="0">
                <a:solidFill>
                  <a:srgbClr val="0D7A5F"/>
                </a:solidFill>
                <a:latin typeface="Cairo"/>
                <a:cs typeface="Cairo"/>
              </a:rPr>
              <a:t>المنصة · ثلاث واجهات، خلفية واحدة</a:t>
            </a:r>
            <a:endParaRPr sz="1050" b="1" i="0">
              <a:solidFill>
                <a:srgbClr val="0D7A5F"/>
              </a:solidFill>
              <a:latin typeface="Cairo"/>
              <a:cs typeface="Cairo"/>
            </a:endParaRPr>
          </a:p>
        </p:txBody>
      </p:sp>
      <p:sp>
        <p:nvSpPr>
          <p:cNvPr id="4" name="TextBox 3"/>
          <p:cNvSpPr txBox="1"/>
          <p:nvPr/>
        </p:nvSpPr>
        <p:spPr>
          <a:xfrm>
            <a:off x="612647" y="475488"/>
            <a:ext cx="1828800" cy="274320"/>
          </a:xfrm>
          <a:prstGeom prst="rect">
            <a:avLst/>
          </a:prstGeom>
          <a:noFill/>
        </p:spPr>
        <p:txBody>
          <a:bodyPr wrap="square" lIns="0" tIns="0" rIns="0" bIns="0" anchor="t">
            <a:spAutoFit/>
          </a:bodyPr>
          <a:lstStyle/>
          <a:p>
            <a:pPr algn="l" rtl="0">
              <a:lnSpc>
                <a:spcPct val="115000"/>
              </a:lnSpc>
            </a:pPr>
            <a:r>
              <a:rPr sz="950" b="0" i="0" spc="100">
                <a:solidFill>
                  <a:srgbClr val="57635D"/>
                </a:solidFill>
                <a:latin typeface="Cairo"/>
                <a:cs typeface="Cairo"/>
              </a:rPr>
              <a:t>06 / 14</a:t>
            </a:r>
            <a:endParaRPr sz="950" b="0" i="0" spc="100">
              <a:solidFill>
                <a:srgbClr val="57635D"/>
              </a:solidFill>
              <a:latin typeface="Cairo"/>
              <a:cs typeface="Cairo"/>
            </a:endParaRPr>
          </a:p>
        </p:txBody>
      </p:sp>
      <p:cxnSp>
        <p:nvCxnSpPr>
          <p:cNvPr id="5" name="Connector 4"/>
          <p:cNvCxnSpPr/>
          <p:nvPr/>
        </p:nvCxnSpPr>
        <p:spPr>
          <a:xfrm>
            <a:off x="612647" y="822960"/>
            <a:ext cx="10966400" cy="0"/>
          </a:xfrm>
          <a:prstGeom prst="line">
            <a:avLst/>
          </a:prstGeom>
          <a:ln w="9525">
            <a:solidFill>
              <a:srgbClr val="D9D2C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921447" y="6364224"/>
            <a:ext cx="3657600" cy="256032"/>
          </a:xfrm>
          <a:prstGeom prst="rect">
            <a:avLst/>
          </a:prstGeom>
          <a:noFill/>
        </p:spPr>
        <p:txBody>
          <a:bodyPr wrap="square" lIns="0" tIns="0" rIns="0" bIns="0" anchor="t">
            <a:spAutoFit/>
          </a:bodyPr>
          <a:lstStyle/>
          <a:p>
            <a:pPr algn="r" rtl="0">
              <a:lnSpc>
                <a:spcPct val="115000"/>
              </a:lnSpc>
            </a:pPr>
            <a:r>
              <a:rPr sz="900" b="1" i="0">
                <a:solidFill>
                  <a:srgbClr val="57635D"/>
                </a:solidFill>
                <a:latin typeface="Cairo"/>
                <a:cs typeface="Cairo"/>
              </a:rPr>
              <a:t>Hasio</a:t>
            </a:r>
            <a:endParaRPr sz="900" b="1" i="0">
              <a:solidFill>
                <a:srgbClr val="57635D"/>
              </a:solidFill>
              <a:latin typeface="Cairo"/>
              <a:cs typeface="Cairo"/>
            </a:endParaRPr>
          </a:p>
        </p:txBody>
      </p:sp>
      <p:sp>
        <p:nvSpPr>
          <p:cNvPr id="7" name="TextBox 6"/>
          <p:cNvSpPr txBox="1"/>
          <p:nvPr/>
        </p:nvSpPr>
        <p:spPr>
          <a:xfrm>
            <a:off x="612647" y="6364224"/>
            <a:ext cx="3657600" cy="256032"/>
          </a:xfrm>
          <a:prstGeom prst="rect">
            <a:avLst/>
          </a:prstGeom>
          <a:noFill/>
        </p:spPr>
        <p:txBody>
          <a:bodyPr wrap="square" lIns="0" tIns="0" rIns="0" bIns="0" anchor="t">
            <a:spAutoFit/>
          </a:bodyPr>
          <a:lstStyle/>
          <a:p>
            <a:pPr algn="l" rtl="1">
              <a:lnSpc>
                <a:spcPct val="115000"/>
              </a:lnSpc>
            </a:pPr>
            <a:r>
              <a:rPr sz="900" b="0" i="0">
                <a:solidFill>
                  <a:srgbClr val="57635D"/>
                </a:solidFill>
                <a:latin typeface="Cairo"/>
                <a:cs typeface="Cairo"/>
              </a:rPr>
              <a:t>المنصة</a:t>
            </a:r>
            <a:endParaRPr sz="900" b="0" i="0">
              <a:solidFill>
                <a:srgbClr val="57635D"/>
              </a:solidFill>
              <a:latin typeface="Cairo"/>
              <a:cs typeface="Cairo"/>
            </a:endParaRPr>
          </a:p>
        </p:txBody>
      </p:sp>
      <p:cxnSp>
        <p:nvCxnSpPr>
          <p:cNvPr id="8" name="Connector 7"/>
          <p:cNvCxnSpPr/>
          <p:nvPr/>
        </p:nvCxnSpPr>
        <p:spPr>
          <a:xfrm>
            <a:off x="8106460" y="1097280"/>
            <a:ext cx="3472587" cy="0"/>
          </a:xfrm>
          <a:prstGeom prst="line">
            <a:avLst/>
          </a:prstGeom>
          <a:ln w="19050">
            <a:solidFill>
              <a:srgbClr val="0D7A5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106460" y="1216152"/>
            <a:ext cx="3472586" cy="256032"/>
          </a:xfrm>
          <a:prstGeom prst="rect">
            <a:avLst/>
          </a:prstGeom>
          <a:noFill/>
        </p:spPr>
        <p:txBody>
          <a:bodyPr wrap="square" lIns="0" tIns="0" rIns="0" bIns="0" anchor="t">
            <a:spAutoFit/>
          </a:bodyPr>
          <a:lstStyle/>
          <a:p>
            <a:pPr algn="r" rtl="1">
              <a:lnSpc>
                <a:spcPct val="115000"/>
              </a:lnSpc>
            </a:pPr>
            <a:r>
              <a:rPr sz="950" b="1" i="0">
                <a:solidFill>
                  <a:srgbClr val="57635D"/>
                </a:solidFill>
                <a:latin typeface="Cairo"/>
                <a:cs typeface="Cairo"/>
              </a:rPr>
              <a:t>المسافرون</a:t>
            </a:r>
            <a:endParaRPr sz="950" b="1" i="0">
              <a:solidFill>
                <a:srgbClr val="57635D"/>
              </a:solidFill>
              <a:latin typeface="Cairo"/>
              <a:cs typeface="Cairo"/>
            </a:endParaRPr>
          </a:p>
        </p:txBody>
      </p:sp>
      <p:sp>
        <p:nvSpPr>
          <p:cNvPr id="10" name="TextBox 9"/>
          <p:cNvSpPr txBox="1"/>
          <p:nvPr/>
        </p:nvSpPr>
        <p:spPr>
          <a:xfrm>
            <a:off x="8106460" y="1508760"/>
            <a:ext cx="3472586" cy="411480"/>
          </a:xfrm>
          <a:prstGeom prst="rect">
            <a:avLst/>
          </a:prstGeom>
          <a:noFill/>
        </p:spPr>
        <p:txBody>
          <a:bodyPr wrap="square" lIns="0" tIns="0" rIns="0" bIns="0" anchor="t">
            <a:spAutoFit/>
          </a:bodyPr>
          <a:lstStyle/>
          <a:p>
            <a:pPr algn="r" rtl="1">
              <a:lnSpc>
                <a:spcPct val="115000"/>
              </a:lnSpc>
            </a:pPr>
            <a:r>
              <a:rPr sz="1800" b="1" i="0">
                <a:solidFill>
                  <a:srgbClr val="1C1B1B"/>
                </a:solidFill>
                <a:latin typeface="Cairo"/>
                <a:cs typeface="Cairo"/>
              </a:rPr>
              <a:t>التطبيق</a:t>
            </a:r>
            <a:endParaRPr sz="1800" b="1" i="0">
              <a:solidFill>
                <a:srgbClr val="1C1B1B"/>
              </a:solidFill>
              <a:latin typeface="Cairo"/>
              <a:cs typeface="Cairo"/>
            </a:endParaRPr>
          </a:p>
        </p:txBody>
      </p:sp>
      <p:sp>
        <p:nvSpPr>
          <p:cNvPr id="11" name="TextBox 10"/>
          <p:cNvSpPr txBox="1"/>
          <p:nvPr/>
        </p:nvSpPr>
        <p:spPr>
          <a:xfrm>
            <a:off x="8106460" y="2011680"/>
            <a:ext cx="3472586" cy="2103120"/>
          </a:xfrm>
          <a:prstGeom prst="rect">
            <a:avLst/>
          </a:prstGeom>
          <a:noFill/>
        </p:spPr>
        <p:txBody>
          <a:bodyPr wrap="square" lIns="0" tIns="0" rIns="0" bIns="0" anchor="t">
            <a:spAutoFit/>
          </a:bodyPr>
          <a:lstStyle/>
          <a:p>
            <a:pPr algn="r" rtl="1">
              <a:lnSpc>
                <a:spcPct val="145000"/>
              </a:lnSpc>
            </a:pPr>
            <a:r>
              <a:rPr sz="1100" b="0" i="0">
                <a:solidFill>
                  <a:srgbClr val="57635D"/>
                </a:solidFill>
                <a:latin typeface="Cairo"/>
                <a:cs typeface="Cairo"/>
              </a:rPr>
              <a:t>iOS و Android بقاعدة برمجية واحدة. وصول فوري للسياح. بيانات لحظية، ومخطِّط ذكي بحدود استخدام وتكلفة مضبوطة. التحديثات تصل خلال دقائق دون مراجعة المتاجر.</a:t>
            </a:r>
            <a:endParaRPr sz="1100" b="0" i="0">
              <a:solidFill>
                <a:srgbClr val="57635D"/>
              </a:solidFill>
              <a:latin typeface="Cairo"/>
              <a:cs typeface="Cairo"/>
            </a:endParaRPr>
          </a:p>
        </p:txBody>
      </p:sp>
      <p:cxnSp>
        <p:nvCxnSpPr>
          <p:cNvPr id="12" name="Connector 11"/>
          <p:cNvCxnSpPr/>
          <p:nvPr/>
        </p:nvCxnSpPr>
        <p:spPr>
          <a:xfrm>
            <a:off x="4359554" y="1097280"/>
            <a:ext cx="3472586" cy="0"/>
          </a:xfrm>
          <a:prstGeom prst="line">
            <a:avLst/>
          </a:prstGeom>
          <a:ln w="19050">
            <a:solidFill>
              <a:srgbClr val="0D7A5F"/>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359554" y="1216152"/>
            <a:ext cx="3472586" cy="256032"/>
          </a:xfrm>
          <a:prstGeom prst="rect">
            <a:avLst/>
          </a:prstGeom>
          <a:noFill/>
        </p:spPr>
        <p:txBody>
          <a:bodyPr wrap="square" lIns="0" tIns="0" rIns="0" bIns="0" anchor="t">
            <a:spAutoFit/>
          </a:bodyPr>
          <a:lstStyle/>
          <a:p>
            <a:pPr algn="r" rtl="1">
              <a:lnSpc>
                <a:spcPct val="115000"/>
              </a:lnSpc>
            </a:pPr>
            <a:r>
              <a:rPr sz="950" b="1" i="0">
                <a:solidFill>
                  <a:srgbClr val="57635D"/>
                </a:solidFill>
                <a:latin typeface="Cairo"/>
                <a:cs typeface="Cairo"/>
              </a:rPr>
              <a:t>الأعمال ومقدّمو الخدمات</a:t>
            </a:r>
            <a:endParaRPr sz="950" b="1" i="0">
              <a:solidFill>
                <a:srgbClr val="57635D"/>
              </a:solidFill>
              <a:latin typeface="Cairo"/>
              <a:cs typeface="Cairo"/>
            </a:endParaRPr>
          </a:p>
        </p:txBody>
      </p:sp>
      <p:sp>
        <p:nvSpPr>
          <p:cNvPr id="14" name="TextBox 13"/>
          <p:cNvSpPr txBox="1"/>
          <p:nvPr/>
        </p:nvSpPr>
        <p:spPr>
          <a:xfrm>
            <a:off x="4359554" y="1508760"/>
            <a:ext cx="3472586" cy="411480"/>
          </a:xfrm>
          <a:prstGeom prst="rect">
            <a:avLst/>
          </a:prstGeom>
          <a:noFill/>
        </p:spPr>
        <p:txBody>
          <a:bodyPr wrap="square" lIns="0" tIns="0" rIns="0" bIns="0" anchor="t">
            <a:spAutoFit/>
          </a:bodyPr>
          <a:lstStyle/>
          <a:p>
            <a:pPr algn="r" rtl="1">
              <a:lnSpc>
                <a:spcPct val="115000"/>
              </a:lnSpc>
            </a:pPr>
            <a:r>
              <a:rPr sz="1800" b="1" i="0">
                <a:solidFill>
                  <a:srgbClr val="1C1B1B"/>
                </a:solidFill>
                <a:latin typeface="Cairo"/>
                <a:cs typeface="Cairo"/>
              </a:rPr>
              <a:t>إدخال العرض</a:t>
            </a:r>
            <a:endParaRPr sz="1800" b="1" i="0">
              <a:solidFill>
                <a:srgbClr val="1C1B1B"/>
              </a:solidFill>
              <a:latin typeface="Cairo"/>
              <a:cs typeface="Cairo"/>
            </a:endParaRPr>
          </a:p>
        </p:txBody>
      </p:sp>
      <p:sp>
        <p:nvSpPr>
          <p:cNvPr id="15" name="TextBox 14"/>
          <p:cNvSpPr txBox="1"/>
          <p:nvPr/>
        </p:nvSpPr>
        <p:spPr>
          <a:xfrm>
            <a:off x="4359554" y="2011680"/>
            <a:ext cx="3472586" cy="2103120"/>
          </a:xfrm>
          <a:prstGeom prst="rect">
            <a:avLst/>
          </a:prstGeom>
          <a:noFill/>
        </p:spPr>
        <p:txBody>
          <a:bodyPr wrap="square" lIns="0" tIns="0" rIns="0" bIns="0" anchor="t">
            <a:spAutoFit/>
          </a:bodyPr>
          <a:lstStyle/>
          <a:p>
            <a:pPr algn="r" rtl="1">
              <a:lnSpc>
                <a:spcPct val="145000"/>
              </a:lnSpc>
            </a:pPr>
            <a:r>
              <a:rPr sz="1100" b="0" i="0">
                <a:solidFill>
                  <a:srgbClr val="57635D"/>
                </a:solidFill>
                <a:latin typeface="Cairo"/>
                <a:cs typeface="Cairo"/>
              </a:rPr>
              <a:t>الفنادق والمطاعم ومنظّمو الفعاليات والمعالم ينشرون إدراجاتهم؛ والمصوّرون والسائقون والمرشدون والمترجمون ومقدّمو الضيافة ينشرون خدماتهم. رفع المستندات والتوثيق والموافقة مدمجة، وأي تعديل يعيد المراجعة فلا تتراجع الجودة.</a:t>
            </a:r>
            <a:endParaRPr sz="1100" b="0" i="0">
              <a:solidFill>
                <a:srgbClr val="57635D"/>
              </a:solidFill>
              <a:latin typeface="Cairo"/>
              <a:cs typeface="Cairo"/>
            </a:endParaRPr>
          </a:p>
        </p:txBody>
      </p:sp>
      <p:cxnSp>
        <p:nvCxnSpPr>
          <p:cNvPr id="16" name="Connector 15"/>
          <p:cNvCxnSpPr/>
          <p:nvPr/>
        </p:nvCxnSpPr>
        <p:spPr>
          <a:xfrm>
            <a:off x="612647" y="1097280"/>
            <a:ext cx="3472587" cy="0"/>
          </a:xfrm>
          <a:prstGeom prst="line">
            <a:avLst/>
          </a:prstGeom>
          <a:ln w="19050">
            <a:solidFill>
              <a:srgbClr val="0D7A5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12647" y="1216152"/>
            <a:ext cx="3472586" cy="256032"/>
          </a:xfrm>
          <a:prstGeom prst="rect">
            <a:avLst/>
          </a:prstGeom>
          <a:noFill/>
        </p:spPr>
        <p:txBody>
          <a:bodyPr wrap="square" lIns="0" tIns="0" rIns="0" bIns="0" anchor="t">
            <a:spAutoFit/>
          </a:bodyPr>
          <a:lstStyle/>
          <a:p>
            <a:pPr algn="r" rtl="1">
              <a:lnSpc>
                <a:spcPct val="115000"/>
              </a:lnSpc>
            </a:pPr>
            <a:r>
              <a:rPr sz="950" b="1" i="0">
                <a:solidFill>
                  <a:srgbClr val="57635D"/>
                </a:solidFill>
                <a:latin typeface="Cairo"/>
                <a:cs typeface="Cairo"/>
              </a:rPr>
              <a:t>التشغيل</a:t>
            </a:r>
            <a:endParaRPr sz="950" b="1" i="0">
              <a:solidFill>
                <a:srgbClr val="57635D"/>
              </a:solidFill>
              <a:latin typeface="Cairo"/>
              <a:cs typeface="Cairo"/>
            </a:endParaRPr>
          </a:p>
        </p:txBody>
      </p:sp>
      <p:sp>
        <p:nvSpPr>
          <p:cNvPr id="18" name="TextBox 17"/>
          <p:cNvSpPr txBox="1"/>
          <p:nvPr/>
        </p:nvSpPr>
        <p:spPr>
          <a:xfrm>
            <a:off x="612647" y="1508760"/>
            <a:ext cx="3472586" cy="411480"/>
          </a:xfrm>
          <a:prstGeom prst="rect">
            <a:avLst/>
          </a:prstGeom>
          <a:noFill/>
        </p:spPr>
        <p:txBody>
          <a:bodyPr wrap="square" lIns="0" tIns="0" rIns="0" bIns="0" anchor="t">
            <a:spAutoFit/>
          </a:bodyPr>
          <a:lstStyle/>
          <a:p>
            <a:pPr algn="r" rtl="1">
              <a:lnSpc>
                <a:spcPct val="115000"/>
              </a:lnSpc>
            </a:pPr>
            <a:r>
              <a:rPr sz="1800" b="1" i="0">
                <a:solidFill>
                  <a:srgbClr val="1C1B1B"/>
                </a:solidFill>
                <a:latin typeface="Cairo"/>
                <a:cs typeface="Cairo"/>
              </a:rPr>
              <a:t>لوحة الإدارة</a:t>
            </a:r>
            <a:endParaRPr sz="1800" b="1" i="0">
              <a:solidFill>
                <a:srgbClr val="1C1B1B"/>
              </a:solidFill>
              <a:latin typeface="Cairo"/>
              <a:cs typeface="Cairo"/>
            </a:endParaRPr>
          </a:p>
        </p:txBody>
      </p:sp>
      <p:sp>
        <p:nvSpPr>
          <p:cNvPr id="19" name="TextBox 18"/>
          <p:cNvSpPr txBox="1"/>
          <p:nvPr/>
        </p:nvSpPr>
        <p:spPr>
          <a:xfrm>
            <a:off x="612647" y="2011680"/>
            <a:ext cx="3472586" cy="2103120"/>
          </a:xfrm>
          <a:prstGeom prst="rect">
            <a:avLst/>
          </a:prstGeom>
          <a:noFill/>
        </p:spPr>
        <p:txBody>
          <a:bodyPr wrap="square" lIns="0" tIns="0" rIns="0" bIns="0" anchor="t">
            <a:spAutoFit/>
          </a:bodyPr>
          <a:lstStyle/>
          <a:p>
            <a:pPr algn="r" rtl="1">
              <a:lnSpc>
                <a:spcPct val="145000"/>
              </a:lnSpc>
            </a:pPr>
            <a:r>
              <a:rPr sz="1100" b="0" i="0">
                <a:solidFill>
                  <a:srgbClr val="57635D"/>
                </a:solidFill>
                <a:latin typeface="Cairo"/>
                <a:cs typeface="Cairo"/>
              </a:rPr>
              <a:t>قوائم الموافقات، وإجراءات جماعية، وإدارة الإدراجات بالصور وساعات العمل، وإدارة الحجوزات، والبلاغات، ومحرّر قاعدة معرفة الذكاء الاصطناعي، وسجل كامل لكل إجراء إداري. مبنية لفريق صغير يدير سوقاً متنامية.</a:t>
            </a:r>
            <a:endParaRPr sz="1100" b="0" i="0">
              <a:solidFill>
                <a:srgbClr val="57635D"/>
              </a:solidFill>
              <a:latin typeface="Cairo"/>
              <a:cs typeface="Cairo"/>
            </a:endParaRPr>
          </a:p>
        </p:txBody>
      </p:sp>
      <p:cxnSp>
        <p:nvCxnSpPr>
          <p:cNvPr id="20" name="Connector 19"/>
          <p:cNvCxnSpPr/>
          <p:nvPr/>
        </p:nvCxnSpPr>
        <p:spPr>
          <a:xfrm>
            <a:off x="612647" y="4206240"/>
            <a:ext cx="10966400" cy="0"/>
          </a:xfrm>
          <a:prstGeom prst="line">
            <a:avLst/>
          </a:prstGeom>
          <a:ln w="9525">
            <a:solidFill>
              <a:srgbClr val="D9D2C6"/>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9043187" y="4480560"/>
            <a:ext cx="2535859" cy="548640"/>
          </a:xfrm>
          <a:prstGeom prst="rect">
            <a:avLst/>
          </a:prstGeom>
          <a:noFill/>
        </p:spPr>
        <p:txBody>
          <a:bodyPr wrap="square" lIns="0" tIns="0" rIns="0" bIns="0" anchor="t">
            <a:spAutoFit/>
          </a:bodyPr>
          <a:lstStyle/>
          <a:p>
            <a:pPr algn="r" rtl="0">
              <a:lnSpc>
                <a:spcPct val="100000"/>
              </a:lnSpc>
            </a:pPr>
            <a:r>
              <a:rPr sz="3600" b="0" i="0">
                <a:solidFill>
                  <a:srgbClr val="1C1B1B"/>
                </a:solidFill>
                <a:latin typeface="Cairo"/>
                <a:cs typeface="Cairo"/>
              </a:rPr>
              <a:t>13</a:t>
            </a:r>
            <a:endParaRPr sz="3600" b="0" i="0">
              <a:solidFill>
                <a:srgbClr val="1C1B1B"/>
              </a:solidFill>
              <a:latin typeface="Cairo"/>
              <a:cs typeface="Cairo"/>
            </a:endParaRPr>
          </a:p>
        </p:txBody>
      </p:sp>
      <p:sp>
        <p:nvSpPr>
          <p:cNvPr id="22" name="TextBox 21"/>
          <p:cNvSpPr txBox="1"/>
          <p:nvPr/>
        </p:nvSpPr>
        <p:spPr>
          <a:xfrm>
            <a:off x="9043187" y="5047488"/>
            <a:ext cx="2535859" cy="640080"/>
          </a:xfrm>
          <a:prstGeom prst="rect">
            <a:avLst/>
          </a:prstGeom>
          <a:noFill/>
        </p:spPr>
        <p:txBody>
          <a:bodyPr wrap="square" lIns="0" tIns="0" rIns="0" bIns="0" anchor="t">
            <a:spAutoFit/>
          </a:bodyPr>
          <a:lstStyle/>
          <a:p>
            <a:pPr algn="r" rtl="1">
              <a:lnSpc>
                <a:spcPct val="135000"/>
              </a:lnSpc>
            </a:pPr>
            <a:r>
              <a:rPr sz="1100" b="0" i="0">
                <a:solidFill>
                  <a:srgbClr val="57635D"/>
                </a:solidFill>
                <a:latin typeface="Cairo"/>
                <a:cs typeface="Cairo"/>
              </a:rPr>
              <a:t>مدينة في المنطقة الشرقية، مع دمج المناطق الفرعية تحت مدنها</a:t>
            </a:r>
            <a:endParaRPr sz="1100" b="0" i="0">
              <a:solidFill>
                <a:srgbClr val="57635D"/>
              </a:solidFill>
              <a:latin typeface="Cairo"/>
              <a:cs typeface="Cairo"/>
            </a:endParaRPr>
          </a:p>
        </p:txBody>
      </p:sp>
      <p:sp>
        <p:nvSpPr>
          <p:cNvPr id="23" name="TextBox 22"/>
          <p:cNvSpPr txBox="1"/>
          <p:nvPr/>
        </p:nvSpPr>
        <p:spPr>
          <a:xfrm>
            <a:off x="6233007" y="4480560"/>
            <a:ext cx="2535859" cy="548640"/>
          </a:xfrm>
          <a:prstGeom prst="rect">
            <a:avLst/>
          </a:prstGeom>
          <a:noFill/>
        </p:spPr>
        <p:txBody>
          <a:bodyPr wrap="square" lIns="0" tIns="0" rIns="0" bIns="0" anchor="t">
            <a:spAutoFit/>
          </a:bodyPr>
          <a:lstStyle/>
          <a:p>
            <a:pPr algn="r" rtl="0">
              <a:lnSpc>
                <a:spcPct val="100000"/>
              </a:lnSpc>
            </a:pPr>
            <a:r>
              <a:rPr sz="3600" b="0" i="0">
                <a:solidFill>
                  <a:srgbClr val="1C1B1B"/>
                </a:solidFill>
                <a:latin typeface="Cairo"/>
                <a:cs typeface="Cairo"/>
              </a:rPr>
              <a:t>2</a:t>
            </a:r>
            <a:endParaRPr sz="3600" b="0" i="0">
              <a:solidFill>
                <a:srgbClr val="1C1B1B"/>
              </a:solidFill>
              <a:latin typeface="Cairo"/>
              <a:cs typeface="Cairo"/>
            </a:endParaRPr>
          </a:p>
        </p:txBody>
      </p:sp>
      <p:sp>
        <p:nvSpPr>
          <p:cNvPr id="24" name="TextBox 23"/>
          <p:cNvSpPr txBox="1"/>
          <p:nvPr/>
        </p:nvSpPr>
        <p:spPr>
          <a:xfrm>
            <a:off x="6233007" y="5047488"/>
            <a:ext cx="2535859" cy="640080"/>
          </a:xfrm>
          <a:prstGeom prst="rect">
            <a:avLst/>
          </a:prstGeom>
          <a:noFill/>
        </p:spPr>
        <p:txBody>
          <a:bodyPr wrap="square" lIns="0" tIns="0" rIns="0" bIns="0" anchor="t">
            <a:spAutoFit/>
          </a:bodyPr>
          <a:lstStyle/>
          <a:p>
            <a:pPr algn="r" rtl="1">
              <a:lnSpc>
                <a:spcPct val="135000"/>
              </a:lnSpc>
            </a:pPr>
            <a:r>
              <a:rPr sz="1100" b="0" i="0">
                <a:solidFill>
                  <a:srgbClr val="57635D"/>
                </a:solidFill>
                <a:latin typeface="Cairo"/>
                <a:cs typeface="Cairo"/>
              </a:rPr>
              <a:t>لغتان، العربية والإنجليزية، في كل شاشة وكل رد ذكي</a:t>
            </a:r>
            <a:endParaRPr sz="1100" b="0" i="0">
              <a:solidFill>
                <a:srgbClr val="57635D"/>
              </a:solidFill>
              <a:latin typeface="Cairo"/>
              <a:cs typeface="Cairo"/>
            </a:endParaRPr>
          </a:p>
        </p:txBody>
      </p:sp>
      <p:sp>
        <p:nvSpPr>
          <p:cNvPr id="25" name="TextBox 24"/>
          <p:cNvSpPr txBox="1"/>
          <p:nvPr/>
        </p:nvSpPr>
        <p:spPr>
          <a:xfrm>
            <a:off x="3422827" y="4480560"/>
            <a:ext cx="2535859" cy="548640"/>
          </a:xfrm>
          <a:prstGeom prst="rect">
            <a:avLst/>
          </a:prstGeom>
          <a:noFill/>
        </p:spPr>
        <p:txBody>
          <a:bodyPr wrap="square" lIns="0" tIns="0" rIns="0" bIns="0" anchor="t">
            <a:spAutoFit/>
          </a:bodyPr>
          <a:lstStyle/>
          <a:p>
            <a:pPr algn="r" rtl="0">
              <a:lnSpc>
                <a:spcPct val="100000"/>
              </a:lnSpc>
            </a:pPr>
            <a:r>
              <a:rPr sz="3600" b="0" i="0">
                <a:solidFill>
                  <a:srgbClr val="1C1B1B"/>
                </a:solidFill>
                <a:latin typeface="Cairo"/>
                <a:cs typeface="Cairo"/>
              </a:rPr>
              <a:t>3</a:t>
            </a:r>
            <a:endParaRPr sz="3600" b="0" i="0">
              <a:solidFill>
                <a:srgbClr val="1C1B1B"/>
              </a:solidFill>
              <a:latin typeface="Cairo"/>
              <a:cs typeface="Cairo"/>
            </a:endParaRPr>
          </a:p>
        </p:txBody>
      </p:sp>
      <p:sp>
        <p:nvSpPr>
          <p:cNvPr id="26" name="TextBox 25"/>
          <p:cNvSpPr txBox="1"/>
          <p:nvPr/>
        </p:nvSpPr>
        <p:spPr>
          <a:xfrm>
            <a:off x="3422827" y="5047488"/>
            <a:ext cx="2535859" cy="640080"/>
          </a:xfrm>
          <a:prstGeom prst="rect">
            <a:avLst/>
          </a:prstGeom>
          <a:noFill/>
        </p:spPr>
        <p:txBody>
          <a:bodyPr wrap="square" lIns="0" tIns="0" rIns="0" bIns="0" anchor="t">
            <a:spAutoFit/>
          </a:bodyPr>
          <a:lstStyle/>
          <a:p>
            <a:pPr algn="r" rtl="1">
              <a:lnSpc>
                <a:spcPct val="135000"/>
              </a:lnSpc>
            </a:pPr>
            <a:r>
              <a:rPr sz="1100" b="0" i="0">
                <a:solidFill>
                  <a:srgbClr val="57635D"/>
                </a:solidFill>
                <a:latin typeface="Cairo"/>
                <a:cs typeface="Cairo"/>
              </a:rPr>
              <a:t>أدوار مستخدمين بتوثيق: سائح، صاحب عمل، مقدّم خدمة</a:t>
            </a:r>
            <a:endParaRPr sz="1100" b="0" i="0">
              <a:solidFill>
                <a:srgbClr val="57635D"/>
              </a:solidFill>
              <a:latin typeface="Cairo"/>
              <a:cs typeface="Cairo"/>
            </a:endParaRPr>
          </a:p>
        </p:txBody>
      </p:sp>
      <p:sp>
        <p:nvSpPr>
          <p:cNvPr id="27" name="TextBox 26"/>
          <p:cNvSpPr txBox="1"/>
          <p:nvPr/>
        </p:nvSpPr>
        <p:spPr>
          <a:xfrm>
            <a:off x="612648" y="4480560"/>
            <a:ext cx="2535859" cy="548640"/>
          </a:xfrm>
          <a:prstGeom prst="rect">
            <a:avLst/>
          </a:prstGeom>
          <a:noFill/>
        </p:spPr>
        <p:txBody>
          <a:bodyPr wrap="square" lIns="0" tIns="0" rIns="0" bIns="0" anchor="t">
            <a:spAutoFit/>
          </a:bodyPr>
          <a:lstStyle/>
          <a:p>
            <a:pPr algn="r" rtl="0">
              <a:lnSpc>
                <a:spcPct val="100000"/>
              </a:lnSpc>
            </a:pPr>
            <a:r>
              <a:rPr sz="3600" b="0" i="0">
                <a:solidFill>
                  <a:srgbClr val="1C1B1B"/>
                </a:solidFill>
                <a:latin typeface="Cairo"/>
                <a:cs typeface="Cairo"/>
              </a:rPr>
              <a:t>8</a:t>
            </a:r>
            <a:endParaRPr sz="3600" b="0" i="0">
              <a:solidFill>
                <a:srgbClr val="1C1B1B"/>
              </a:solidFill>
              <a:latin typeface="Cairo"/>
              <a:cs typeface="Cairo"/>
            </a:endParaRPr>
          </a:p>
        </p:txBody>
      </p:sp>
      <p:sp>
        <p:nvSpPr>
          <p:cNvPr id="28" name="TextBox 27"/>
          <p:cNvSpPr txBox="1"/>
          <p:nvPr/>
        </p:nvSpPr>
        <p:spPr>
          <a:xfrm>
            <a:off x="612648" y="5047488"/>
            <a:ext cx="2535859" cy="640080"/>
          </a:xfrm>
          <a:prstGeom prst="rect">
            <a:avLst/>
          </a:prstGeom>
          <a:noFill/>
        </p:spPr>
        <p:txBody>
          <a:bodyPr wrap="square" lIns="0" tIns="0" rIns="0" bIns="0" anchor="t">
            <a:spAutoFit/>
          </a:bodyPr>
          <a:lstStyle/>
          <a:p>
            <a:pPr algn="r" rtl="1">
              <a:lnSpc>
                <a:spcPct val="135000"/>
              </a:lnSpc>
            </a:pPr>
            <a:r>
              <a:rPr sz="1100" b="0" i="0">
                <a:solidFill>
                  <a:srgbClr val="57635D"/>
                </a:solidFill>
                <a:latin typeface="Cairo"/>
                <a:cs typeface="Cairo"/>
              </a:rPr>
              <a:t>دول إطلاق: السعودية والإمارات وقطر والبحرين والكويت وعُمان وأستراليا والجزائر</a:t>
            </a:r>
            <a:endParaRPr sz="1100" b="0" i="0">
              <a:solidFill>
                <a:srgbClr val="57635D"/>
              </a:solidFill>
              <a:latin typeface="Cairo"/>
              <a:cs typeface="Cair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C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63847" y="457200"/>
            <a:ext cx="7315200" cy="292608"/>
          </a:xfrm>
          <a:prstGeom prst="rect">
            <a:avLst/>
          </a:prstGeom>
          <a:noFill/>
        </p:spPr>
        <p:txBody>
          <a:bodyPr wrap="square" lIns="0" tIns="0" rIns="0" bIns="0" anchor="t">
            <a:spAutoFit/>
          </a:bodyPr>
          <a:lstStyle/>
          <a:p>
            <a:pPr algn="r" rtl="1">
              <a:lnSpc>
                <a:spcPct val="115000"/>
              </a:lnSpc>
            </a:pPr>
            <a:r>
              <a:rPr sz="1050" b="1" i="0">
                <a:solidFill>
                  <a:srgbClr val="0D7A5F"/>
                </a:solidFill>
                <a:latin typeface="Cairo"/>
                <a:cs typeface="Cairo"/>
              </a:rPr>
              <a:t>الذكاء الاصطناعي في القلب</a:t>
            </a:r>
            <a:endParaRPr sz="1050" b="1" i="0">
              <a:solidFill>
                <a:srgbClr val="0D7A5F"/>
              </a:solidFill>
              <a:latin typeface="Cairo"/>
              <a:cs typeface="Cairo"/>
            </a:endParaRPr>
          </a:p>
        </p:txBody>
      </p:sp>
      <p:sp>
        <p:nvSpPr>
          <p:cNvPr id="4" name="TextBox 3"/>
          <p:cNvSpPr txBox="1"/>
          <p:nvPr/>
        </p:nvSpPr>
        <p:spPr>
          <a:xfrm>
            <a:off x="612647" y="475488"/>
            <a:ext cx="1828800" cy="274320"/>
          </a:xfrm>
          <a:prstGeom prst="rect">
            <a:avLst/>
          </a:prstGeom>
          <a:noFill/>
        </p:spPr>
        <p:txBody>
          <a:bodyPr wrap="square" lIns="0" tIns="0" rIns="0" bIns="0" anchor="t">
            <a:spAutoFit/>
          </a:bodyPr>
          <a:lstStyle/>
          <a:p>
            <a:pPr algn="l" rtl="0">
              <a:lnSpc>
                <a:spcPct val="115000"/>
              </a:lnSpc>
            </a:pPr>
            <a:r>
              <a:rPr sz="950" b="0" i="0" spc="100">
                <a:solidFill>
                  <a:srgbClr val="57635D"/>
                </a:solidFill>
                <a:latin typeface="Cairo"/>
                <a:cs typeface="Cairo"/>
              </a:rPr>
              <a:t>07 / 14</a:t>
            </a:r>
            <a:endParaRPr sz="950" b="0" i="0" spc="100">
              <a:solidFill>
                <a:srgbClr val="57635D"/>
              </a:solidFill>
              <a:latin typeface="Cairo"/>
              <a:cs typeface="Cairo"/>
            </a:endParaRPr>
          </a:p>
        </p:txBody>
      </p:sp>
      <p:cxnSp>
        <p:nvCxnSpPr>
          <p:cNvPr id="5" name="Connector 4"/>
          <p:cNvCxnSpPr/>
          <p:nvPr/>
        </p:nvCxnSpPr>
        <p:spPr>
          <a:xfrm>
            <a:off x="612647" y="822960"/>
            <a:ext cx="10966400" cy="0"/>
          </a:xfrm>
          <a:prstGeom prst="line">
            <a:avLst/>
          </a:prstGeom>
          <a:ln w="9525">
            <a:solidFill>
              <a:srgbClr val="D9D2C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921447" y="6364224"/>
            <a:ext cx="3657600" cy="256032"/>
          </a:xfrm>
          <a:prstGeom prst="rect">
            <a:avLst/>
          </a:prstGeom>
          <a:noFill/>
        </p:spPr>
        <p:txBody>
          <a:bodyPr wrap="square" lIns="0" tIns="0" rIns="0" bIns="0" anchor="t">
            <a:spAutoFit/>
          </a:bodyPr>
          <a:lstStyle/>
          <a:p>
            <a:pPr algn="r" rtl="0">
              <a:lnSpc>
                <a:spcPct val="115000"/>
              </a:lnSpc>
            </a:pPr>
            <a:r>
              <a:rPr sz="900" b="1" i="0">
                <a:solidFill>
                  <a:srgbClr val="57635D"/>
                </a:solidFill>
                <a:latin typeface="Cairo"/>
                <a:cs typeface="Cairo"/>
              </a:rPr>
              <a:t>Hasio</a:t>
            </a:r>
            <a:endParaRPr sz="900" b="1" i="0">
              <a:solidFill>
                <a:srgbClr val="57635D"/>
              </a:solidFill>
              <a:latin typeface="Cairo"/>
              <a:cs typeface="Cairo"/>
            </a:endParaRPr>
          </a:p>
        </p:txBody>
      </p:sp>
      <p:sp>
        <p:nvSpPr>
          <p:cNvPr id="7" name="TextBox 6"/>
          <p:cNvSpPr txBox="1"/>
          <p:nvPr/>
        </p:nvSpPr>
        <p:spPr>
          <a:xfrm>
            <a:off x="612647" y="6364224"/>
            <a:ext cx="3657600" cy="256032"/>
          </a:xfrm>
          <a:prstGeom prst="rect">
            <a:avLst/>
          </a:prstGeom>
          <a:noFill/>
        </p:spPr>
        <p:txBody>
          <a:bodyPr wrap="square" lIns="0" tIns="0" rIns="0" bIns="0" anchor="t">
            <a:spAutoFit/>
          </a:bodyPr>
          <a:lstStyle/>
          <a:p>
            <a:pPr algn="l" rtl="1">
              <a:lnSpc>
                <a:spcPct val="115000"/>
              </a:lnSpc>
            </a:pPr>
            <a:r>
              <a:rPr sz="900" b="0" i="0">
                <a:solidFill>
                  <a:srgbClr val="57635D"/>
                </a:solidFill>
                <a:latin typeface="Cairo"/>
                <a:cs typeface="Cairo"/>
              </a:rPr>
              <a:t>الذكاء الاصطناعي</a:t>
            </a:r>
            <a:endParaRPr sz="900" b="0" i="0">
              <a:solidFill>
                <a:srgbClr val="57635D"/>
              </a:solidFill>
              <a:latin typeface="Cairo"/>
              <a:cs typeface="Cairo"/>
            </a:endParaRPr>
          </a:p>
        </p:txBody>
      </p:sp>
      <p:sp>
        <p:nvSpPr>
          <p:cNvPr id="8" name="TextBox 7"/>
          <p:cNvSpPr txBox="1"/>
          <p:nvPr/>
        </p:nvSpPr>
        <p:spPr>
          <a:xfrm>
            <a:off x="6184087" y="1097280"/>
            <a:ext cx="5394960" cy="731520"/>
          </a:xfrm>
          <a:prstGeom prst="rect">
            <a:avLst/>
          </a:prstGeom>
          <a:noFill/>
        </p:spPr>
        <p:txBody>
          <a:bodyPr wrap="square" lIns="0" tIns="0" rIns="0" bIns="0" anchor="t">
            <a:spAutoFit/>
          </a:bodyPr>
          <a:lstStyle/>
          <a:p>
            <a:pPr algn="r" rtl="1">
              <a:lnSpc>
                <a:spcPct val="120000"/>
              </a:lnSpc>
            </a:pPr>
            <a:r>
              <a:rPr sz="2800" b="1" i="0">
                <a:solidFill>
                  <a:srgbClr val="1C1B1B"/>
                </a:solidFill>
                <a:latin typeface="Cairo"/>
                <a:cs typeface="Cairo"/>
              </a:rPr>
              <a:t>مرشد شخصي، لا مربع بحث.</a:t>
            </a:r>
            <a:endParaRPr sz="2800" b="1" i="0">
              <a:solidFill>
                <a:srgbClr val="1C1B1B"/>
              </a:solidFill>
              <a:latin typeface="Cairo"/>
              <a:cs typeface="Cairo"/>
            </a:endParaRPr>
          </a:p>
        </p:txBody>
      </p:sp>
      <p:sp>
        <p:nvSpPr>
          <p:cNvPr id="9" name="TextBox 8"/>
          <p:cNvSpPr txBox="1"/>
          <p:nvPr/>
        </p:nvSpPr>
        <p:spPr>
          <a:xfrm>
            <a:off x="6275527" y="2011680"/>
            <a:ext cx="5303520" cy="1280160"/>
          </a:xfrm>
          <a:prstGeom prst="rect">
            <a:avLst/>
          </a:prstGeom>
          <a:noFill/>
        </p:spPr>
        <p:txBody>
          <a:bodyPr wrap="square" lIns="0" tIns="0" rIns="0" bIns="0" anchor="t">
            <a:spAutoFit/>
          </a:bodyPr>
          <a:lstStyle/>
          <a:p>
            <a:pPr algn="r" rtl="1">
              <a:lnSpc>
                <a:spcPct val="150000"/>
              </a:lnSpc>
            </a:pPr>
            <a:r>
              <a:rPr sz="1300" b="0" i="0">
                <a:solidFill>
                  <a:srgbClr val="1C1B1B"/>
                </a:solidFill>
                <a:latin typeface="Cairo"/>
                <a:cs typeface="Cairo"/>
              </a:rPr>
              <a:t>يدير مخطِّط Hasio محادثة متعددة الأدوار. يسأل عن الإيقاع والرفقة والميزانية والذوق قبل أن يلتزم ببرنامج، ويجيب باللغة التي تحدثت بها.</a:t>
            </a:r>
            <a:endParaRPr sz="1300" b="0" i="0">
              <a:solidFill>
                <a:srgbClr val="1C1B1B"/>
              </a:solidFill>
              <a:latin typeface="Cairo"/>
              <a:cs typeface="Cairo"/>
            </a:endParaRPr>
          </a:p>
        </p:txBody>
      </p:sp>
      <p:sp>
        <p:nvSpPr>
          <p:cNvPr id="10" name="TextBox 9"/>
          <p:cNvSpPr txBox="1"/>
          <p:nvPr/>
        </p:nvSpPr>
        <p:spPr>
          <a:xfrm>
            <a:off x="6275527" y="3383280"/>
            <a:ext cx="5303520" cy="1463040"/>
          </a:xfrm>
          <a:prstGeom prst="rect">
            <a:avLst/>
          </a:prstGeom>
          <a:noFill/>
        </p:spPr>
        <p:txBody>
          <a:bodyPr wrap="square" lIns="0" tIns="0" rIns="0" bIns="0" anchor="t">
            <a:spAutoFit/>
          </a:bodyPr>
          <a:lstStyle/>
          <a:p>
            <a:pPr algn="r" rtl="1">
              <a:lnSpc>
                <a:spcPct val="150000"/>
              </a:lnSpc>
            </a:pPr>
            <a:r>
              <a:rPr sz="1150" b="0" i="0">
                <a:solidFill>
                  <a:srgbClr val="57635D"/>
                </a:solidFill>
                <a:latin typeface="Cairo"/>
                <a:cs typeface="Cairo"/>
              </a:rPr>
              <a:t>خلفه قاعدة معرفة منتقاة عن المنطقة، قابلة للتحرير من لوحة الإدارة، فتعكس إجابات المخطِّط ما يعرفه فريقنا لا ما يخمّنه الإنترنت. وتتحوّل الخطط إلى رحلات محطاتها إدراجات حقيقية قابلة للحجز.</a:t>
            </a:r>
            <a:endParaRPr sz="1150" b="0" i="0">
              <a:solidFill>
                <a:srgbClr val="57635D"/>
              </a:solidFill>
              <a:latin typeface="Cairo"/>
              <a:cs typeface="Cairo"/>
            </a:endParaRPr>
          </a:p>
        </p:txBody>
      </p:sp>
      <p:sp>
        <p:nvSpPr>
          <p:cNvPr id="11" name="TextBox 10"/>
          <p:cNvSpPr txBox="1"/>
          <p:nvPr/>
        </p:nvSpPr>
        <p:spPr>
          <a:xfrm>
            <a:off x="6275527" y="4937760"/>
            <a:ext cx="5303520" cy="1188720"/>
          </a:xfrm>
          <a:prstGeom prst="rect">
            <a:avLst/>
          </a:prstGeom>
          <a:noFill/>
        </p:spPr>
        <p:txBody>
          <a:bodyPr wrap="square" lIns="0" tIns="0" rIns="0" bIns="0" anchor="t">
            <a:spAutoFit/>
          </a:bodyPr>
          <a:lstStyle/>
          <a:p>
            <a:pPr algn="r" rtl="1">
              <a:lnSpc>
                <a:spcPct val="150000"/>
              </a:lnSpc>
            </a:pPr>
            <a:r>
              <a:rPr sz="1150" b="1" i="0">
                <a:solidFill>
                  <a:srgbClr val="57635D"/>
                </a:solidFill>
                <a:latin typeface="Cairo"/>
                <a:cs typeface="Cairo"/>
              </a:rPr>
              <a:t>أبشر</a:t>
            </a:r>
            <a:r>
              <a:rPr sz="1150" b="0" i="0">
                <a:solidFill>
                  <a:srgbClr val="57635D"/>
                </a:solidFill>
                <a:latin typeface="Cairo"/>
                <a:cs typeface="Cairo"/>
              </a:rPr>
              <a:t>، وكيلنا الصوتي، يعمل على الموقع اليوم ويتيح للزائر أن يطلب ما يريد بصوته. وإدماجه في التطبيق على خارطة الطريق القريبة.</a:t>
            </a:r>
            <a:endParaRPr sz="1150" b="0" i="0">
              <a:solidFill>
                <a:srgbClr val="57635D"/>
              </a:solidFill>
              <a:latin typeface="Cairo"/>
              <a:cs typeface="Cairo"/>
            </a:endParaRPr>
          </a:p>
        </p:txBody>
      </p:sp>
      <p:pic>
        <p:nvPicPr>
          <p:cNvPr id="12" name="Picture 11" descr="nature.png"/>
          <p:cNvPicPr>
            <a:picLocks noChangeAspect="1"/>
          </p:cNvPicPr>
          <p:nvPr/>
        </p:nvPicPr>
        <p:blipFill>
          <a:blip r:embed="rId1"/>
          <a:stretch>
            <a:fillRect/>
          </a:stretch>
        </p:blipFill>
        <p:spPr>
          <a:xfrm>
            <a:off x="624535" y="1097280"/>
            <a:ext cx="4983480" cy="2679192"/>
          </a:xfrm>
          <a:prstGeom prst="rect">
            <a:avLst/>
          </a:prstGeom>
        </p:spPr>
      </p:pic>
      <p:sp>
        <p:nvSpPr>
          <p:cNvPr id="13" name="Rounded Rectangle 12"/>
          <p:cNvSpPr/>
          <p:nvPr/>
        </p:nvSpPr>
        <p:spPr>
          <a:xfrm>
            <a:off x="624535" y="3931920"/>
            <a:ext cx="4983480" cy="2240280"/>
          </a:xfrm>
          <a:prstGeom prst="roundRect">
            <a:avLst>
              <a:gd name="adj" fmla="val 8000"/>
            </a:avLst>
          </a:prstGeom>
          <a:solidFill>
            <a:srgbClr val="FFFFFF"/>
          </a:solidFill>
          <a:ln w="9525">
            <a:solidFill>
              <a:srgbClr val="D9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78047" y="4069080"/>
            <a:ext cx="1828800" cy="256032"/>
          </a:xfrm>
          <a:prstGeom prst="rect">
            <a:avLst/>
          </a:prstGeom>
          <a:noFill/>
        </p:spPr>
        <p:txBody>
          <a:bodyPr wrap="square" lIns="0" tIns="0" rIns="0" bIns="0" anchor="t">
            <a:spAutoFit/>
          </a:bodyPr>
          <a:lstStyle/>
          <a:p>
            <a:pPr algn="r" rtl="1">
              <a:lnSpc>
                <a:spcPct val="115000"/>
              </a:lnSpc>
            </a:pPr>
            <a:r>
              <a:rPr sz="950" b="1" i="0">
                <a:solidFill>
                  <a:srgbClr val="57635D"/>
                </a:solidFill>
                <a:latin typeface="Cairo"/>
                <a:cs typeface="Cairo"/>
              </a:rPr>
              <a:t>نموذج خطة</a:t>
            </a:r>
            <a:endParaRPr sz="950" b="1" i="0">
              <a:solidFill>
                <a:srgbClr val="57635D"/>
              </a:solidFill>
              <a:latin typeface="Cairo"/>
              <a:cs typeface="Cairo"/>
            </a:endParaRPr>
          </a:p>
        </p:txBody>
      </p:sp>
      <p:sp>
        <p:nvSpPr>
          <p:cNvPr id="15" name="TextBox 14"/>
          <p:cNvSpPr txBox="1"/>
          <p:nvPr/>
        </p:nvSpPr>
        <p:spPr>
          <a:xfrm>
            <a:off x="834847" y="4343400"/>
            <a:ext cx="4572000" cy="502920"/>
          </a:xfrm>
          <a:prstGeom prst="rect">
            <a:avLst/>
          </a:prstGeom>
          <a:noFill/>
        </p:spPr>
        <p:txBody>
          <a:bodyPr wrap="square" lIns="0" tIns="0" rIns="0" bIns="0" anchor="t">
            <a:spAutoFit/>
          </a:bodyPr>
          <a:lstStyle/>
          <a:p>
            <a:pPr algn="r" rtl="1">
              <a:lnSpc>
                <a:spcPct val="130000"/>
              </a:lnSpc>
            </a:pPr>
            <a:r>
              <a:rPr sz="1250" b="1" i="0">
                <a:solidFill>
                  <a:srgbClr val="1C1B1B"/>
                </a:solidFill>
                <a:latin typeface="Cairo"/>
                <a:cs typeface="Cairo"/>
              </a:rPr>
              <a:t>«ثلاثة أيام هادئة بين التراث والنخيل ومائدة محلية لا تُنسى.»</a:t>
            </a:r>
            <a:endParaRPr sz="1250" b="1" i="0">
              <a:solidFill>
                <a:srgbClr val="1C1B1B"/>
              </a:solidFill>
              <a:latin typeface="Cairo"/>
              <a:cs typeface="Cairo"/>
            </a:endParaRPr>
          </a:p>
        </p:txBody>
      </p:sp>
      <p:sp>
        <p:nvSpPr>
          <p:cNvPr id="16" name="TextBox 15"/>
          <p:cNvSpPr txBox="1"/>
          <p:nvPr/>
        </p:nvSpPr>
        <p:spPr>
          <a:xfrm>
            <a:off x="4629607" y="4956048"/>
            <a:ext cx="777240" cy="292608"/>
          </a:xfrm>
          <a:prstGeom prst="rect">
            <a:avLst/>
          </a:prstGeom>
          <a:noFill/>
        </p:spPr>
        <p:txBody>
          <a:bodyPr wrap="square" lIns="0" tIns="0" rIns="0" bIns="0" anchor="t">
            <a:spAutoFit/>
          </a:bodyPr>
          <a:lstStyle/>
          <a:p>
            <a:pPr algn="r" rtl="1">
              <a:lnSpc>
                <a:spcPct val="115000"/>
              </a:lnSpc>
            </a:pPr>
            <a:r>
              <a:rPr sz="1050" b="1" i="0">
                <a:solidFill>
                  <a:srgbClr val="0D7A5F"/>
                </a:solidFill>
                <a:latin typeface="Cairo"/>
                <a:cs typeface="Cairo"/>
              </a:rPr>
              <a:t>اليوم 1</a:t>
            </a:r>
            <a:endParaRPr sz="1050" b="1" i="0">
              <a:solidFill>
                <a:srgbClr val="0D7A5F"/>
              </a:solidFill>
              <a:latin typeface="Cairo"/>
              <a:cs typeface="Cairo"/>
            </a:endParaRPr>
          </a:p>
        </p:txBody>
      </p:sp>
      <p:sp>
        <p:nvSpPr>
          <p:cNvPr id="17" name="TextBox 16"/>
          <p:cNvSpPr txBox="1"/>
          <p:nvPr/>
        </p:nvSpPr>
        <p:spPr>
          <a:xfrm>
            <a:off x="807415" y="4956048"/>
            <a:ext cx="3794760" cy="292608"/>
          </a:xfrm>
          <a:prstGeom prst="rect">
            <a:avLst/>
          </a:prstGeom>
          <a:noFill/>
        </p:spPr>
        <p:txBody>
          <a:bodyPr wrap="square" lIns="0" tIns="0" rIns="0" bIns="0" anchor="t">
            <a:spAutoFit/>
          </a:bodyPr>
          <a:lstStyle/>
          <a:p>
            <a:pPr algn="r" rtl="1">
              <a:lnSpc>
                <a:spcPct val="115000"/>
              </a:lnSpc>
            </a:pPr>
            <a:r>
              <a:rPr sz="1050" b="0" i="0">
                <a:solidFill>
                  <a:srgbClr val="1C1B1B"/>
                </a:solidFill>
                <a:latin typeface="Cairo"/>
                <a:cs typeface="Cairo"/>
              </a:rPr>
              <a:t>الهفوف القديمة: السوق والعمارة وغداء على مهل</a:t>
            </a:r>
            <a:endParaRPr sz="1050" b="0" i="0">
              <a:solidFill>
                <a:srgbClr val="1C1B1B"/>
              </a:solidFill>
              <a:latin typeface="Cairo"/>
              <a:cs typeface="Cairo"/>
            </a:endParaRPr>
          </a:p>
        </p:txBody>
      </p:sp>
      <p:cxnSp>
        <p:nvCxnSpPr>
          <p:cNvPr id="18" name="Connector 17"/>
          <p:cNvCxnSpPr/>
          <p:nvPr/>
        </p:nvCxnSpPr>
        <p:spPr>
          <a:xfrm>
            <a:off x="834847" y="5285232"/>
            <a:ext cx="4572000" cy="0"/>
          </a:xfrm>
          <a:prstGeom prst="line">
            <a:avLst/>
          </a:prstGeom>
          <a:ln w="9525">
            <a:solidFill>
              <a:srgbClr val="D9D2C6"/>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629607" y="5321808"/>
            <a:ext cx="777240" cy="292608"/>
          </a:xfrm>
          <a:prstGeom prst="rect">
            <a:avLst/>
          </a:prstGeom>
          <a:noFill/>
        </p:spPr>
        <p:txBody>
          <a:bodyPr wrap="square" lIns="0" tIns="0" rIns="0" bIns="0" anchor="t">
            <a:spAutoFit/>
          </a:bodyPr>
          <a:lstStyle/>
          <a:p>
            <a:pPr algn="r" rtl="1">
              <a:lnSpc>
                <a:spcPct val="115000"/>
              </a:lnSpc>
            </a:pPr>
            <a:r>
              <a:rPr sz="1050" b="1" i="0">
                <a:solidFill>
                  <a:srgbClr val="0D7A5F"/>
                </a:solidFill>
                <a:latin typeface="Cairo"/>
                <a:cs typeface="Cairo"/>
              </a:rPr>
              <a:t>اليوم 2</a:t>
            </a:r>
            <a:endParaRPr sz="1050" b="1" i="0">
              <a:solidFill>
                <a:srgbClr val="0D7A5F"/>
              </a:solidFill>
              <a:latin typeface="Cairo"/>
              <a:cs typeface="Cairo"/>
            </a:endParaRPr>
          </a:p>
        </p:txBody>
      </p:sp>
      <p:sp>
        <p:nvSpPr>
          <p:cNvPr id="20" name="TextBox 19"/>
          <p:cNvSpPr txBox="1"/>
          <p:nvPr/>
        </p:nvSpPr>
        <p:spPr>
          <a:xfrm>
            <a:off x="807415" y="5321808"/>
            <a:ext cx="3794760" cy="292608"/>
          </a:xfrm>
          <a:prstGeom prst="rect">
            <a:avLst/>
          </a:prstGeom>
          <a:noFill/>
        </p:spPr>
        <p:txBody>
          <a:bodyPr wrap="square" lIns="0" tIns="0" rIns="0" bIns="0" anchor="t">
            <a:spAutoFit/>
          </a:bodyPr>
          <a:lstStyle/>
          <a:p>
            <a:pPr algn="r" rtl="1">
              <a:lnSpc>
                <a:spcPct val="115000"/>
              </a:lnSpc>
            </a:pPr>
            <a:r>
              <a:rPr sz="1050" b="0" i="0">
                <a:solidFill>
                  <a:srgbClr val="1C1B1B"/>
                </a:solidFill>
                <a:latin typeface="Cairo"/>
                <a:cs typeface="Cairo"/>
              </a:rPr>
              <a:t>جبل القارة: الكهوف وعشاء في الهواء الطلق</a:t>
            </a:r>
            <a:endParaRPr sz="1050" b="0" i="0">
              <a:solidFill>
                <a:srgbClr val="1C1B1B"/>
              </a:solidFill>
              <a:latin typeface="Cairo"/>
              <a:cs typeface="Cairo"/>
            </a:endParaRPr>
          </a:p>
        </p:txBody>
      </p:sp>
      <p:cxnSp>
        <p:nvCxnSpPr>
          <p:cNvPr id="21" name="Connector 20"/>
          <p:cNvCxnSpPr/>
          <p:nvPr/>
        </p:nvCxnSpPr>
        <p:spPr>
          <a:xfrm>
            <a:off x="834847" y="5650992"/>
            <a:ext cx="4572000" cy="0"/>
          </a:xfrm>
          <a:prstGeom prst="line">
            <a:avLst/>
          </a:prstGeom>
          <a:ln w="9525">
            <a:solidFill>
              <a:srgbClr val="D9D2C6"/>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629607" y="5687568"/>
            <a:ext cx="777240" cy="292608"/>
          </a:xfrm>
          <a:prstGeom prst="rect">
            <a:avLst/>
          </a:prstGeom>
          <a:noFill/>
        </p:spPr>
        <p:txBody>
          <a:bodyPr wrap="square" lIns="0" tIns="0" rIns="0" bIns="0" anchor="t">
            <a:spAutoFit/>
          </a:bodyPr>
          <a:lstStyle/>
          <a:p>
            <a:pPr algn="r" rtl="1">
              <a:lnSpc>
                <a:spcPct val="115000"/>
              </a:lnSpc>
            </a:pPr>
            <a:r>
              <a:rPr sz="1050" b="1" i="0">
                <a:solidFill>
                  <a:srgbClr val="0D7A5F"/>
                </a:solidFill>
                <a:latin typeface="Cairo"/>
                <a:cs typeface="Cairo"/>
              </a:rPr>
              <a:t>اليوم 3</a:t>
            </a:r>
            <a:endParaRPr sz="1050" b="1" i="0">
              <a:solidFill>
                <a:srgbClr val="0D7A5F"/>
              </a:solidFill>
              <a:latin typeface="Cairo"/>
              <a:cs typeface="Cairo"/>
            </a:endParaRPr>
          </a:p>
        </p:txBody>
      </p:sp>
      <p:sp>
        <p:nvSpPr>
          <p:cNvPr id="23" name="TextBox 22"/>
          <p:cNvSpPr txBox="1"/>
          <p:nvPr/>
        </p:nvSpPr>
        <p:spPr>
          <a:xfrm>
            <a:off x="807415" y="5687568"/>
            <a:ext cx="3794760" cy="292608"/>
          </a:xfrm>
          <a:prstGeom prst="rect">
            <a:avLst/>
          </a:prstGeom>
          <a:noFill/>
        </p:spPr>
        <p:txBody>
          <a:bodyPr wrap="square" lIns="0" tIns="0" rIns="0" bIns="0" anchor="t">
            <a:spAutoFit/>
          </a:bodyPr>
          <a:lstStyle/>
          <a:p>
            <a:pPr algn="r" rtl="1">
              <a:lnSpc>
                <a:spcPct val="115000"/>
              </a:lnSpc>
            </a:pPr>
            <a:r>
              <a:rPr sz="1050" b="0" i="0">
                <a:solidFill>
                  <a:srgbClr val="1C1B1B"/>
                </a:solidFill>
                <a:latin typeface="Cairo"/>
                <a:cs typeface="Cairo"/>
              </a:rPr>
              <a:t>نصف القمر: كثبان تلامس الخليج عند الغروب</a:t>
            </a:r>
            <a:endParaRPr sz="1050" b="0" i="0">
              <a:solidFill>
                <a:srgbClr val="1C1B1B"/>
              </a:solidFill>
              <a:latin typeface="Cairo"/>
              <a:cs typeface="Cair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C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63847" y="457200"/>
            <a:ext cx="7315200" cy="292608"/>
          </a:xfrm>
          <a:prstGeom prst="rect">
            <a:avLst/>
          </a:prstGeom>
          <a:noFill/>
        </p:spPr>
        <p:txBody>
          <a:bodyPr wrap="square" lIns="0" tIns="0" rIns="0" bIns="0" anchor="t">
            <a:spAutoFit/>
          </a:bodyPr>
          <a:lstStyle/>
          <a:p>
            <a:pPr algn="r" rtl="1">
              <a:lnSpc>
                <a:spcPct val="115000"/>
              </a:lnSpc>
            </a:pPr>
            <a:r>
              <a:rPr sz="1050" b="1" i="0">
                <a:solidFill>
                  <a:srgbClr val="0D7A5F"/>
                </a:solidFill>
                <a:latin typeface="Cairo"/>
                <a:cs typeface="Cairo"/>
              </a:rPr>
              <a:t>حجم السوق</a:t>
            </a:r>
            <a:endParaRPr sz="1050" b="1" i="0">
              <a:solidFill>
                <a:srgbClr val="0D7A5F"/>
              </a:solidFill>
              <a:latin typeface="Cairo"/>
              <a:cs typeface="Cairo"/>
            </a:endParaRPr>
          </a:p>
        </p:txBody>
      </p:sp>
      <p:sp>
        <p:nvSpPr>
          <p:cNvPr id="4" name="TextBox 3"/>
          <p:cNvSpPr txBox="1"/>
          <p:nvPr/>
        </p:nvSpPr>
        <p:spPr>
          <a:xfrm>
            <a:off x="612647" y="475488"/>
            <a:ext cx="1828800" cy="274320"/>
          </a:xfrm>
          <a:prstGeom prst="rect">
            <a:avLst/>
          </a:prstGeom>
          <a:noFill/>
        </p:spPr>
        <p:txBody>
          <a:bodyPr wrap="square" lIns="0" tIns="0" rIns="0" bIns="0" anchor="t">
            <a:spAutoFit/>
          </a:bodyPr>
          <a:lstStyle/>
          <a:p>
            <a:pPr algn="l" rtl="0">
              <a:lnSpc>
                <a:spcPct val="115000"/>
              </a:lnSpc>
            </a:pPr>
            <a:r>
              <a:rPr sz="950" b="0" i="0" spc="100">
                <a:solidFill>
                  <a:srgbClr val="57635D"/>
                </a:solidFill>
                <a:latin typeface="Cairo"/>
                <a:cs typeface="Cairo"/>
              </a:rPr>
              <a:t>08 / 14</a:t>
            </a:r>
            <a:endParaRPr sz="950" b="0" i="0" spc="100">
              <a:solidFill>
                <a:srgbClr val="57635D"/>
              </a:solidFill>
              <a:latin typeface="Cairo"/>
              <a:cs typeface="Cairo"/>
            </a:endParaRPr>
          </a:p>
        </p:txBody>
      </p:sp>
      <p:cxnSp>
        <p:nvCxnSpPr>
          <p:cNvPr id="5" name="Connector 4"/>
          <p:cNvCxnSpPr/>
          <p:nvPr/>
        </p:nvCxnSpPr>
        <p:spPr>
          <a:xfrm>
            <a:off x="612647" y="822960"/>
            <a:ext cx="10966400" cy="0"/>
          </a:xfrm>
          <a:prstGeom prst="line">
            <a:avLst/>
          </a:prstGeom>
          <a:ln w="9525">
            <a:solidFill>
              <a:srgbClr val="D9D2C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921447" y="6364224"/>
            <a:ext cx="3657600" cy="256032"/>
          </a:xfrm>
          <a:prstGeom prst="rect">
            <a:avLst/>
          </a:prstGeom>
          <a:noFill/>
        </p:spPr>
        <p:txBody>
          <a:bodyPr wrap="square" lIns="0" tIns="0" rIns="0" bIns="0" anchor="t">
            <a:spAutoFit/>
          </a:bodyPr>
          <a:lstStyle/>
          <a:p>
            <a:pPr algn="r" rtl="0">
              <a:lnSpc>
                <a:spcPct val="115000"/>
              </a:lnSpc>
            </a:pPr>
            <a:r>
              <a:rPr sz="900" b="1" i="0">
                <a:solidFill>
                  <a:srgbClr val="57635D"/>
                </a:solidFill>
                <a:latin typeface="Cairo"/>
                <a:cs typeface="Cairo"/>
              </a:rPr>
              <a:t>Hasio</a:t>
            </a:r>
            <a:endParaRPr sz="900" b="1" i="0">
              <a:solidFill>
                <a:srgbClr val="57635D"/>
              </a:solidFill>
              <a:latin typeface="Cairo"/>
              <a:cs typeface="Cairo"/>
            </a:endParaRPr>
          </a:p>
        </p:txBody>
      </p:sp>
      <p:sp>
        <p:nvSpPr>
          <p:cNvPr id="7" name="TextBox 6"/>
          <p:cNvSpPr txBox="1"/>
          <p:nvPr/>
        </p:nvSpPr>
        <p:spPr>
          <a:xfrm>
            <a:off x="612647" y="6364224"/>
            <a:ext cx="3657600" cy="256032"/>
          </a:xfrm>
          <a:prstGeom prst="rect">
            <a:avLst/>
          </a:prstGeom>
          <a:noFill/>
        </p:spPr>
        <p:txBody>
          <a:bodyPr wrap="square" lIns="0" tIns="0" rIns="0" bIns="0" anchor="t">
            <a:spAutoFit/>
          </a:bodyPr>
          <a:lstStyle/>
          <a:p>
            <a:pPr algn="l" rtl="1">
              <a:lnSpc>
                <a:spcPct val="115000"/>
              </a:lnSpc>
            </a:pPr>
            <a:r>
              <a:rPr sz="900" b="0" i="0">
                <a:solidFill>
                  <a:srgbClr val="57635D"/>
                </a:solidFill>
                <a:latin typeface="Cairo"/>
                <a:cs typeface="Cairo"/>
              </a:rPr>
              <a:t>حجم السوق</a:t>
            </a:r>
            <a:endParaRPr sz="900" b="0" i="0">
              <a:solidFill>
                <a:srgbClr val="57635D"/>
              </a:solidFill>
              <a:latin typeface="Cairo"/>
              <a:cs typeface="Cairo"/>
            </a:endParaRPr>
          </a:p>
        </p:txBody>
      </p:sp>
      <p:sp>
        <p:nvSpPr>
          <p:cNvPr id="8" name="TextBox 7"/>
          <p:cNvSpPr txBox="1"/>
          <p:nvPr/>
        </p:nvSpPr>
        <p:spPr>
          <a:xfrm>
            <a:off x="6184087" y="1097280"/>
            <a:ext cx="5394960" cy="1097280"/>
          </a:xfrm>
          <a:prstGeom prst="rect">
            <a:avLst/>
          </a:prstGeom>
          <a:noFill/>
        </p:spPr>
        <p:txBody>
          <a:bodyPr wrap="square" lIns="0" tIns="0" rIns="0" bIns="0" anchor="t">
            <a:spAutoFit/>
          </a:bodyPr>
          <a:lstStyle/>
          <a:p>
            <a:pPr algn="r" rtl="1">
              <a:lnSpc>
                <a:spcPct val="120000"/>
              </a:lnSpc>
            </a:pPr>
            <a:r>
              <a:rPr sz="2600" b="1" i="0">
                <a:solidFill>
                  <a:srgbClr val="1C1B1B"/>
                </a:solidFill>
                <a:latin typeface="Cairo"/>
                <a:cs typeface="Cairo"/>
              </a:rPr>
              <a:t>سوق تبنيه الدولة، وفق جدول زمني.</a:t>
            </a:r>
            <a:endParaRPr sz="2600" b="1" i="0">
              <a:solidFill>
                <a:srgbClr val="1C1B1B"/>
              </a:solidFill>
              <a:latin typeface="Cairo"/>
              <a:cs typeface="Cairo"/>
            </a:endParaRPr>
          </a:p>
        </p:txBody>
      </p:sp>
      <p:sp>
        <p:nvSpPr>
          <p:cNvPr id="9" name="TextBox 8"/>
          <p:cNvSpPr txBox="1"/>
          <p:nvPr/>
        </p:nvSpPr>
        <p:spPr>
          <a:xfrm>
            <a:off x="6275527" y="2331720"/>
            <a:ext cx="5303520" cy="1463040"/>
          </a:xfrm>
          <a:prstGeom prst="rect">
            <a:avLst/>
          </a:prstGeom>
          <a:noFill/>
        </p:spPr>
        <p:txBody>
          <a:bodyPr wrap="square" lIns="0" tIns="0" rIns="0" bIns="0" anchor="t">
            <a:spAutoFit/>
          </a:bodyPr>
          <a:lstStyle/>
          <a:p>
            <a:pPr algn="r" rtl="1">
              <a:lnSpc>
                <a:spcPct val="150000"/>
              </a:lnSpc>
            </a:pPr>
            <a:r>
              <a:rPr sz="1200" b="0" i="0">
                <a:solidFill>
                  <a:srgbClr val="1C1B1B"/>
                </a:solidFill>
                <a:latin typeface="Cairo"/>
                <a:cs typeface="Cairo"/>
              </a:rPr>
              <a:t>السياحة السعودية ليست رهاناً على الذوق. إنها برنامج وطني بأهداف معلنة وبنية تحتية ممولة ونظام تأشيرات فُتح عام 2019. رفعت رؤية 2030 هدفها إلى 150 مليون زيارة سنوياً وإسهام السياحة بـ 10% من الناتج المحلي؛ وتجاوزت المملكة 100 مليون زيارة في 2023، قبل الموعد بسبع سنوات.</a:t>
            </a:r>
            <a:endParaRPr sz="1200" b="0" i="0">
              <a:solidFill>
                <a:srgbClr val="1C1B1B"/>
              </a:solidFill>
              <a:latin typeface="Cairo"/>
              <a:cs typeface="Cairo"/>
            </a:endParaRPr>
          </a:p>
        </p:txBody>
      </p:sp>
      <p:sp>
        <p:nvSpPr>
          <p:cNvPr id="10" name="Oval 9"/>
          <p:cNvSpPr/>
          <p:nvPr/>
        </p:nvSpPr>
        <p:spPr>
          <a:xfrm>
            <a:off x="11432743" y="3886200"/>
            <a:ext cx="146304" cy="146304"/>
          </a:xfrm>
          <a:prstGeom prst="ellipse">
            <a:avLst/>
          </a:prstGeom>
          <a:solidFill>
            <a:srgbClr val="E8D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75527" y="3794760"/>
            <a:ext cx="5029200" cy="365760"/>
          </a:xfrm>
          <a:prstGeom prst="rect">
            <a:avLst/>
          </a:prstGeom>
          <a:noFill/>
        </p:spPr>
        <p:txBody>
          <a:bodyPr wrap="square" lIns="0" tIns="0" rIns="0" bIns="0" anchor="t">
            <a:spAutoFit/>
          </a:bodyPr>
          <a:lstStyle/>
          <a:p>
            <a:pPr algn="r" rtl="0">
              <a:lnSpc>
                <a:spcPct val="115000"/>
              </a:lnSpc>
            </a:pPr>
            <a:r>
              <a:rPr sz="2200" b="0" i="0">
                <a:solidFill>
                  <a:srgbClr val="1C1B1B"/>
                </a:solidFill>
                <a:latin typeface="Cairo"/>
                <a:cs typeface="Cairo"/>
              </a:rPr>
              <a:t>~$75B</a:t>
            </a:r>
            <a:endParaRPr sz="2200" b="0" i="0">
              <a:solidFill>
                <a:srgbClr val="1C1B1B"/>
              </a:solidFill>
              <a:latin typeface="Cairo"/>
              <a:cs typeface="Cairo"/>
            </a:endParaRPr>
          </a:p>
        </p:txBody>
      </p:sp>
      <p:sp>
        <p:nvSpPr>
          <p:cNvPr id="12" name="TextBox 11"/>
          <p:cNvSpPr txBox="1"/>
          <p:nvPr/>
        </p:nvSpPr>
        <p:spPr>
          <a:xfrm>
            <a:off x="6275527" y="4197096"/>
            <a:ext cx="5029200" cy="502920"/>
          </a:xfrm>
          <a:prstGeom prst="rect">
            <a:avLst/>
          </a:prstGeom>
          <a:noFill/>
        </p:spPr>
        <p:txBody>
          <a:bodyPr wrap="square" lIns="0" tIns="0" rIns="0" bIns="0" anchor="t">
            <a:spAutoFit/>
          </a:bodyPr>
          <a:lstStyle/>
          <a:p>
            <a:pPr algn="r" rtl="1">
              <a:lnSpc>
                <a:spcPct val="130000"/>
              </a:lnSpc>
            </a:pPr>
            <a:r>
              <a:rPr sz="950" b="0" i="0">
                <a:solidFill>
                  <a:srgbClr val="57635D"/>
                </a:solidFill>
                <a:latin typeface="Cairo"/>
                <a:cs typeface="Cairo"/>
              </a:rPr>
              <a:t>السوق الكلي: إنفاق السياحة في السعودية، محلياً ووافداً (2024، وزارة السياحة، نحو 284 مليار ريال)</a:t>
            </a:r>
            <a:endParaRPr sz="950" b="0" i="0">
              <a:solidFill>
                <a:srgbClr val="57635D"/>
              </a:solidFill>
              <a:latin typeface="Cairo"/>
              <a:cs typeface="Cairo"/>
            </a:endParaRPr>
          </a:p>
        </p:txBody>
      </p:sp>
      <p:sp>
        <p:nvSpPr>
          <p:cNvPr id="13" name="Oval 12"/>
          <p:cNvSpPr/>
          <p:nvPr/>
        </p:nvSpPr>
        <p:spPr>
          <a:xfrm>
            <a:off x="11432743" y="4754880"/>
            <a:ext cx="146304" cy="146304"/>
          </a:xfrm>
          <a:prstGeom prst="ellipse">
            <a:avLst/>
          </a:prstGeom>
          <a:solidFill>
            <a:srgbClr val="DF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75527" y="4663440"/>
            <a:ext cx="5029200" cy="365760"/>
          </a:xfrm>
          <a:prstGeom prst="rect">
            <a:avLst/>
          </a:prstGeom>
          <a:noFill/>
        </p:spPr>
        <p:txBody>
          <a:bodyPr wrap="square" lIns="0" tIns="0" rIns="0" bIns="0" anchor="t">
            <a:spAutoFit/>
          </a:bodyPr>
          <a:lstStyle/>
          <a:p>
            <a:pPr algn="r" rtl="0">
              <a:lnSpc>
                <a:spcPct val="115000"/>
              </a:lnSpc>
            </a:pPr>
            <a:r>
              <a:rPr sz="2200" b="0" i="0">
                <a:solidFill>
                  <a:srgbClr val="1C1B1B"/>
                </a:solidFill>
                <a:latin typeface="Cairo"/>
                <a:cs typeface="Cairo"/>
              </a:rPr>
              <a:t>~$8 to 10B</a:t>
            </a:r>
            <a:endParaRPr sz="2200" b="0" i="0">
              <a:solidFill>
                <a:srgbClr val="1C1B1B"/>
              </a:solidFill>
              <a:latin typeface="Cairo"/>
              <a:cs typeface="Cairo"/>
            </a:endParaRPr>
          </a:p>
        </p:txBody>
      </p:sp>
      <p:sp>
        <p:nvSpPr>
          <p:cNvPr id="15" name="TextBox 14"/>
          <p:cNvSpPr txBox="1"/>
          <p:nvPr/>
        </p:nvSpPr>
        <p:spPr>
          <a:xfrm>
            <a:off x="6275527" y="5065776"/>
            <a:ext cx="5029200" cy="502920"/>
          </a:xfrm>
          <a:prstGeom prst="rect">
            <a:avLst/>
          </a:prstGeom>
          <a:noFill/>
        </p:spPr>
        <p:txBody>
          <a:bodyPr wrap="square" lIns="0" tIns="0" rIns="0" bIns="0" anchor="t">
            <a:spAutoFit/>
          </a:bodyPr>
          <a:lstStyle/>
          <a:p>
            <a:pPr algn="r" rtl="1">
              <a:lnSpc>
                <a:spcPct val="130000"/>
              </a:lnSpc>
            </a:pPr>
            <a:r>
              <a:rPr sz="950" b="0" i="0">
                <a:solidFill>
                  <a:srgbClr val="57635D"/>
                </a:solidFill>
                <a:latin typeface="Cairo"/>
                <a:cs typeface="Cairo"/>
              </a:rPr>
              <a:t>السوق المتاح: رحلات المنطقة الشرقية وإنفاقها على الإقامة والطعام والتجارب والخدمات المحلية (تقدير: نحو 12 إلى 13% من الرحلات الوطنية)</a:t>
            </a:r>
            <a:endParaRPr sz="950" b="0" i="0">
              <a:solidFill>
                <a:srgbClr val="57635D"/>
              </a:solidFill>
              <a:latin typeface="Cairo"/>
              <a:cs typeface="Cairo"/>
            </a:endParaRPr>
          </a:p>
        </p:txBody>
      </p:sp>
      <p:sp>
        <p:nvSpPr>
          <p:cNvPr id="16" name="Oval 15"/>
          <p:cNvSpPr/>
          <p:nvPr/>
        </p:nvSpPr>
        <p:spPr>
          <a:xfrm>
            <a:off x="11432743" y="5623560"/>
            <a:ext cx="146304" cy="146304"/>
          </a:xfrm>
          <a:prstGeom prst="ellipse">
            <a:avLst/>
          </a:prstGeom>
          <a:solidFill>
            <a:srgbClr val="0D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75527" y="5532120"/>
            <a:ext cx="5029200" cy="365760"/>
          </a:xfrm>
          <a:prstGeom prst="rect">
            <a:avLst/>
          </a:prstGeom>
          <a:noFill/>
        </p:spPr>
        <p:txBody>
          <a:bodyPr wrap="square" lIns="0" tIns="0" rIns="0" bIns="0" anchor="t">
            <a:spAutoFit/>
          </a:bodyPr>
          <a:lstStyle/>
          <a:p>
            <a:pPr algn="r" rtl="0">
              <a:lnSpc>
                <a:spcPct val="115000"/>
              </a:lnSpc>
            </a:pPr>
            <a:r>
              <a:rPr sz="2200" b="0" i="0">
                <a:solidFill>
                  <a:srgbClr val="1C1B1B"/>
                </a:solidFill>
                <a:latin typeface="Cairo"/>
                <a:cs typeface="Cairo"/>
              </a:rPr>
              <a:t>~$75M</a:t>
            </a:r>
            <a:endParaRPr sz="2200" b="0" i="0">
              <a:solidFill>
                <a:srgbClr val="1C1B1B"/>
              </a:solidFill>
              <a:latin typeface="Cairo"/>
              <a:cs typeface="Cairo"/>
            </a:endParaRPr>
          </a:p>
        </p:txBody>
      </p:sp>
      <p:sp>
        <p:nvSpPr>
          <p:cNvPr id="18" name="TextBox 17"/>
          <p:cNvSpPr txBox="1"/>
          <p:nvPr/>
        </p:nvSpPr>
        <p:spPr>
          <a:xfrm>
            <a:off x="6275527" y="5934456"/>
            <a:ext cx="5029200" cy="502920"/>
          </a:xfrm>
          <a:prstGeom prst="rect">
            <a:avLst/>
          </a:prstGeom>
          <a:noFill/>
        </p:spPr>
        <p:txBody>
          <a:bodyPr wrap="square" lIns="0" tIns="0" rIns="0" bIns="0" anchor="t">
            <a:spAutoFit/>
          </a:bodyPr>
          <a:lstStyle/>
          <a:p>
            <a:pPr algn="r" rtl="1">
              <a:lnSpc>
                <a:spcPct val="130000"/>
              </a:lnSpc>
            </a:pPr>
            <a:r>
              <a:rPr sz="950" b="0" i="0">
                <a:solidFill>
                  <a:srgbClr val="57635D"/>
                </a:solidFill>
                <a:latin typeface="Cairo"/>
                <a:cs typeface="Cairo"/>
              </a:rPr>
              <a:t>السوق المستهدف: إيراد العمولات خلال خمس سنوات، بافتراض حصة 4% من الإنفاق القابل للحجز في المنطقة بعمولة 10% مع الاشتراكات</a:t>
            </a:r>
            <a:endParaRPr sz="950" b="0" i="0">
              <a:solidFill>
                <a:srgbClr val="57635D"/>
              </a:solidFill>
              <a:latin typeface="Cairo"/>
              <a:cs typeface="Cairo"/>
            </a:endParaRPr>
          </a:p>
        </p:txBody>
      </p:sp>
      <p:sp>
        <p:nvSpPr>
          <p:cNvPr id="19" name="Oval 18"/>
          <p:cNvSpPr/>
          <p:nvPr/>
        </p:nvSpPr>
        <p:spPr>
          <a:xfrm>
            <a:off x="1264615" y="1097280"/>
            <a:ext cx="3749039" cy="3749039"/>
          </a:xfrm>
          <a:prstGeom prst="ellipse">
            <a:avLst/>
          </a:prstGeom>
          <a:solidFill>
            <a:srgbClr val="E8D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10335" y="1325880"/>
            <a:ext cx="3657600" cy="292608"/>
          </a:xfrm>
          <a:prstGeom prst="rect">
            <a:avLst/>
          </a:prstGeom>
          <a:noFill/>
        </p:spPr>
        <p:txBody>
          <a:bodyPr wrap="square" lIns="0" tIns="0" rIns="0" bIns="0" anchor="t">
            <a:spAutoFit/>
          </a:bodyPr>
          <a:lstStyle/>
          <a:p>
            <a:pPr algn="ctr" rtl="1">
              <a:lnSpc>
                <a:spcPct val="115000"/>
              </a:lnSpc>
            </a:pPr>
            <a:r>
              <a:rPr sz="950" b="1" i="0">
                <a:solidFill>
                  <a:srgbClr val="57635D"/>
                </a:solidFill>
                <a:latin typeface="Cairo"/>
                <a:cs typeface="Cairo"/>
              </a:rPr>
              <a:t>السوق الكلي · السياحة السعودية</a:t>
            </a:r>
            <a:endParaRPr sz="950" b="1" i="0">
              <a:solidFill>
                <a:srgbClr val="57635D"/>
              </a:solidFill>
              <a:latin typeface="Cairo"/>
              <a:cs typeface="Cairo"/>
            </a:endParaRPr>
          </a:p>
        </p:txBody>
      </p:sp>
      <p:sp>
        <p:nvSpPr>
          <p:cNvPr id="21" name="Oval 20"/>
          <p:cNvSpPr/>
          <p:nvPr/>
        </p:nvSpPr>
        <p:spPr>
          <a:xfrm>
            <a:off x="1904695" y="2377439"/>
            <a:ext cx="2468880" cy="2468880"/>
          </a:xfrm>
          <a:prstGeom prst="ellipse">
            <a:avLst/>
          </a:prstGeom>
          <a:solidFill>
            <a:srgbClr val="DF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10335" y="2743200"/>
            <a:ext cx="3657600" cy="292608"/>
          </a:xfrm>
          <a:prstGeom prst="rect">
            <a:avLst/>
          </a:prstGeom>
          <a:noFill/>
        </p:spPr>
        <p:txBody>
          <a:bodyPr wrap="square" lIns="0" tIns="0" rIns="0" bIns="0" anchor="t">
            <a:spAutoFit/>
          </a:bodyPr>
          <a:lstStyle/>
          <a:p>
            <a:pPr algn="ctr" rtl="1">
              <a:lnSpc>
                <a:spcPct val="115000"/>
              </a:lnSpc>
            </a:pPr>
            <a:r>
              <a:rPr sz="950" b="1" i="0">
                <a:solidFill>
                  <a:srgbClr val="57635D"/>
                </a:solidFill>
                <a:latin typeface="Cairo"/>
                <a:cs typeface="Cairo"/>
              </a:rPr>
              <a:t>السوق المتاح · المنطقة الشرقية</a:t>
            </a:r>
            <a:endParaRPr sz="950" b="1" i="0">
              <a:solidFill>
                <a:srgbClr val="57635D"/>
              </a:solidFill>
              <a:latin typeface="Cairo"/>
              <a:cs typeface="Cairo"/>
            </a:endParaRPr>
          </a:p>
        </p:txBody>
      </p:sp>
      <p:sp>
        <p:nvSpPr>
          <p:cNvPr id="23" name="Oval 22"/>
          <p:cNvSpPr/>
          <p:nvPr/>
        </p:nvSpPr>
        <p:spPr>
          <a:xfrm>
            <a:off x="2608783" y="3785615"/>
            <a:ext cx="1060704" cy="1060704"/>
          </a:xfrm>
          <a:prstGeom prst="ellipse">
            <a:avLst/>
          </a:prstGeom>
          <a:solidFill>
            <a:srgbClr val="0D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10335" y="4617720"/>
            <a:ext cx="3657600" cy="292608"/>
          </a:xfrm>
          <a:prstGeom prst="rect">
            <a:avLst/>
          </a:prstGeom>
          <a:noFill/>
        </p:spPr>
        <p:txBody>
          <a:bodyPr wrap="square" lIns="0" tIns="0" rIns="0" bIns="0" anchor="t">
            <a:spAutoFit/>
          </a:bodyPr>
          <a:lstStyle/>
          <a:p>
            <a:pPr algn="ctr" rtl="1">
              <a:lnSpc>
                <a:spcPct val="115000"/>
              </a:lnSpc>
            </a:pPr>
            <a:r>
              <a:rPr sz="950" b="1" i="0">
                <a:solidFill>
                  <a:srgbClr val="F4F1EA"/>
                </a:solidFill>
                <a:latin typeface="Cairo"/>
                <a:cs typeface="Cairo"/>
              </a:rPr>
              <a:t>المستهدف</a:t>
            </a:r>
            <a:endParaRPr sz="950" b="1" i="0">
              <a:solidFill>
                <a:srgbClr val="F4F1EA"/>
              </a:solidFill>
              <a:latin typeface="Cairo"/>
              <a:cs typeface="Cairo"/>
            </a:endParaRPr>
          </a:p>
        </p:txBody>
      </p:sp>
      <p:sp>
        <p:nvSpPr>
          <p:cNvPr id="25" name="Rectangle 24"/>
          <p:cNvSpPr/>
          <p:nvPr/>
        </p:nvSpPr>
        <p:spPr>
          <a:xfrm>
            <a:off x="5493715" y="5257800"/>
            <a:ext cx="22860" cy="548640"/>
          </a:xfrm>
          <a:prstGeom prst="rect">
            <a:avLst/>
          </a:prstGeom>
          <a:solidFill>
            <a:srgbClr val="A88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4535" y="5257800"/>
            <a:ext cx="4754879" cy="731520"/>
          </a:xfrm>
          <a:prstGeom prst="rect">
            <a:avLst/>
          </a:prstGeom>
          <a:noFill/>
        </p:spPr>
        <p:txBody>
          <a:bodyPr wrap="square" lIns="0" tIns="0" rIns="0" bIns="0" anchor="t">
            <a:spAutoFit/>
          </a:bodyPr>
          <a:lstStyle/>
          <a:p>
            <a:pPr algn="r" rtl="1">
              <a:lnSpc>
                <a:spcPct val="135000"/>
              </a:lnSpc>
            </a:pPr>
            <a:r>
              <a:rPr sz="1000" b="0" i="0">
                <a:solidFill>
                  <a:srgbClr val="57635D"/>
                </a:solidFill>
                <a:latin typeface="Cairo"/>
                <a:cs typeface="Cairo"/>
              </a:rPr>
              <a:t>الأرقام استرشادية. الإجماليات الوطنية من تقارير وزارة السياحة لعام 2024، أما حصة المنطقة وافتراضات العمولة فتقديرات داخلية مبنية على بيانات الهيئة السعودية للسياحة.</a:t>
            </a:r>
            <a:endParaRPr sz="1000" b="0" i="0">
              <a:solidFill>
                <a:srgbClr val="57635D"/>
              </a:solidFill>
              <a:latin typeface="Cairo"/>
              <a:cs typeface="Cair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065F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63847" y="457200"/>
            <a:ext cx="7315200" cy="292608"/>
          </a:xfrm>
          <a:prstGeom prst="rect">
            <a:avLst/>
          </a:prstGeom>
          <a:noFill/>
        </p:spPr>
        <p:txBody>
          <a:bodyPr wrap="square" lIns="0" tIns="0" rIns="0" bIns="0" anchor="t">
            <a:spAutoFit/>
          </a:bodyPr>
          <a:lstStyle/>
          <a:p>
            <a:pPr algn="r" rtl="1">
              <a:lnSpc>
                <a:spcPct val="115000"/>
              </a:lnSpc>
            </a:pPr>
            <a:r>
              <a:rPr sz="1050" b="1" i="0">
                <a:solidFill>
                  <a:srgbClr val="8FDCC0"/>
                </a:solidFill>
                <a:latin typeface="Cairo"/>
                <a:cs typeface="Cairo"/>
              </a:rPr>
              <a:t>لماذا الآن</a:t>
            </a:r>
            <a:endParaRPr sz="1050" b="1" i="0">
              <a:solidFill>
                <a:srgbClr val="8FDCC0"/>
              </a:solidFill>
              <a:latin typeface="Cairo"/>
              <a:cs typeface="Cairo"/>
            </a:endParaRPr>
          </a:p>
        </p:txBody>
      </p:sp>
      <p:sp>
        <p:nvSpPr>
          <p:cNvPr id="4" name="TextBox 3"/>
          <p:cNvSpPr txBox="1"/>
          <p:nvPr/>
        </p:nvSpPr>
        <p:spPr>
          <a:xfrm>
            <a:off x="612647" y="475488"/>
            <a:ext cx="1828800" cy="274320"/>
          </a:xfrm>
          <a:prstGeom prst="rect">
            <a:avLst/>
          </a:prstGeom>
          <a:noFill/>
        </p:spPr>
        <p:txBody>
          <a:bodyPr wrap="square" lIns="0" tIns="0" rIns="0" bIns="0" anchor="t">
            <a:spAutoFit/>
          </a:bodyPr>
          <a:lstStyle/>
          <a:p>
            <a:pPr algn="l" rtl="0">
              <a:lnSpc>
                <a:spcPct val="115000"/>
              </a:lnSpc>
            </a:pPr>
            <a:r>
              <a:rPr sz="950" b="0" i="0" spc="100">
                <a:solidFill>
                  <a:srgbClr val="CFE0D7"/>
                </a:solidFill>
                <a:latin typeface="Cairo"/>
                <a:cs typeface="Cairo"/>
              </a:rPr>
              <a:t>09 / 14</a:t>
            </a:r>
            <a:endParaRPr sz="950" b="0" i="0" spc="100">
              <a:solidFill>
                <a:srgbClr val="CFE0D7"/>
              </a:solidFill>
              <a:latin typeface="Cairo"/>
              <a:cs typeface="Cairo"/>
            </a:endParaRPr>
          </a:p>
        </p:txBody>
      </p:sp>
      <p:cxnSp>
        <p:nvCxnSpPr>
          <p:cNvPr id="5" name="Connector 4"/>
          <p:cNvCxnSpPr/>
          <p:nvPr/>
        </p:nvCxnSpPr>
        <p:spPr>
          <a:xfrm>
            <a:off x="612647" y="822960"/>
            <a:ext cx="10966400" cy="0"/>
          </a:xfrm>
          <a:prstGeom prst="line">
            <a:avLst/>
          </a:prstGeom>
          <a:ln w="9525">
            <a:solidFill>
              <a:srgbClr val="3E7A6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921447" y="6364224"/>
            <a:ext cx="3657600" cy="256032"/>
          </a:xfrm>
          <a:prstGeom prst="rect">
            <a:avLst/>
          </a:prstGeom>
          <a:noFill/>
        </p:spPr>
        <p:txBody>
          <a:bodyPr wrap="square" lIns="0" tIns="0" rIns="0" bIns="0" anchor="t">
            <a:spAutoFit/>
          </a:bodyPr>
          <a:lstStyle/>
          <a:p>
            <a:pPr algn="r" rtl="0">
              <a:lnSpc>
                <a:spcPct val="115000"/>
              </a:lnSpc>
            </a:pPr>
            <a:r>
              <a:rPr sz="900" b="1" i="0">
                <a:solidFill>
                  <a:srgbClr val="CFE0D7"/>
                </a:solidFill>
                <a:latin typeface="Cairo"/>
                <a:cs typeface="Cairo"/>
              </a:rPr>
              <a:t>Hasio</a:t>
            </a:r>
            <a:endParaRPr sz="900" b="1" i="0">
              <a:solidFill>
                <a:srgbClr val="CFE0D7"/>
              </a:solidFill>
              <a:latin typeface="Cairo"/>
              <a:cs typeface="Cairo"/>
            </a:endParaRPr>
          </a:p>
        </p:txBody>
      </p:sp>
      <p:sp>
        <p:nvSpPr>
          <p:cNvPr id="7" name="TextBox 6"/>
          <p:cNvSpPr txBox="1"/>
          <p:nvPr/>
        </p:nvSpPr>
        <p:spPr>
          <a:xfrm>
            <a:off x="612647" y="6364224"/>
            <a:ext cx="3657600" cy="256032"/>
          </a:xfrm>
          <a:prstGeom prst="rect">
            <a:avLst/>
          </a:prstGeom>
          <a:noFill/>
        </p:spPr>
        <p:txBody>
          <a:bodyPr wrap="square" lIns="0" tIns="0" rIns="0" bIns="0" anchor="t">
            <a:spAutoFit/>
          </a:bodyPr>
          <a:lstStyle/>
          <a:p>
            <a:pPr algn="l" rtl="1">
              <a:lnSpc>
                <a:spcPct val="115000"/>
              </a:lnSpc>
            </a:pPr>
            <a:r>
              <a:rPr sz="900" b="0" i="0">
                <a:solidFill>
                  <a:srgbClr val="CFE0D7"/>
                </a:solidFill>
                <a:latin typeface="Cairo"/>
                <a:cs typeface="Cairo"/>
              </a:rPr>
              <a:t>لماذا الآن</a:t>
            </a:r>
            <a:endParaRPr sz="900" b="0" i="0">
              <a:solidFill>
                <a:srgbClr val="CFE0D7"/>
              </a:solidFill>
              <a:latin typeface="Cairo"/>
              <a:cs typeface="Cairo"/>
            </a:endParaRPr>
          </a:p>
        </p:txBody>
      </p:sp>
      <p:sp>
        <p:nvSpPr>
          <p:cNvPr id="8" name="TextBox 7"/>
          <p:cNvSpPr txBox="1"/>
          <p:nvPr/>
        </p:nvSpPr>
        <p:spPr>
          <a:xfrm>
            <a:off x="1977847" y="1143000"/>
            <a:ext cx="9601200" cy="1371600"/>
          </a:xfrm>
          <a:prstGeom prst="rect">
            <a:avLst/>
          </a:prstGeom>
          <a:noFill/>
        </p:spPr>
        <p:txBody>
          <a:bodyPr wrap="square" lIns="0" tIns="0" rIns="0" bIns="0" anchor="t">
            <a:spAutoFit/>
          </a:bodyPr>
          <a:lstStyle/>
          <a:p>
            <a:pPr algn="r" rtl="1">
              <a:lnSpc>
                <a:spcPct val="130000"/>
              </a:lnSpc>
            </a:pPr>
            <a:r>
              <a:rPr sz="2400" b="1" i="0">
                <a:solidFill>
                  <a:srgbClr val="F4F1EA"/>
                </a:solidFill>
                <a:latin typeface="Cairo"/>
                <a:cs typeface="Cairo"/>
              </a:rPr>
              <a:t>ثلاثة منحنيات تتقاطع في آن واحد، وتتقاطع أولاً في المنطقة الشرقية.</a:t>
            </a:r>
            <a:endParaRPr sz="2400" b="1" i="0">
              <a:solidFill>
                <a:srgbClr val="F4F1EA"/>
              </a:solidFill>
              <a:latin typeface="Cairo"/>
              <a:cs typeface="Cairo"/>
            </a:endParaRPr>
          </a:p>
        </p:txBody>
      </p:sp>
      <p:cxnSp>
        <p:nvCxnSpPr>
          <p:cNvPr id="9" name="Connector 8"/>
          <p:cNvCxnSpPr/>
          <p:nvPr/>
        </p:nvCxnSpPr>
        <p:spPr>
          <a:xfrm>
            <a:off x="8106460" y="2743200"/>
            <a:ext cx="3472587" cy="0"/>
          </a:xfrm>
          <a:prstGeom prst="line">
            <a:avLst/>
          </a:prstGeom>
          <a:ln w="19050">
            <a:solidFill>
              <a:srgbClr val="8FDCC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106460" y="2852928"/>
            <a:ext cx="3472586" cy="384048"/>
          </a:xfrm>
          <a:prstGeom prst="rect">
            <a:avLst/>
          </a:prstGeom>
          <a:noFill/>
        </p:spPr>
        <p:txBody>
          <a:bodyPr wrap="square" lIns="0" tIns="0" rIns="0" bIns="0" anchor="t">
            <a:spAutoFit/>
          </a:bodyPr>
          <a:lstStyle/>
          <a:p>
            <a:pPr algn="r" rtl="1">
              <a:lnSpc>
                <a:spcPct val="110000"/>
              </a:lnSpc>
            </a:pPr>
            <a:r>
              <a:rPr sz="1700" b="1" i="0">
                <a:solidFill>
                  <a:srgbClr val="F4F1EA"/>
                </a:solidFill>
                <a:latin typeface="Cairo"/>
                <a:cs typeface="Cairo"/>
              </a:rPr>
              <a:t>الطلب يُصنع</a:t>
            </a:r>
            <a:endParaRPr sz="1700" b="1" i="0">
              <a:solidFill>
                <a:srgbClr val="F4F1EA"/>
              </a:solidFill>
              <a:latin typeface="Cairo"/>
              <a:cs typeface="Cairo"/>
            </a:endParaRPr>
          </a:p>
        </p:txBody>
      </p:sp>
      <p:sp>
        <p:nvSpPr>
          <p:cNvPr id="11" name="TextBox 10"/>
          <p:cNvSpPr txBox="1"/>
          <p:nvPr/>
        </p:nvSpPr>
        <p:spPr>
          <a:xfrm>
            <a:off x="8106460" y="3236976"/>
            <a:ext cx="3472586" cy="914400"/>
          </a:xfrm>
          <a:prstGeom prst="rect">
            <a:avLst/>
          </a:prstGeom>
          <a:noFill/>
        </p:spPr>
        <p:txBody>
          <a:bodyPr wrap="square" lIns="0" tIns="0" rIns="0" bIns="0" anchor="t">
            <a:spAutoFit/>
          </a:bodyPr>
          <a:lstStyle/>
          <a:p>
            <a:pPr algn="r" rtl="1">
              <a:lnSpc>
                <a:spcPct val="130000"/>
              </a:lnSpc>
            </a:pPr>
            <a:r>
              <a:rPr sz="1150" b="0" i="0">
                <a:solidFill>
                  <a:srgbClr val="CFE0D7"/>
                </a:solidFill>
                <a:latin typeface="Cairo"/>
                <a:cs typeface="Cairo"/>
              </a:rPr>
              <a:t>إكسبو 2030 في الرياض، وكأس العالم 2034، وموسم الرياض، وروزنامة الفورمولا 1 تجلب عشرات الملايين من الزوار الجدد. والمنطقة الشرقية بوابة رحلات الخليج البرية: البحرين عبر الجسر، والكويت وقطر على بعد ساعات.</a:t>
            </a:r>
            <a:endParaRPr sz="1150" b="0" i="0">
              <a:solidFill>
                <a:srgbClr val="CFE0D7"/>
              </a:solidFill>
              <a:latin typeface="Cairo"/>
              <a:cs typeface="Cairo"/>
            </a:endParaRPr>
          </a:p>
        </p:txBody>
      </p:sp>
      <p:cxnSp>
        <p:nvCxnSpPr>
          <p:cNvPr id="12" name="Connector 11"/>
          <p:cNvCxnSpPr/>
          <p:nvPr/>
        </p:nvCxnSpPr>
        <p:spPr>
          <a:xfrm>
            <a:off x="4359554" y="2743200"/>
            <a:ext cx="3472586" cy="0"/>
          </a:xfrm>
          <a:prstGeom prst="line">
            <a:avLst/>
          </a:prstGeom>
          <a:ln w="19050">
            <a:solidFill>
              <a:srgbClr val="8FDCC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359554" y="2852928"/>
            <a:ext cx="3472586" cy="384048"/>
          </a:xfrm>
          <a:prstGeom prst="rect">
            <a:avLst/>
          </a:prstGeom>
          <a:noFill/>
        </p:spPr>
        <p:txBody>
          <a:bodyPr wrap="square" lIns="0" tIns="0" rIns="0" bIns="0" anchor="t">
            <a:spAutoFit/>
          </a:bodyPr>
          <a:lstStyle/>
          <a:p>
            <a:pPr algn="r" rtl="1">
              <a:lnSpc>
                <a:spcPct val="110000"/>
              </a:lnSpc>
            </a:pPr>
            <a:r>
              <a:rPr sz="1700" b="1" i="0">
                <a:solidFill>
                  <a:srgbClr val="F4F1EA"/>
                </a:solidFill>
                <a:latin typeface="Cairo"/>
                <a:cs typeface="Cairo"/>
              </a:rPr>
              <a:t>العرض غير مدرج</a:t>
            </a:r>
            <a:endParaRPr sz="1700" b="1" i="0">
              <a:solidFill>
                <a:srgbClr val="F4F1EA"/>
              </a:solidFill>
              <a:latin typeface="Cairo"/>
              <a:cs typeface="Cairo"/>
            </a:endParaRPr>
          </a:p>
        </p:txBody>
      </p:sp>
      <p:sp>
        <p:nvSpPr>
          <p:cNvPr id="14" name="TextBox 13"/>
          <p:cNvSpPr txBox="1"/>
          <p:nvPr/>
        </p:nvSpPr>
        <p:spPr>
          <a:xfrm>
            <a:off x="4359554" y="3236976"/>
            <a:ext cx="3472586" cy="914400"/>
          </a:xfrm>
          <a:prstGeom prst="rect">
            <a:avLst/>
          </a:prstGeom>
          <a:noFill/>
        </p:spPr>
        <p:txBody>
          <a:bodyPr wrap="square" lIns="0" tIns="0" rIns="0" bIns="0" anchor="t">
            <a:spAutoFit/>
          </a:bodyPr>
          <a:lstStyle/>
          <a:p>
            <a:pPr algn="r" rtl="1">
              <a:lnSpc>
                <a:spcPct val="130000"/>
              </a:lnSpc>
            </a:pPr>
            <a:r>
              <a:rPr sz="1150" b="0" i="0">
                <a:solidFill>
                  <a:srgbClr val="CFE0D7"/>
                </a:solidFill>
                <a:latin typeface="Cairo"/>
                <a:cs typeface="Cairo"/>
              </a:rPr>
              <a:t>يهيمن على اقتصاد الضيافة والتجارب في المنطقة مشغّلون صغار بلا حضور رقمي. سُمّيت الأحساء مدينة إبداعية لليونسكو في فن الطهي وموقع تراث عالمي، ولا يزال بلا دليل ثنائي اللغة معتمد.</a:t>
            </a:r>
            <a:endParaRPr sz="1150" b="0" i="0">
              <a:solidFill>
                <a:srgbClr val="CFE0D7"/>
              </a:solidFill>
              <a:latin typeface="Cairo"/>
              <a:cs typeface="Cairo"/>
            </a:endParaRPr>
          </a:p>
        </p:txBody>
      </p:sp>
      <p:cxnSp>
        <p:nvCxnSpPr>
          <p:cNvPr id="15" name="Connector 14"/>
          <p:cNvCxnSpPr/>
          <p:nvPr/>
        </p:nvCxnSpPr>
        <p:spPr>
          <a:xfrm>
            <a:off x="612647" y="2743200"/>
            <a:ext cx="3472587" cy="0"/>
          </a:xfrm>
          <a:prstGeom prst="line">
            <a:avLst/>
          </a:prstGeom>
          <a:ln w="19050">
            <a:solidFill>
              <a:srgbClr val="8FDCC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2647" y="2852928"/>
            <a:ext cx="3472586" cy="384048"/>
          </a:xfrm>
          <a:prstGeom prst="rect">
            <a:avLst/>
          </a:prstGeom>
          <a:noFill/>
        </p:spPr>
        <p:txBody>
          <a:bodyPr wrap="square" lIns="0" tIns="0" rIns="0" bIns="0" anchor="t">
            <a:spAutoFit/>
          </a:bodyPr>
          <a:lstStyle/>
          <a:p>
            <a:pPr algn="r" rtl="1">
              <a:lnSpc>
                <a:spcPct val="110000"/>
              </a:lnSpc>
            </a:pPr>
            <a:r>
              <a:rPr sz="1700" b="1" i="0">
                <a:solidFill>
                  <a:srgbClr val="F4F1EA"/>
                </a:solidFill>
                <a:latin typeface="Cairo"/>
                <a:cs typeface="Cairo"/>
              </a:rPr>
              <a:t>الذكاء الاصطناعي غيّر كلفة الانتقاء</a:t>
            </a:r>
            <a:endParaRPr sz="1700" b="1" i="0">
              <a:solidFill>
                <a:srgbClr val="F4F1EA"/>
              </a:solidFill>
              <a:latin typeface="Cairo"/>
              <a:cs typeface="Cairo"/>
            </a:endParaRPr>
          </a:p>
        </p:txBody>
      </p:sp>
      <p:sp>
        <p:nvSpPr>
          <p:cNvPr id="17" name="TextBox 16"/>
          <p:cNvSpPr txBox="1"/>
          <p:nvPr/>
        </p:nvSpPr>
        <p:spPr>
          <a:xfrm>
            <a:off x="612647" y="3236976"/>
            <a:ext cx="3472586" cy="914400"/>
          </a:xfrm>
          <a:prstGeom prst="rect">
            <a:avLst/>
          </a:prstGeom>
          <a:noFill/>
        </p:spPr>
        <p:txBody>
          <a:bodyPr wrap="square" lIns="0" tIns="0" rIns="0" bIns="0" anchor="t">
            <a:spAutoFit/>
          </a:bodyPr>
          <a:lstStyle/>
          <a:p>
            <a:pPr algn="r" rtl="1">
              <a:lnSpc>
                <a:spcPct val="130000"/>
              </a:lnSpc>
            </a:pPr>
            <a:r>
              <a:rPr sz="1150" b="0" i="0">
                <a:solidFill>
                  <a:srgbClr val="CFE0D7"/>
                </a:solidFill>
                <a:latin typeface="Cairo"/>
                <a:cs typeface="Cairo"/>
              </a:rPr>
              <a:t>التخطيط الحواري وإنتاج المحتوى ثنائي اللغة يكلّفان سنتات لكل مستخدم. فريق من ثلاثة أشخاص يشغّل اليوم ما احتاج مئة محرّر قبل خمس سنوات. وأجهزة التقاط الواقع المعزّز صارت بأسعار المستهلك.</a:t>
            </a:r>
            <a:endParaRPr sz="1150" b="0" i="0">
              <a:solidFill>
                <a:srgbClr val="CFE0D7"/>
              </a:solidFill>
              <a:latin typeface="Cairo"/>
              <a:cs typeface="Cair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C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63847" y="457200"/>
            <a:ext cx="7315200" cy="292608"/>
          </a:xfrm>
          <a:prstGeom prst="rect">
            <a:avLst/>
          </a:prstGeom>
          <a:noFill/>
        </p:spPr>
        <p:txBody>
          <a:bodyPr wrap="square" lIns="0" tIns="0" rIns="0" bIns="0" anchor="t">
            <a:spAutoFit/>
          </a:bodyPr>
          <a:lstStyle/>
          <a:p>
            <a:pPr algn="r" rtl="1">
              <a:lnSpc>
                <a:spcPct val="115000"/>
              </a:lnSpc>
            </a:pPr>
            <a:r>
              <a:rPr sz="1050" b="1" i="0">
                <a:solidFill>
                  <a:srgbClr val="0D7A5F"/>
                </a:solidFill>
                <a:latin typeface="Cairo"/>
                <a:cs typeface="Cairo"/>
              </a:rPr>
              <a:t>نموذج العمل</a:t>
            </a:r>
            <a:endParaRPr sz="1050" b="1" i="0">
              <a:solidFill>
                <a:srgbClr val="0D7A5F"/>
              </a:solidFill>
              <a:latin typeface="Cairo"/>
              <a:cs typeface="Cairo"/>
            </a:endParaRPr>
          </a:p>
        </p:txBody>
      </p:sp>
      <p:sp>
        <p:nvSpPr>
          <p:cNvPr id="4" name="TextBox 3"/>
          <p:cNvSpPr txBox="1"/>
          <p:nvPr/>
        </p:nvSpPr>
        <p:spPr>
          <a:xfrm>
            <a:off x="612647" y="475488"/>
            <a:ext cx="1828800" cy="274320"/>
          </a:xfrm>
          <a:prstGeom prst="rect">
            <a:avLst/>
          </a:prstGeom>
          <a:noFill/>
        </p:spPr>
        <p:txBody>
          <a:bodyPr wrap="square" lIns="0" tIns="0" rIns="0" bIns="0" anchor="t">
            <a:spAutoFit/>
          </a:bodyPr>
          <a:lstStyle/>
          <a:p>
            <a:pPr algn="l" rtl="0">
              <a:lnSpc>
                <a:spcPct val="115000"/>
              </a:lnSpc>
            </a:pPr>
            <a:r>
              <a:rPr sz="950" b="0" i="0" spc="100">
                <a:solidFill>
                  <a:srgbClr val="57635D"/>
                </a:solidFill>
                <a:latin typeface="Cairo"/>
                <a:cs typeface="Cairo"/>
              </a:rPr>
              <a:t>10 / 14</a:t>
            </a:r>
            <a:endParaRPr sz="950" b="0" i="0" spc="100">
              <a:solidFill>
                <a:srgbClr val="57635D"/>
              </a:solidFill>
              <a:latin typeface="Cairo"/>
              <a:cs typeface="Cairo"/>
            </a:endParaRPr>
          </a:p>
        </p:txBody>
      </p:sp>
      <p:cxnSp>
        <p:nvCxnSpPr>
          <p:cNvPr id="5" name="Connector 4"/>
          <p:cNvCxnSpPr/>
          <p:nvPr/>
        </p:nvCxnSpPr>
        <p:spPr>
          <a:xfrm>
            <a:off x="612647" y="822960"/>
            <a:ext cx="10966400" cy="0"/>
          </a:xfrm>
          <a:prstGeom prst="line">
            <a:avLst/>
          </a:prstGeom>
          <a:ln w="9525">
            <a:solidFill>
              <a:srgbClr val="D9D2C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921447" y="6364224"/>
            <a:ext cx="3657600" cy="256032"/>
          </a:xfrm>
          <a:prstGeom prst="rect">
            <a:avLst/>
          </a:prstGeom>
          <a:noFill/>
        </p:spPr>
        <p:txBody>
          <a:bodyPr wrap="square" lIns="0" tIns="0" rIns="0" bIns="0" anchor="t">
            <a:spAutoFit/>
          </a:bodyPr>
          <a:lstStyle/>
          <a:p>
            <a:pPr algn="r" rtl="0">
              <a:lnSpc>
                <a:spcPct val="115000"/>
              </a:lnSpc>
            </a:pPr>
            <a:r>
              <a:rPr sz="900" b="1" i="0">
                <a:solidFill>
                  <a:srgbClr val="57635D"/>
                </a:solidFill>
                <a:latin typeface="Cairo"/>
                <a:cs typeface="Cairo"/>
              </a:rPr>
              <a:t>Hasio</a:t>
            </a:r>
            <a:endParaRPr sz="900" b="1" i="0">
              <a:solidFill>
                <a:srgbClr val="57635D"/>
              </a:solidFill>
              <a:latin typeface="Cairo"/>
              <a:cs typeface="Cairo"/>
            </a:endParaRPr>
          </a:p>
        </p:txBody>
      </p:sp>
      <p:sp>
        <p:nvSpPr>
          <p:cNvPr id="7" name="TextBox 6"/>
          <p:cNvSpPr txBox="1"/>
          <p:nvPr/>
        </p:nvSpPr>
        <p:spPr>
          <a:xfrm>
            <a:off x="612647" y="6364224"/>
            <a:ext cx="3657600" cy="256032"/>
          </a:xfrm>
          <a:prstGeom prst="rect">
            <a:avLst/>
          </a:prstGeom>
          <a:noFill/>
        </p:spPr>
        <p:txBody>
          <a:bodyPr wrap="square" lIns="0" tIns="0" rIns="0" bIns="0" anchor="t">
            <a:spAutoFit/>
          </a:bodyPr>
          <a:lstStyle/>
          <a:p>
            <a:pPr algn="l" rtl="1">
              <a:lnSpc>
                <a:spcPct val="115000"/>
              </a:lnSpc>
            </a:pPr>
            <a:r>
              <a:rPr sz="900" b="0" i="0">
                <a:solidFill>
                  <a:srgbClr val="57635D"/>
                </a:solidFill>
                <a:latin typeface="Cairo"/>
                <a:cs typeface="Cairo"/>
              </a:rPr>
              <a:t>نموذج العمل</a:t>
            </a:r>
            <a:endParaRPr sz="900" b="0" i="0">
              <a:solidFill>
                <a:srgbClr val="57635D"/>
              </a:solidFill>
              <a:latin typeface="Cairo"/>
              <a:cs typeface="Cairo"/>
            </a:endParaRPr>
          </a:p>
        </p:txBody>
      </p:sp>
      <p:sp>
        <p:nvSpPr>
          <p:cNvPr id="8" name="TextBox 7"/>
          <p:cNvSpPr txBox="1"/>
          <p:nvPr/>
        </p:nvSpPr>
        <p:spPr>
          <a:xfrm>
            <a:off x="5726887" y="1097280"/>
            <a:ext cx="5852160" cy="1097280"/>
          </a:xfrm>
          <a:prstGeom prst="rect">
            <a:avLst/>
          </a:prstGeom>
          <a:noFill/>
        </p:spPr>
        <p:txBody>
          <a:bodyPr wrap="square" lIns="0" tIns="0" rIns="0" bIns="0" anchor="t">
            <a:spAutoFit/>
          </a:bodyPr>
          <a:lstStyle/>
          <a:p>
            <a:pPr algn="r" rtl="1">
              <a:lnSpc>
                <a:spcPct val="120000"/>
              </a:lnSpc>
            </a:pPr>
            <a:r>
              <a:rPr sz="2600" b="1" i="0">
                <a:solidFill>
                  <a:srgbClr val="1C1B1B"/>
                </a:solidFill>
                <a:latin typeface="Cairo"/>
                <a:cs typeface="Cairo"/>
              </a:rPr>
              <a:t>مجاني للمسافرين. يدفعه العرض الذي نجعله مرئياً.</a:t>
            </a:r>
            <a:endParaRPr sz="2600" b="1" i="0">
              <a:solidFill>
                <a:srgbClr val="1C1B1B"/>
              </a:solidFill>
              <a:latin typeface="Cairo"/>
              <a:cs typeface="Cairo"/>
            </a:endParaRPr>
          </a:p>
        </p:txBody>
      </p:sp>
      <p:sp>
        <p:nvSpPr>
          <p:cNvPr id="9" name="TextBox 8"/>
          <p:cNvSpPr txBox="1"/>
          <p:nvPr/>
        </p:nvSpPr>
        <p:spPr>
          <a:xfrm>
            <a:off x="5909767" y="2286000"/>
            <a:ext cx="5669280" cy="914400"/>
          </a:xfrm>
          <a:prstGeom prst="rect">
            <a:avLst/>
          </a:prstGeom>
          <a:noFill/>
        </p:spPr>
        <p:txBody>
          <a:bodyPr wrap="square" lIns="0" tIns="0" rIns="0" bIns="0" anchor="t">
            <a:spAutoFit/>
          </a:bodyPr>
          <a:lstStyle/>
          <a:p>
            <a:pPr algn="r" rtl="1">
              <a:lnSpc>
                <a:spcPct val="145000"/>
              </a:lnSpc>
            </a:pPr>
            <a:r>
              <a:rPr sz="1150" b="0" i="0">
                <a:solidFill>
                  <a:srgbClr val="57635D"/>
                </a:solidFill>
                <a:latin typeface="Cairo"/>
                <a:cs typeface="Cairo"/>
              </a:rPr>
              <a:t>التطبيق مجاني وسيبقى مجانياً. يأتي الإيراد من الأعمال ومقدّمي الخدمات الذين يُنشئ Hasio حجوزاتهم، عبر ثلاثة مصادر تنضج بالتتابع.</a:t>
            </a:r>
            <a:endParaRPr sz="1150" b="0" i="0">
              <a:solidFill>
                <a:srgbClr val="57635D"/>
              </a:solidFill>
              <a:latin typeface="Cairo"/>
              <a:cs typeface="Cairo"/>
            </a:endParaRPr>
          </a:p>
        </p:txBody>
      </p:sp>
      <p:sp>
        <p:nvSpPr>
          <p:cNvPr id="10" name="TextBox 9"/>
          <p:cNvSpPr txBox="1"/>
          <p:nvPr/>
        </p:nvSpPr>
        <p:spPr>
          <a:xfrm>
            <a:off x="10090404" y="3246120"/>
            <a:ext cx="1488643" cy="256032"/>
          </a:xfrm>
          <a:prstGeom prst="rect">
            <a:avLst/>
          </a:prstGeom>
          <a:noFill/>
        </p:spPr>
        <p:txBody>
          <a:bodyPr wrap="square" lIns="0" tIns="0" rIns="0" bIns="0" anchor="t">
            <a:spAutoFit/>
          </a:bodyPr>
          <a:lstStyle/>
          <a:p>
            <a:pPr algn="r" rtl="1">
              <a:lnSpc>
                <a:spcPct val="115000"/>
              </a:lnSpc>
            </a:pPr>
            <a:r>
              <a:rPr sz="950" b="1" i="0">
                <a:solidFill>
                  <a:srgbClr val="57635D"/>
                </a:solidFill>
                <a:latin typeface="Cairo"/>
                <a:cs typeface="Cairo"/>
              </a:rPr>
              <a:t>المصدر</a:t>
            </a:r>
            <a:endParaRPr sz="950" b="1" i="0">
              <a:solidFill>
                <a:srgbClr val="57635D"/>
              </a:solidFill>
              <a:latin typeface="Cairo"/>
              <a:cs typeface="Cairo"/>
            </a:endParaRPr>
          </a:p>
        </p:txBody>
      </p:sp>
      <p:sp>
        <p:nvSpPr>
          <p:cNvPr id="11" name="TextBox 10"/>
          <p:cNvSpPr txBox="1"/>
          <p:nvPr/>
        </p:nvSpPr>
        <p:spPr>
          <a:xfrm>
            <a:off x="6871716" y="3246120"/>
            <a:ext cx="3127248" cy="256032"/>
          </a:xfrm>
          <a:prstGeom prst="rect">
            <a:avLst/>
          </a:prstGeom>
          <a:noFill/>
        </p:spPr>
        <p:txBody>
          <a:bodyPr wrap="square" lIns="0" tIns="0" rIns="0" bIns="0" anchor="t">
            <a:spAutoFit/>
          </a:bodyPr>
          <a:lstStyle/>
          <a:p>
            <a:pPr algn="r" rtl="1">
              <a:lnSpc>
                <a:spcPct val="115000"/>
              </a:lnSpc>
            </a:pPr>
            <a:r>
              <a:rPr sz="950" b="1" i="0">
                <a:solidFill>
                  <a:srgbClr val="57635D"/>
                </a:solidFill>
                <a:latin typeface="Cairo"/>
                <a:cs typeface="Cairo"/>
              </a:rPr>
              <a:t>الآلية</a:t>
            </a:r>
            <a:endParaRPr sz="950" b="1" i="0">
              <a:solidFill>
                <a:srgbClr val="57635D"/>
              </a:solidFill>
              <a:latin typeface="Cairo"/>
              <a:cs typeface="Cairo"/>
            </a:endParaRPr>
          </a:p>
        </p:txBody>
      </p:sp>
      <p:sp>
        <p:nvSpPr>
          <p:cNvPr id="12" name="TextBox 11"/>
          <p:cNvSpPr txBox="1"/>
          <p:nvPr/>
        </p:nvSpPr>
        <p:spPr>
          <a:xfrm>
            <a:off x="5818327" y="3246120"/>
            <a:ext cx="961948" cy="256032"/>
          </a:xfrm>
          <a:prstGeom prst="rect">
            <a:avLst/>
          </a:prstGeom>
          <a:noFill/>
        </p:spPr>
        <p:txBody>
          <a:bodyPr wrap="square" lIns="0" tIns="0" rIns="0" bIns="0" anchor="t">
            <a:spAutoFit/>
          </a:bodyPr>
          <a:lstStyle/>
          <a:p>
            <a:pPr algn="r" rtl="1">
              <a:lnSpc>
                <a:spcPct val="115000"/>
              </a:lnSpc>
            </a:pPr>
            <a:r>
              <a:rPr sz="950" b="1" i="0">
                <a:solidFill>
                  <a:srgbClr val="57635D"/>
                </a:solidFill>
                <a:latin typeface="Cairo"/>
                <a:cs typeface="Cairo"/>
              </a:rPr>
              <a:t>التوقيت</a:t>
            </a:r>
            <a:endParaRPr sz="950" b="1" i="0">
              <a:solidFill>
                <a:srgbClr val="57635D"/>
              </a:solidFill>
              <a:latin typeface="Cairo"/>
              <a:cs typeface="Cairo"/>
            </a:endParaRPr>
          </a:p>
        </p:txBody>
      </p:sp>
      <p:cxnSp>
        <p:nvCxnSpPr>
          <p:cNvPr id="13" name="Connector 12"/>
          <p:cNvCxnSpPr/>
          <p:nvPr/>
        </p:nvCxnSpPr>
        <p:spPr>
          <a:xfrm>
            <a:off x="5726887" y="3538727"/>
            <a:ext cx="5852160" cy="0"/>
          </a:xfrm>
          <a:prstGeom prst="line">
            <a:avLst/>
          </a:prstGeom>
          <a:ln w="9525">
            <a:solidFill>
              <a:srgbClr val="D9D2C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0090404" y="3611879"/>
            <a:ext cx="1488643" cy="566928"/>
          </a:xfrm>
          <a:prstGeom prst="rect">
            <a:avLst/>
          </a:prstGeom>
          <a:noFill/>
        </p:spPr>
        <p:txBody>
          <a:bodyPr wrap="square" lIns="0" tIns="0" rIns="0" bIns="0" anchor="t">
            <a:spAutoFit/>
          </a:bodyPr>
          <a:lstStyle/>
          <a:p>
            <a:pPr algn="r" rtl="1">
              <a:lnSpc>
                <a:spcPct val="130000"/>
              </a:lnSpc>
            </a:pPr>
            <a:r>
              <a:rPr sz="1000" b="1" i="0">
                <a:solidFill>
                  <a:srgbClr val="0D7A5F"/>
                </a:solidFill>
                <a:latin typeface="Cairo"/>
                <a:cs typeface="Cairo"/>
              </a:rPr>
              <a:t>عمولة</a:t>
            </a:r>
            <a:endParaRPr sz="1000" b="1" i="0">
              <a:solidFill>
                <a:srgbClr val="0D7A5F"/>
              </a:solidFill>
              <a:latin typeface="Cairo"/>
              <a:cs typeface="Cairo"/>
            </a:endParaRPr>
          </a:p>
        </p:txBody>
      </p:sp>
      <p:sp>
        <p:nvSpPr>
          <p:cNvPr id="15" name="TextBox 14"/>
          <p:cNvSpPr txBox="1"/>
          <p:nvPr/>
        </p:nvSpPr>
        <p:spPr>
          <a:xfrm>
            <a:off x="6871716" y="3611879"/>
            <a:ext cx="3127248" cy="566928"/>
          </a:xfrm>
          <a:prstGeom prst="rect">
            <a:avLst/>
          </a:prstGeom>
          <a:noFill/>
        </p:spPr>
        <p:txBody>
          <a:bodyPr wrap="square" lIns="0" tIns="0" rIns="0" bIns="0" anchor="t">
            <a:spAutoFit/>
          </a:bodyPr>
          <a:lstStyle/>
          <a:p>
            <a:pPr algn="r" rtl="1">
              <a:lnSpc>
                <a:spcPct val="130000"/>
              </a:lnSpc>
            </a:pPr>
            <a:r>
              <a:rPr sz="1000" b="0" i="0">
                <a:solidFill>
                  <a:srgbClr val="1C1B1B"/>
                </a:solidFill>
                <a:latin typeface="Cairo"/>
                <a:cs typeface="Cairo"/>
              </a:rPr>
              <a:t>10% على حجوزات الفنادق والجولات والفعاليات وخدمات مقدّمي الخدمات المكتملة داخل التطبيق</a:t>
            </a:r>
            <a:endParaRPr sz="1000" b="0" i="0">
              <a:solidFill>
                <a:srgbClr val="1C1B1B"/>
              </a:solidFill>
              <a:latin typeface="Cairo"/>
              <a:cs typeface="Cairo"/>
            </a:endParaRPr>
          </a:p>
        </p:txBody>
      </p:sp>
      <p:sp>
        <p:nvSpPr>
          <p:cNvPr id="16" name="TextBox 15"/>
          <p:cNvSpPr txBox="1"/>
          <p:nvPr/>
        </p:nvSpPr>
        <p:spPr>
          <a:xfrm>
            <a:off x="5818327" y="3611879"/>
            <a:ext cx="961948" cy="566928"/>
          </a:xfrm>
          <a:prstGeom prst="rect">
            <a:avLst/>
          </a:prstGeom>
          <a:noFill/>
        </p:spPr>
        <p:txBody>
          <a:bodyPr wrap="square" lIns="0" tIns="0" rIns="0" bIns="0" anchor="t">
            <a:spAutoFit/>
          </a:bodyPr>
          <a:lstStyle/>
          <a:p>
            <a:pPr algn="r" rtl="1">
              <a:lnSpc>
                <a:spcPct val="130000"/>
              </a:lnSpc>
            </a:pPr>
            <a:r>
              <a:rPr sz="1000" b="0" i="0">
                <a:solidFill>
                  <a:srgbClr val="1C1B1B"/>
                </a:solidFill>
                <a:latin typeface="Cairo"/>
                <a:cs typeface="Cairo"/>
              </a:rPr>
              <a:t>السنة 1</a:t>
            </a:r>
            <a:endParaRPr sz="1000" b="0" i="0">
              <a:solidFill>
                <a:srgbClr val="1C1B1B"/>
              </a:solidFill>
              <a:latin typeface="Cairo"/>
              <a:cs typeface="Cairo"/>
            </a:endParaRPr>
          </a:p>
        </p:txBody>
      </p:sp>
      <p:cxnSp>
        <p:nvCxnSpPr>
          <p:cNvPr id="17" name="Connector 16"/>
          <p:cNvCxnSpPr/>
          <p:nvPr/>
        </p:nvCxnSpPr>
        <p:spPr>
          <a:xfrm>
            <a:off x="5726887" y="4123944"/>
            <a:ext cx="5852160" cy="0"/>
          </a:xfrm>
          <a:prstGeom prst="line">
            <a:avLst/>
          </a:prstGeom>
          <a:ln w="9525">
            <a:solidFill>
              <a:srgbClr val="D9D2C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0090404" y="4178807"/>
            <a:ext cx="1488643" cy="566928"/>
          </a:xfrm>
          <a:prstGeom prst="rect">
            <a:avLst/>
          </a:prstGeom>
          <a:noFill/>
        </p:spPr>
        <p:txBody>
          <a:bodyPr wrap="square" lIns="0" tIns="0" rIns="0" bIns="0" anchor="t">
            <a:spAutoFit/>
          </a:bodyPr>
          <a:lstStyle/>
          <a:p>
            <a:pPr algn="r" rtl="1">
              <a:lnSpc>
                <a:spcPct val="130000"/>
              </a:lnSpc>
            </a:pPr>
            <a:r>
              <a:rPr sz="1000" b="1" i="0">
                <a:solidFill>
                  <a:srgbClr val="0D7A5F"/>
                </a:solidFill>
                <a:latin typeface="Cairo"/>
                <a:cs typeface="Cairo"/>
              </a:rPr>
              <a:t>ظهور مميّز</a:t>
            </a:r>
            <a:endParaRPr sz="1000" b="1" i="0">
              <a:solidFill>
                <a:srgbClr val="0D7A5F"/>
              </a:solidFill>
              <a:latin typeface="Cairo"/>
              <a:cs typeface="Cairo"/>
            </a:endParaRPr>
          </a:p>
        </p:txBody>
      </p:sp>
      <p:sp>
        <p:nvSpPr>
          <p:cNvPr id="19" name="TextBox 18"/>
          <p:cNvSpPr txBox="1"/>
          <p:nvPr/>
        </p:nvSpPr>
        <p:spPr>
          <a:xfrm>
            <a:off x="6871716" y="4178807"/>
            <a:ext cx="3127248" cy="566928"/>
          </a:xfrm>
          <a:prstGeom prst="rect">
            <a:avLst/>
          </a:prstGeom>
          <a:noFill/>
        </p:spPr>
        <p:txBody>
          <a:bodyPr wrap="square" lIns="0" tIns="0" rIns="0" bIns="0" anchor="t">
            <a:spAutoFit/>
          </a:bodyPr>
          <a:lstStyle/>
          <a:p>
            <a:pPr algn="r" rtl="1">
              <a:lnSpc>
                <a:spcPct val="130000"/>
              </a:lnSpc>
            </a:pPr>
            <a:r>
              <a:rPr sz="1000" b="0" i="0">
                <a:solidFill>
                  <a:srgbClr val="1C1B1B"/>
                </a:solidFill>
                <a:latin typeface="Cairo"/>
                <a:cs typeface="Cairo"/>
              </a:rPr>
              <a:t>اشتراك شهري للترتيب المتقدم وشارة التوثيق والتحليلات</a:t>
            </a:r>
            <a:endParaRPr sz="1000" b="0" i="0">
              <a:solidFill>
                <a:srgbClr val="1C1B1B"/>
              </a:solidFill>
              <a:latin typeface="Cairo"/>
              <a:cs typeface="Cairo"/>
            </a:endParaRPr>
          </a:p>
        </p:txBody>
      </p:sp>
      <p:sp>
        <p:nvSpPr>
          <p:cNvPr id="20" name="TextBox 19"/>
          <p:cNvSpPr txBox="1"/>
          <p:nvPr/>
        </p:nvSpPr>
        <p:spPr>
          <a:xfrm>
            <a:off x="5818327" y="4178807"/>
            <a:ext cx="961948" cy="566928"/>
          </a:xfrm>
          <a:prstGeom prst="rect">
            <a:avLst/>
          </a:prstGeom>
          <a:noFill/>
        </p:spPr>
        <p:txBody>
          <a:bodyPr wrap="square" lIns="0" tIns="0" rIns="0" bIns="0" anchor="t">
            <a:spAutoFit/>
          </a:bodyPr>
          <a:lstStyle/>
          <a:p>
            <a:pPr algn="r" rtl="1">
              <a:lnSpc>
                <a:spcPct val="130000"/>
              </a:lnSpc>
            </a:pPr>
            <a:r>
              <a:rPr sz="1000" b="0" i="0">
                <a:solidFill>
                  <a:srgbClr val="1C1B1B"/>
                </a:solidFill>
                <a:latin typeface="Cairo"/>
                <a:cs typeface="Cairo"/>
              </a:rPr>
              <a:t>السنة 1 إلى 2</a:t>
            </a:r>
            <a:endParaRPr sz="1000" b="0" i="0">
              <a:solidFill>
                <a:srgbClr val="1C1B1B"/>
              </a:solidFill>
              <a:latin typeface="Cairo"/>
              <a:cs typeface="Cairo"/>
            </a:endParaRPr>
          </a:p>
        </p:txBody>
      </p:sp>
      <p:cxnSp>
        <p:nvCxnSpPr>
          <p:cNvPr id="21" name="Connector 20"/>
          <p:cNvCxnSpPr/>
          <p:nvPr/>
        </p:nvCxnSpPr>
        <p:spPr>
          <a:xfrm>
            <a:off x="5726887" y="4690872"/>
            <a:ext cx="5852160" cy="0"/>
          </a:xfrm>
          <a:prstGeom prst="line">
            <a:avLst/>
          </a:prstGeom>
          <a:ln w="9525">
            <a:solidFill>
              <a:srgbClr val="D9D2C6"/>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0090404" y="4745736"/>
            <a:ext cx="1488643" cy="566928"/>
          </a:xfrm>
          <a:prstGeom prst="rect">
            <a:avLst/>
          </a:prstGeom>
          <a:noFill/>
        </p:spPr>
        <p:txBody>
          <a:bodyPr wrap="square" lIns="0" tIns="0" rIns="0" bIns="0" anchor="t">
            <a:spAutoFit/>
          </a:bodyPr>
          <a:lstStyle/>
          <a:p>
            <a:pPr algn="r" rtl="1">
              <a:lnSpc>
                <a:spcPct val="130000"/>
              </a:lnSpc>
            </a:pPr>
            <a:r>
              <a:rPr sz="1000" b="1" i="0">
                <a:solidFill>
                  <a:srgbClr val="0D7A5F"/>
                </a:solidFill>
                <a:latin typeface="Cairo"/>
                <a:cs typeface="Cairo"/>
              </a:rPr>
              <a:t>التقاط غامر</a:t>
            </a:r>
            <a:endParaRPr sz="1000" b="1" i="0">
              <a:solidFill>
                <a:srgbClr val="0D7A5F"/>
              </a:solidFill>
              <a:latin typeface="Cairo"/>
              <a:cs typeface="Cairo"/>
            </a:endParaRPr>
          </a:p>
        </p:txBody>
      </p:sp>
      <p:sp>
        <p:nvSpPr>
          <p:cNvPr id="23" name="TextBox 22"/>
          <p:cNvSpPr txBox="1"/>
          <p:nvPr/>
        </p:nvSpPr>
        <p:spPr>
          <a:xfrm>
            <a:off x="6871716" y="4745736"/>
            <a:ext cx="3127248" cy="566928"/>
          </a:xfrm>
          <a:prstGeom prst="rect">
            <a:avLst/>
          </a:prstGeom>
          <a:noFill/>
        </p:spPr>
        <p:txBody>
          <a:bodyPr wrap="square" lIns="0" tIns="0" rIns="0" bIns="0" anchor="t">
            <a:spAutoFit/>
          </a:bodyPr>
          <a:lstStyle/>
          <a:p>
            <a:pPr algn="r" rtl="1">
              <a:lnSpc>
                <a:spcPct val="130000"/>
              </a:lnSpc>
            </a:pPr>
            <a:r>
              <a:rPr sz="1000" b="0" i="0">
                <a:solidFill>
                  <a:srgbClr val="1C1B1B"/>
                </a:solidFill>
                <a:latin typeface="Cairo"/>
                <a:cs typeface="Cairo"/>
              </a:rPr>
              <a:t>رسوم لكل منشأة لمسحها ونشر معاينة واقع معزّز أو افتراضي؛ واستضافة متكررة</a:t>
            </a:r>
            <a:endParaRPr sz="1000" b="0" i="0">
              <a:solidFill>
                <a:srgbClr val="1C1B1B"/>
              </a:solidFill>
              <a:latin typeface="Cairo"/>
              <a:cs typeface="Cairo"/>
            </a:endParaRPr>
          </a:p>
        </p:txBody>
      </p:sp>
      <p:sp>
        <p:nvSpPr>
          <p:cNvPr id="24" name="TextBox 23"/>
          <p:cNvSpPr txBox="1"/>
          <p:nvPr/>
        </p:nvSpPr>
        <p:spPr>
          <a:xfrm>
            <a:off x="5818327" y="4745736"/>
            <a:ext cx="961948" cy="566928"/>
          </a:xfrm>
          <a:prstGeom prst="rect">
            <a:avLst/>
          </a:prstGeom>
          <a:noFill/>
        </p:spPr>
        <p:txBody>
          <a:bodyPr wrap="square" lIns="0" tIns="0" rIns="0" bIns="0" anchor="t">
            <a:spAutoFit/>
          </a:bodyPr>
          <a:lstStyle/>
          <a:p>
            <a:pPr algn="r" rtl="1">
              <a:lnSpc>
                <a:spcPct val="130000"/>
              </a:lnSpc>
            </a:pPr>
            <a:r>
              <a:rPr sz="1000" b="0" i="0">
                <a:solidFill>
                  <a:srgbClr val="1C1B1B"/>
                </a:solidFill>
                <a:latin typeface="Cairo"/>
                <a:cs typeface="Cairo"/>
              </a:rPr>
              <a:t>السنة 2 إلى 3</a:t>
            </a:r>
            <a:endParaRPr sz="1000" b="0" i="0">
              <a:solidFill>
                <a:srgbClr val="1C1B1B"/>
              </a:solidFill>
              <a:latin typeface="Cairo"/>
              <a:cs typeface="Cairo"/>
            </a:endParaRPr>
          </a:p>
        </p:txBody>
      </p:sp>
      <p:cxnSp>
        <p:nvCxnSpPr>
          <p:cNvPr id="25" name="Connector 24"/>
          <p:cNvCxnSpPr/>
          <p:nvPr/>
        </p:nvCxnSpPr>
        <p:spPr>
          <a:xfrm>
            <a:off x="5726887" y="5257800"/>
            <a:ext cx="5852160" cy="0"/>
          </a:xfrm>
          <a:prstGeom prst="line">
            <a:avLst/>
          </a:prstGeom>
          <a:ln w="9525">
            <a:solidFill>
              <a:srgbClr val="D9D2C6"/>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0090404" y="5312664"/>
            <a:ext cx="1488643" cy="566928"/>
          </a:xfrm>
          <a:prstGeom prst="rect">
            <a:avLst/>
          </a:prstGeom>
          <a:noFill/>
        </p:spPr>
        <p:txBody>
          <a:bodyPr wrap="square" lIns="0" tIns="0" rIns="0" bIns="0" anchor="t">
            <a:spAutoFit/>
          </a:bodyPr>
          <a:lstStyle/>
          <a:p>
            <a:pPr algn="r" rtl="1">
              <a:lnSpc>
                <a:spcPct val="130000"/>
              </a:lnSpc>
            </a:pPr>
            <a:r>
              <a:rPr sz="1000" b="1" i="0">
                <a:solidFill>
                  <a:srgbClr val="0D7A5F"/>
                </a:solidFill>
                <a:latin typeface="Cairo"/>
                <a:cs typeface="Cairo"/>
              </a:rPr>
              <a:t>شراكات</a:t>
            </a:r>
            <a:endParaRPr sz="1000" b="1" i="0">
              <a:solidFill>
                <a:srgbClr val="0D7A5F"/>
              </a:solidFill>
              <a:latin typeface="Cairo"/>
              <a:cs typeface="Cairo"/>
            </a:endParaRPr>
          </a:p>
        </p:txBody>
      </p:sp>
      <p:sp>
        <p:nvSpPr>
          <p:cNvPr id="27" name="TextBox 26"/>
          <p:cNvSpPr txBox="1"/>
          <p:nvPr/>
        </p:nvSpPr>
        <p:spPr>
          <a:xfrm>
            <a:off x="6871716" y="5312664"/>
            <a:ext cx="3127248" cy="566928"/>
          </a:xfrm>
          <a:prstGeom prst="rect">
            <a:avLst/>
          </a:prstGeom>
          <a:noFill/>
        </p:spPr>
        <p:txBody>
          <a:bodyPr wrap="square" lIns="0" tIns="0" rIns="0" bIns="0" anchor="t">
            <a:spAutoFit/>
          </a:bodyPr>
          <a:lstStyle/>
          <a:p>
            <a:pPr algn="r" rtl="1">
              <a:lnSpc>
                <a:spcPct val="130000"/>
              </a:lnSpc>
            </a:pPr>
            <a:r>
              <a:rPr sz="1000" b="0" i="0">
                <a:solidFill>
                  <a:srgbClr val="1C1B1B"/>
                </a:solidFill>
                <a:latin typeface="Cairo"/>
                <a:cs typeface="Cairo"/>
              </a:rPr>
              <a:t>تسويق الوجهات مع هيئات السياحة ومجموعات الفنادق؛ ومخطِّط بعلامة بيضاء</a:t>
            </a:r>
            <a:endParaRPr sz="1000" b="0" i="0">
              <a:solidFill>
                <a:srgbClr val="1C1B1B"/>
              </a:solidFill>
              <a:latin typeface="Cairo"/>
              <a:cs typeface="Cairo"/>
            </a:endParaRPr>
          </a:p>
        </p:txBody>
      </p:sp>
      <p:sp>
        <p:nvSpPr>
          <p:cNvPr id="28" name="TextBox 27"/>
          <p:cNvSpPr txBox="1"/>
          <p:nvPr/>
        </p:nvSpPr>
        <p:spPr>
          <a:xfrm>
            <a:off x="5818327" y="5312664"/>
            <a:ext cx="961948" cy="566928"/>
          </a:xfrm>
          <a:prstGeom prst="rect">
            <a:avLst/>
          </a:prstGeom>
          <a:noFill/>
        </p:spPr>
        <p:txBody>
          <a:bodyPr wrap="square" lIns="0" tIns="0" rIns="0" bIns="0" anchor="t">
            <a:spAutoFit/>
          </a:bodyPr>
          <a:lstStyle/>
          <a:p>
            <a:pPr algn="r" rtl="1">
              <a:lnSpc>
                <a:spcPct val="130000"/>
              </a:lnSpc>
            </a:pPr>
            <a:r>
              <a:rPr sz="1000" b="0" i="0">
                <a:solidFill>
                  <a:srgbClr val="1C1B1B"/>
                </a:solidFill>
                <a:latin typeface="Cairo"/>
                <a:cs typeface="Cairo"/>
              </a:rPr>
              <a:t>السنة 2+</a:t>
            </a:r>
            <a:endParaRPr sz="1000" b="0" i="0">
              <a:solidFill>
                <a:srgbClr val="1C1B1B"/>
              </a:solidFill>
              <a:latin typeface="Cairo"/>
              <a:cs typeface="Cairo"/>
            </a:endParaRPr>
          </a:p>
        </p:txBody>
      </p:sp>
      <p:cxnSp>
        <p:nvCxnSpPr>
          <p:cNvPr id="29" name="Connector 28"/>
          <p:cNvCxnSpPr/>
          <p:nvPr/>
        </p:nvCxnSpPr>
        <p:spPr>
          <a:xfrm>
            <a:off x="5726887" y="5824728"/>
            <a:ext cx="5852160" cy="0"/>
          </a:xfrm>
          <a:prstGeom prst="line">
            <a:avLst/>
          </a:prstGeom>
          <a:ln w="9525">
            <a:solidFill>
              <a:srgbClr val="D9D2C6"/>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047695" y="1188720"/>
            <a:ext cx="2194560" cy="548640"/>
          </a:xfrm>
          <a:prstGeom prst="rect">
            <a:avLst/>
          </a:prstGeom>
          <a:noFill/>
        </p:spPr>
        <p:txBody>
          <a:bodyPr wrap="square" lIns="0" tIns="0" rIns="0" bIns="0" anchor="t">
            <a:spAutoFit/>
          </a:bodyPr>
          <a:lstStyle/>
          <a:p>
            <a:pPr algn="r" rtl="0">
              <a:lnSpc>
                <a:spcPct val="100000"/>
              </a:lnSpc>
            </a:pPr>
            <a:r>
              <a:rPr sz="3600" b="0" i="0">
                <a:solidFill>
                  <a:srgbClr val="1C1B1B"/>
                </a:solidFill>
                <a:latin typeface="Cairo"/>
                <a:cs typeface="Cairo"/>
              </a:rPr>
              <a:t>10%</a:t>
            </a:r>
            <a:endParaRPr sz="3600" b="0" i="0">
              <a:solidFill>
                <a:srgbClr val="1C1B1B"/>
              </a:solidFill>
              <a:latin typeface="Cairo"/>
              <a:cs typeface="Cairo"/>
            </a:endParaRPr>
          </a:p>
        </p:txBody>
      </p:sp>
      <p:sp>
        <p:nvSpPr>
          <p:cNvPr id="31" name="TextBox 30"/>
          <p:cNvSpPr txBox="1"/>
          <p:nvPr/>
        </p:nvSpPr>
        <p:spPr>
          <a:xfrm>
            <a:off x="3047695" y="1755648"/>
            <a:ext cx="2194560" cy="640080"/>
          </a:xfrm>
          <a:prstGeom prst="rect">
            <a:avLst/>
          </a:prstGeom>
          <a:noFill/>
        </p:spPr>
        <p:txBody>
          <a:bodyPr wrap="square" lIns="0" tIns="0" rIns="0" bIns="0" anchor="t">
            <a:spAutoFit/>
          </a:bodyPr>
          <a:lstStyle/>
          <a:p>
            <a:pPr algn="r" rtl="1">
              <a:lnSpc>
                <a:spcPct val="135000"/>
              </a:lnSpc>
            </a:pPr>
            <a:r>
              <a:rPr sz="1100" b="0" i="0">
                <a:solidFill>
                  <a:srgbClr val="57635D"/>
                </a:solidFill>
                <a:latin typeface="Cairo"/>
                <a:cs typeface="Cairo"/>
              </a:rPr>
              <a:t>عمولة على كل حجز أو خدمة تكتمل داخل التطبيق</a:t>
            </a:r>
            <a:endParaRPr sz="1100" b="0" i="0">
              <a:solidFill>
                <a:srgbClr val="57635D"/>
              </a:solidFill>
              <a:latin typeface="Cairo"/>
              <a:cs typeface="Cairo"/>
            </a:endParaRPr>
          </a:p>
        </p:txBody>
      </p:sp>
      <p:sp>
        <p:nvSpPr>
          <p:cNvPr id="32" name="TextBox 31"/>
          <p:cNvSpPr txBox="1"/>
          <p:nvPr/>
        </p:nvSpPr>
        <p:spPr>
          <a:xfrm>
            <a:off x="578815" y="1188720"/>
            <a:ext cx="2194560" cy="548640"/>
          </a:xfrm>
          <a:prstGeom prst="rect">
            <a:avLst/>
          </a:prstGeom>
          <a:noFill/>
        </p:spPr>
        <p:txBody>
          <a:bodyPr wrap="square" lIns="0" tIns="0" rIns="0" bIns="0" anchor="t">
            <a:spAutoFit/>
          </a:bodyPr>
          <a:lstStyle/>
          <a:p>
            <a:pPr algn="r" rtl="0">
              <a:lnSpc>
                <a:spcPct val="100000"/>
              </a:lnSpc>
            </a:pPr>
            <a:r>
              <a:rPr sz="3600" b="0" i="0">
                <a:solidFill>
                  <a:srgbClr val="1C1B1B"/>
                </a:solidFill>
                <a:latin typeface="Cairo"/>
                <a:cs typeface="Cairo"/>
              </a:rPr>
              <a:t>SAR 199</a:t>
            </a:r>
            <a:endParaRPr sz="3600" b="0" i="0">
              <a:solidFill>
                <a:srgbClr val="1C1B1B"/>
              </a:solidFill>
              <a:latin typeface="Cairo"/>
              <a:cs typeface="Cairo"/>
            </a:endParaRPr>
          </a:p>
        </p:txBody>
      </p:sp>
      <p:sp>
        <p:nvSpPr>
          <p:cNvPr id="33" name="TextBox 32"/>
          <p:cNvSpPr txBox="1"/>
          <p:nvPr/>
        </p:nvSpPr>
        <p:spPr>
          <a:xfrm>
            <a:off x="578815" y="1755648"/>
            <a:ext cx="2194560" cy="640080"/>
          </a:xfrm>
          <a:prstGeom prst="rect">
            <a:avLst/>
          </a:prstGeom>
          <a:noFill/>
        </p:spPr>
        <p:txBody>
          <a:bodyPr wrap="square" lIns="0" tIns="0" rIns="0" bIns="0" anchor="t">
            <a:spAutoFit/>
          </a:bodyPr>
          <a:lstStyle/>
          <a:p>
            <a:pPr algn="r" rtl="1">
              <a:lnSpc>
                <a:spcPct val="135000"/>
              </a:lnSpc>
            </a:pPr>
            <a:r>
              <a:rPr sz="1100" b="0" i="0">
                <a:solidFill>
                  <a:srgbClr val="57635D"/>
                </a:solidFill>
                <a:latin typeface="Cairo"/>
                <a:cs typeface="Cairo"/>
              </a:rPr>
              <a:t>شهرياً، الظهور المميّز، الفئة الأولى</a:t>
            </a:r>
            <a:endParaRPr sz="1100" b="0" i="0">
              <a:solidFill>
                <a:srgbClr val="57635D"/>
              </a:solidFill>
              <a:latin typeface="Cairo"/>
              <a:cs typeface="Cairo"/>
            </a:endParaRPr>
          </a:p>
        </p:txBody>
      </p:sp>
      <p:sp>
        <p:nvSpPr>
          <p:cNvPr id="34" name="TextBox 33"/>
          <p:cNvSpPr txBox="1"/>
          <p:nvPr/>
        </p:nvSpPr>
        <p:spPr>
          <a:xfrm>
            <a:off x="3047695" y="3017520"/>
            <a:ext cx="2194560" cy="548640"/>
          </a:xfrm>
          <a:prstGeom prst="rect">
            <a:avLst/>
          </a:prstGeom>
          <a:noFill/>
        </p:spPr>
        <p:txBody>
          <a:bodyPr wrap="square" lIns="0" tIns="0" rIns="0" bIns="0" anchor="t">
            <a:spAutoFit/>
          </a:bodyPr>
          <a:lstStyle/>
          <a:p>
            <a:pPr algn="r" rtl="0">
              <a:lnSpc>
                <a:spcPct val="100000"/>
              </a:lnSpc>
            </a:pPr>
            <a:r>
              <a:rPr sz="3600" b="0" i="0">
                <a:solidFill>
                  <a:srgbClr val="1C1B1B"/>
                </a:solidFill>
                <a:latin typeface="Cairo"/>
                <a:cs typeface="Cairo"/>
              </a:rPr>
              <a:t>&lt;$0.05</a:t>
            </a:r>
            <a:endParaRPr sz="3600" b="0" i="0">
              <a:solidFill>
                <a:srgbClr val="1C1B1B"/>
              </a:solidFill>
              <a:latin typeface="Cairo"/>
              <a:cs typeface="Cairo"/>
            </a:endParaRPr>
          </a:p>
        </p:txBody>
      </p:sp>
      <p:sp>
        <p:nvSpPr>
          <p:cNvPr id="35" name="TextBox 34"/>
          <p:cNvSpPr txBox="1"/>
          <p:nvPr/>
        </p:nvSpPr>
        <p:spPr>
          <a:xfrm>
            <a:off x="3047695" y="3584448"/>
            <a:ext cx="2194560" cy="640080"/>
          </a:xfrm>
          <a:prstGeom prst="rect">
            <a:avLst/>
          </a:prstGeom>
          <a:noFill/>
        </p:spPr>
        <p:txBody>
          <a:bodyPr wrap="square" lIns="0" tIns="0" rIns="0" bIns="0" anchor="t">
            <a:spAutoFit/>
          </a:bodyPr>
          <a:lstStyle/>
          <a:p>
            <a:pPr algn="r" rtl="1">
              <a:lnSpc>
                <a:spcPct val="135000"/>
              </a:lnSpc>
            </a:pPr>
            <a:r>
              <a:rPr sz="1100" b="0" i="0">
                <a:solidFill>
                  <a:srgbClr val="57635D"/>
                </a:solidFill>
                <a:latin typeface="Cairo"/>
                <a:cs typeface="Cairo"/>
              </a:rPr>
              <a:t>كلفة الذكاء الاصطناعي لكل رحلة مخطَّطة بالأسعار الحالية</a:t>
            </a:r>
            <a:endParaRPr sz="1100" b="0" i="0">
              <a:solidFill>
                <a:srgbClr val="57635D"/>
              </a:solidFill>
              <a:latin typeface="Cairo"/>
              <a:cs typeface="Cairo"/>
            </a:endParaRPr>
          </a:p>
        </p:txBody>
      </p:sp>
      <p:sp>
        <p:nvSpPr>
          <p:cNvPr id="36" name="TextBox 35"/>
          <p:cNvSpPr txBox="1"/>
          <p:nvPr/>
        </p:nvSpPr>
        <p:spPr>
          <a:xfrm>
            <a:off x="578815" y="3017520"/>
            <a:ext cx="2194560" cy="548640"/>
          </a:xfrm>
          <a:prstGeom prst="rect">
            <a:avLst/>
          </a:prstGeom>
          <a:noFill/>
        </p:spPr>
        <p:txBody>
          <a:bodyPr wrap="square" lIns="0" tIns="0" rIns="0" bIns="0" anchor="t">
            <a:spAutoFit/>
          </a:bodyPr>
          <a:lstStyle/>
          <a:p>
            <a:pPr algn="r" rtl="0">
              <a:lnSpc>
                <a:spcPct val="100000"/>
              </a:lnSpc>
            </a:pPr>
            <a:r>
              <a:rPr sz="3600" b="0" i="0">
                <a:solidFill>
                  <a:srgbClr val="1C1B1B"/>
                </a:solidFill>
                <a:latin typeface="Cairo"/>
                <a:cs typeface="Cairo"/>
              </a:rPr>
              <a:t>0</a:t>
            </a:r>
            <a:endParaRPr sz="3600" b="0" i="0">
              <a:solidFill>
                <a:srgbClr val="1C1B1B"/>
              </a:solidFill>
              <a:latin typeface="Cairo"/>
              <a:cs typeface="Cairo"/>
            </a:endParaRPr>
          </a:p>
        </p:txBody>
      </p:sp>
      <p:sp>
        <p:nvSpPr>
          <p:cNvPr id="37" name="TextBox 36"/>
          <p:cNvSpPr txBox="1"/>
          <p:nvPr/>
        </p:nvSpPr>
        <p:spPr>
          <a:xfrm>
            <a:off x="578815" y="3584448"/>
            <a:ext cx="2194560" cy="640080"/>
          </a:xfrm>
          <a:prstGeom prst="rect">
            <a:avLst/>
          </a:prstGeom>
          <a:noFill/>
        </p:spPr>
        <p:txBody>
          <a:bodyPr wrap="square" lIns="0" tIns="0" rIns="0" bIns="0" anchor="t">
            <a:spAutoFit/>
          </a:bodyPr>
          <a:lstStyle/>
          <a:p>
            <a:pPr algn="r" rtl="1">
              <a:lnSpc>
                <a:spcPct val="135000"/>
              </a:lnSpc>
            </a:pPr>
            <a:r>
              <a:rPr sz="1100" b="0" i="0">
                <a:solidFill>
                  <a:srgbClr val="57635D"/>
                </a:solidFill>
                <a:latin typeface="Cairo"/>
                <a:cs typeface="Cairo"/>
              </a:rPr>
              <a:t>إصدار متجر مطلوب لمعظم التحديثات: الكود يصل عبر الهواء</a:t>
            </a:r>
            <a:endParaRPr sz="1100" b="0" i="0">
              <a:solidFill>
                <a:srgbClr val="57635D"/>
              </a:solidFill>
              <a:latin typeface="Cairo"/>
              <a:cs typeface="Cairo"/>
            </a:endParaRPr>
          </a:p>
        </p:txBody>
      </p:sp>
      <p:sp>
        <p:nvSpPr>
          <p:cNvPr id="38" name="Rectangle 37"/>
          <p:cNvSpPr/>
          <p:nvPr/>
        </p:nvSpPr>
        <p:spPr>
          <a:xfrm>
            <a:off x="5219395" y="5029200"/>
            <a:ext cx="22860" cy="548640"/>
          </a:xfrm>
          <a:prstGeom prst="rect">
            <a:avLst/>
          </a:prstGeom>
          <a:solidFill>
            <a:srgbClr val="A88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4535" y="5029200"/>
            <a:ext cx="4480559" cy="731520"/>
          </a:xfrm>
          <a:prstGeom prst="rect">
            <a:avLst/>
          </a:prstGeom>
          <a:noFill/>
        </p:spPr>
        <p:txBody>
          <a:bodyPr wrap="square" lIns="0" tIns="0" rIns="0" bIns="0" anchor="t">
            <a:spAutoFit/>
          </a:bodyPr>
          <a:lstStyle/>
          <a:p>
            <a:pPr algn="r" rtl="1">
              <a:lnSpc>
                <a:spcPct val="135000"/>
              </a:lnSpc>
            </a:pPr>
            <a:r>
              <a:rPr sz="1000" b="0" i="0">
                <a:solidFill>
                  <a:srgbClr val="57635D"/>
                </a:solidFill>
                <a:latin typeface="Cairo"/>
                <a:cs typeface="Cairo"/>
              </a:rPr>
              <a:t>اقتصاديات الوحدة أهداف تشغيلية، وتُختبر الأسعار مع أول دفعة من الأعمال المدفوعة في المنطقة الشرقية.</a:t>
            </a:r>
            <a:endParaRPr sz="1000" b="0" i="0">
              <a:solidFill>
                <a:srgbClr val="57635D"/>
              </a:solidFill>
              <a:latin typeface="Cairo"/>
              <a:cs typeface="Cair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C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63847" y="457200"/>
            <a:ext cx="7315200" cy="292608"/>
          </a:xfrm>
          <a:prstGeom prst="rect">
            <a:avLst/>
          </a:prstGeom>
          <a:noFill/>
        </p:spPr>
        <p:txBody>
          <a:bodyPr wrap="square" lIns="0" tIns="0" rIns="0" bIns="0" anchor="t">
            <a:spAutoFit/>
          </a:bodyPr>
          <a:lstStyle/>
          <a:p>
            <a:pPr algn="r" rtl="1">
              <a:lnSpc>
                <a:spcPct val="115000"/>
              </a:lnSpc>
            </a:pPr>
            <a:r>
              <a:rPr sz="1050" b="1" i="0">
                <a:solidFill>
                  <a:srgbClr val="0D7A5F"/>
                </a:solidFill>
                <a:latin typeface="Cairo"/>
                <a:cs typeface="Cairo"/>
              </a:rPr>
              <a:t>المشهد التنافسي</a:t>
            </a:r>
            <a:endParaRPr sz="1050" b="1" i="0">
              <a:solidFill>
                <a:srgbClr val="0D7A5F"/>
              </a:solidFill>
              <a:latin typeface="Cairo"/>
              <a:cs typeface="Cairo"/>
            </a:endParaRPr>
          </a:p>
        </p:txBody>
      </p:sp>
      <p:sp>
        <p:nvSpPr>
          <p:cNvPr id="4" name="TextBox 3"/>
          <p:cNvSpPr txBox="1"/>
          <p:nvPr/>
        </p:nvSpPr>
        <p:spPr>
          <a:xfrm>
            <a:off x="612647" y="475488"/>
            <a:ext cx="1828800" cy="274320"/>
          </a:xfrm>
          <a:prstGeom prst="rect">
            <a:avLst/>
          </a:prstGeom>
          <a:noFill/>
        </p:spPr>
        <p:txBody>
          <a:bodyPr wrap="square" lIns="0" tIns="0" rIns="0" bIns="0" anchor="t">
            <a:spAutoFit/>
          </a:bodyPr>
          <a:lstStyle/>
          <a:p>
            <a:pPr algn="l" rtl="0">
              <a:lnSpc>
                <a:spcPct val="115000"/>
              </a:lnSpc>
            </a:pPr>
            <a:r>
              <a:rPr sz="950" b="0" i="0" spc="100">
                <a:solidFill>
                  <a:srgbClr val="57635D"/>
                </a:solidFill>
                <a:latin typeface="Cairo"/>
                <a:cs typeface="Cairo"/>
              </a:rPr>
              <a:t>11 / 14</a:t>
            </a:r>
            <a:endParaRPr sz="950" b="0" i="0" spc="100">
              <a:solidFill>
                <a:srgbClr val="57635D"/>
              </a:solidFill>
              <a:latin typeface="Cairo"/>
              <a:cs typeface="Cairo"/>
            </a:endParaRPr>
          </a:p>
        </p:txBody>
      </p:sp>
      <p:cxnSp>
        <p:nvCxnSpPr>
          <p:cNvPr id="5" name="Connector 4"/>
          <p:cNvCxnSpPr/>
          <p:nvPr/>
        </p:nvCxnSpPr>
        <p:spPr>
          <a:xfrm>
            <a:off x="612647" y="822960"/>
            <a:ext cx="10966400" cy="0"/>
          </a:xfrm>
          <a:prstGeom prst="line">
            <a:avLst/>
          </a:prstGeom>
          <a:ln w="9525">
            <a:solidFill>
              <a:srgbClr val="D9D2C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921447" y="6364224"/>
            <a:ext cx="3657600" cy="256032"/>
          </a:xfrm>
          <a:prstGeom prst="rect">
            <a:avLst/>
          </a:prstGeom>
          <a:noFill/>
        </p:spPr>
        <p:txBody>
          <a:bodyPr wrap="square" lIns="0" tIns="0" rIns="0" bIns="0" anchor="t">
            <a:spAutoFit/>
          </a:bodyPr>
          <a:lstStyle/>
          <a:p>
            <a:pPr algn="r" rtl="0">
              <a:lnSpc>
                <a:spcPct val="115000"/>
              </a:lnSpc>
            </a:pPr>
            <a:r>
              <a:rPr sz="900" b="1" i="0">
                <a:solidFill>
                  <a:srgbClr val="57635D"/>
                </a:solidFill>
                <a:latin typeface="Cairo"/>
                <a:cs typeface="Cairo"/>
              </a:rPr>
              <a:t>Hasio</a:t>
            </a:r>
            <a:endParaRPr sz="900" b="1" i="0">
              <a:solidFill>
                <a:srgbClr val="57635D"/>
              </a:solidFill>
              <a:latin typeface="Cairo"/>
              <a:cs typeface="Cairo"/>
            </a:endParaRPr>
          </a:p>
        </p:txBody>
      </p:sp>
      <p:sp>
        <p:nvSpPr>
          <p:cNvPr id="7" name="TextBox 6"/>
          <p:cNvSpPr txBox="1"/>
          <p:nvPr/>
        </p:nvSpPr>
        <p:spPr>
          <a:xfrm>
            <a:off x="612647" y="6364224"/>
            <a:ext cx="3657600" cy="256032"/>
          </a:xfrm>
          <a:prstGeom prst="rect">
            <a:avLst/>
          </a:prstGeom>
          <a:noFill/>
        </p:spPr>
        <p:txBody>
          <a:bodyPr wrap="square" lIns="0" tIns="0" rIns="0" bIns="0" anchor="t">
            <a:spAutoFit/>
          </a:bodyPr>
          <a:lstStyle/>
          <a:p>
            <a:pPr algn="l" rtl="1">
              <a:lnSpc>
                <a:spcPct val="115000"/>
              </a:lnSpc>
            </a:pPr>
            <a:r>
              <a:rPr sz="900" b="0" i="0">
                <a:solidFill>
                  <a:srgbClr val="57635D"/>
                </a:solidFill>
                <a:latin typeface="Cairo"/>
                <a:cs typeface="Cairo"/>
              </a:rPr>
              <a:t>المنافسة</a:t>
            </a:r>
            <a:endParaRPr sz="900" b="0" i="0">
              <a:solidFill>
                <a:srgbClr val="57635D"/>
              </a:solidFill>
              <a:latin typeface="Cairo"/>
              <a:cs typeface="Cairo"/>
            </a:endParaRPr>
          </a:p>
        </p:txBody>
      </p:sp>
      <p:sp>
        <p:nvSpPr>
          <p:cNvPr id="8" name="TextBox 7"/>
          <p:cNvSpPr txBox="1"/>
          <p:nvPr/>
        </p:nvSpPr>
        <p:spPr>
          <a:xfrm>
            <a:off x="7372807" y="1097280"/>
            <a:ext cx="4206240" cy="1463040"/>
          </a:xfrm>
          <a:prstGeom prst="rect">
            <a:avLst/>
          </a:prstGeom>
          <a:noFill/>
        </p:spPr>
        <p:txBody>
          <a:bodyPr wrap="square" lIns="0" tIns="0" rIns="0" bIns="0" anchor="t">
            <a:spAutoFit/>
          </a:bodyPr>
          <a:lstStyle/>
          <a:p>
            <a:pPr algn="r" rtl="1">
              <a:lnSpc>
                <a:spcPct val="120000"/>
              </a:lnSpc>
            </a:pPr>
            <a:r>
              <a:rPr sz="2400" b="1" i="0">
                <a:solidFill>
                  <a:srgbClr val="1C1B1B"/>
                </a:solidFill>
                <a:latin typeface="Cairo"/>
                <a:cs typeface="Cairo"/>
              </a:rPr>
              <a:t>التطبيقات العالمية تملك المخزون. ولا أحد منها يملك المكان.</a:t>
            </a:r>
            <a:endParaRPr sz="2400" b="1" i="0">
              <a:solidFill>
                <a:srgbClr val="1C1B1B"/>
              </a:solidFill>
              <a:latin typeface="Cairo"/>
              <a:cs typeface="Cairo"/>
            </a:endParaRPr>
          </a:p>
        </p:txBody>
      </p:sp>
      <p:sp>
        <p:nvSpPr>
          <p:cNvPr id="9" name="TextBox 8"/>
          <p:cNvSpPr txBox="1"/>
          <p:nvPr/>
        </p:nvSpPr>
        <p:spPr>
          <a:xfrm>
            <a:off x="7464247" y="2743200"/>
            <a:ext cx="4114800" cy="2103120"/>
          </a:xfrm>
          <a:prstGeom prst="rect">
            <a:avLst/>
          </a:prstGeom>
          <a:noFill/>
        </p:spPr>
        <p:txBody>
          <a:bodyPr wrap="square" lIns="0" tIns="0" rIns="0" bIns="0" anchor="t">
            <a:spAutoFit/>
          </a:bodyPr>
          <a:lstStyle/>
          <a:p>
            <a:pPr algn="r" rtl="1">
              <a:lnSpc>
                <a:spcPct val="150000"/>
              </a:lnSpc>
            </a:pPr>
            <a:r>
              <a:rPr sz="1100" b="0" i="0">
                <a:solidFill>
                  <a:srgbClr val="57635D"/>
                </a:solidFill>
                <a:latin typeface="Cairo"/>
                <a:cs typeface="Cairo"/>
              </a:rPr>
              <a:t>مواقع الحجز تفوز بعرض الفنادق والسعر. الخرائط تفوز بالانتشار. لا أحد منها يخطط، ولا يتحدث العربية أصلاً، ولا يدرج مصوّراً أو مرشداً، ولن يلتقط مزرعة في الأحساء بالواقع المعزّز. أما اللاعبون الإقليميون فإما بوابات حكومية بلا سوق أو مجمّعو فنادق بلا اكتشاف.</a:t>
            </a:r>
            <a:endParaRPr sz="1100" b="0" i="0">
              <a:solidFill>
                <a:srgbClr val="57635D"/>
              </a:solidFill>
              <a:latin typeface="Cairo"/>
              <a:cs typeface="Cairo"/>
            </a:endParaRPr>
          </a:p>
        </p:txBody>
      </p:sp>
      <p:sp>
        <p:nvSpPr>
          <p:cNvPr id="10" name="TextBox 9"/>
          <p:cNvSpPr txBox="1"/>
          <p:nvPr/>
        </p:nvSpPr>
        <p:spPr>
          <a:xfrm>
            <a:off x="7464247" y="4892040"/>
            <a:ext cx="4114800" cy="1097280"/>
          </a:xfrm>
          <a:prstGeom prst="rect">
            <a:avLst/>
          </a:prstGeom>
          <a:noFill/>
        </p:spPr>
        <p:txBody>
          <a:bodyPr wrap="square" lIns="0" tIns="0" rIns="0" bIns="0" anchor="t">
            <a:spAutoFit/>
          </a:bodyPr>
          <a:lstStyle/>
          <a:p>
            <a:pPr algn="r" rtl="1">
              <a:lnSpc>
                <a:spcPct val="150000"/>
              </a:lnSpc>
            </a:pPr>
            <a:r>
              <a:rPr sz="1100" b="0" i="0">
                <a:solidFill>
                  <a:srgbClr val="1C1B1B"/>
                </a:solidFill>
                <a:latin typeface="Cairo"/>
                <a:cs typeface="Cairo"/>
              </a:rPr>
              <a:t>موقع Hasio هو الطبقة فوقها جميعاً: الرفيق الذي يعرف المكان، يقرر إلى أين تذهب، ثم يحيل الحجز أو يتمّه.</a:t>
            </a:r>
            <a:endParaRPr sz="1100" b="0" i="0">
              <a:solidFill>
                <a:srgbClr val="1C1B1B"/>
              </a:solidFill>
              <a:latin typeface="Cairo"/>
              <a:cs typeface="Cairo"/>
            </a:endParaRPr>
          </a:p>
        </p:txBody>
      </p:sp>
      <p:sp>
        <p:nvSpPr>
          <p:cNvPr id="11" name="TextBox 10"/>
          <p:cNvSpPr txBox="1"/>
          <p:nvPr/>
        </p:nvSpPr>
        <p:spPr>
          <a:xfrm>
            <a:off x="4783226" y="1143000"/>
            <a:ext cx="2196388" cy="256032"/>
          </a:xfrm>
          <a:prstGeom prst="rect">
            <a:avLst/>
          </a:prstGeom>
          <a:noFill/>
        </p:spPr>
        <p:txBody>
          <a:bodyPr wrap="square" lIns="0" tIns="0" rIns="0" bIns="0" anchor="t">
            <a:spAutoFit/>
          </a:bodyPr>
          <a:lstStyle/>
          <a:p>
            <a:pPr algn="r" rtl="1">
              <a:lnSpc>
                <a:spcPct val="115000"/>
              </a:lnSpc>
            </a:pPr>
            <a:endParaRPr sz="950" b="1" i="0">
              <a:solidFill>
                <a:srgbClr val="57635D"/>
              </a:solidFill>
              <a:latin typeface="Cairo"/>
              <a:cs typeface="Cairo"/>
            </a:endParaRPr>
          </a:p>
        </p:txBody>
      </p:sp>
      <p:sp>
        <p:nvSpPr>
          <p:cNvPr id="12" name="TextBox 11"/>
          <p:cNvSpPr txBox="1"/>
          <p:nvPr/>
        </p:nvSpPr>
        <p:spPr>
          <a:xfrm>
            <a:off x="3766413" y="1143000"/>
            <a:ext cx="925372" cy="256032"/>
          </a:xfrm>
          <a:prstGeom prst="rect">
            <a:avLst/>
          </a:prstGeom>
          <a:noFill/>
        </p:spPr>
        <p:txBody>
          <a:bodyPr wrap="square" lIns="0" tIns="0" rIns="0" bIns="0" anchor="t">
            <a:spAutoFit/>
          </a:bodyPr>
          <a:lstStyle/>
          <a:p>
            <a:pPr algn="r" rtl="1">
              <a:lnSpc>
                <a:spcPct val="115000"/>
              </a:lnSpc>
            </a:pPr>
            <a:r>
              <a:rPr sz="950" b="1" i="0">
                <a:solidFill>
                  <a:srgbClr val="57635D"/>
                </a:solidFill>
                <a:latin typeface="Cairo"/>
                <a:cs typeface="Cairo"/>
              </a:rPr>
              <a:t>Hasio</a:t>
            </a:r>
            <a:endParaRPr sz="950" b="1" i="0">
              <a:solidFill>
                <a:srgbClr val="57635D"/>
              </a:solidFill>
              <a:latin typeface="Cairo"/>
              <a:cs typeface="Cairo"/>
            </a:endParaRPr>
          </a:p>
        </p:txBody>
      </p:sp>
      <p:sp>
        <p:nvSpPr>
          <p:cNvPr id="13" name="TextBox 12"/>
          <p:cNvSpPr txBox="1"/>
          <p:nvPr/>
        </p:nvSpPr>
        <p:spPr>
          <a:xfrm>
            <a:off x="2749600" y="1143000"/>
            <a:ext cx="925372" cy="256032"/>
          </a:xfrm>
          <a:prstGeom prst="rect">
            <a:avLst/>
          </a:prstGeom>
          <a:noFill/>
        </p:spPr>
        <p:txBody>
          <a:bodyPr wrap="square" lIns="0" tIns="0" rIns="0" bIns="0" anchor="t">
            <a:spAutoFit/>
          </a:bodyPr>
          <a:lstStyle/>
          <a:p>
            <a:pPr algn="r" rtl="1">
              <a:lnSpc>
                <a:spcPct val="115000"/>
              </a:lnSpc>
            </a:pPr>
            <a:r>
              <a:rPr sz="950" b="1" i="0">
                <a:solidFill>
                  <a:srgbClr val="57635D"/>
                </a:solidFill>
                <a:latin typeface="Cairo"/>
                <a:cs typeface="Cairo"/>
              </a:rPr>
              <a:t>مواقع الحجز</a:t>
            </a:r>
            <a:endParaRPr sz="950" b="1" i="0">
              <a:solidFill>
                <a:srgbClr val="57635D"/>
              </a:solidFill>
              <a:latin typeface="Cairo"/>
              <a:cs typeface="Cairo"/>
            </a:endParaRPr>
          </a:p>
        </p:txBody>
      </p:sp>
      <p:sp>
        <p:nvSpPr>
          <p:cNvPr id="14" name="TextBox 13"/>
          <p:cNvSpPr txBox="1"/>
          <p:nvPr/>
        </p:nvSpPr>
        <p:spPr>
          <a:xfrm>
            <a:off x="1732788" y="1143000"/>
            <a:ext cx="925372" cy="256032"/>
          </a:xfrm>
          <a:prstGeom prst="rect">
            <a:avLst/>
          </a:prstGeom>
          <a:noFill/>
        </p:spPr>
        <p:txBody>
          <a:bodyPr wrap="square" lIns="0" tIns="0" rIns="0" bIns="0" anchor="t">
            <a:spAutoFit/>
          </a:bodyPr>
          <a:lstStyle/>
          <a:p>
            <a:pPr algn="r" rtl="1">
              <a:lnSpc>
                <a:spcPct val="115000"/>
              </a:lnSpc>
            </a:pPr>
            <a:r>
              <a:rPr sz="950" b="1" i="0">
                <a:solidFill>
                  <a:srgbClr val="57635D"/>
                </a:solidFill>
                <a:latin typeface="Cairo"/>
                <a:cs typeface="Cairo"/>
              </a:rPr>
              <a:t>الخرائط</a:t>
            </a:r>
            <a:endParaRPr sz="950" b="1" i="0">
              <a:solidFill>
                <a:srgbClr val="57635D"/>
              </a:solidFill>
              <a:latin typeface="Cairo"/>
              <a:cs typeface="Cairo"/>
            </a:endParaRPr>
          </a:p>
        </p:txBody>
      </p:sp>
      <p:sp>
        <p:nvSpPr>
          <p:cNvPr id="15" name="TextBox 14"/>
          <p:cNvSpPr txBox="1"/>
          <p:nvPr/>
        </p:nvSpPr>
        <p:spPr>
          <a:xfrm>
            <a:off x="715975" y="1143000"/>
            <a:ext cx="925372" cy="256032"/>
          </a:xfrm>
          <a:prstGeom prst="rect">
            <a:avLst/>
          </a:prstGeom>
          <a:noFill/>
        </p:spPr>
        <p:txBody>
          <a:bodyPr wrap="square" lIns="0" tIns="0" rIns="0" bIns="0" anchor="t">
            <a:spAutoFit/>
          </a:bodyPr>
          <a:lstStyle/>
          <a:p>
            <a:pPr algn="r" rtl="1">
              <a:lnSpc>
                <a:spcPct val="115000"/>
              </a:lnSpc>
            </a:pPr>
            <a:r>
              <a:rPr sz="950" b="1" i="0">
                <a:solidFill>
                  <a:srgbClr val="57635D"/>
                </a:solidFill>
                <a:latin typeface="Cairo"/>
                <a:cs typeface="Cairo"/>
              </a:rPr>
              <a:t>بوابات حكومية</a:t>
            </a:r>
            <a:endParaRPr sz="950" b="1" i="0">
              <a:solidFill>
                <a:srgbClr val="57635D"/>
              </a:solidFill>
              <a:latin typeface="Cairo"/>
              <a:cs typeface="Cairo"/>
            </a:endParaRPr>
          </a:p>
        </p:txBody>
      </p:sp>
      <p:cxnSp>
        <p:nvCxnSpPr>
          <p:cNvPr id="16" name="Connector 15"/>
          <p:cNvCxnSpPr/>
          <p:nvPr/>
        </p:nvCxnSpPr>
        <p:spPr>
          <a:xfrm>
            <a:off x="624535" y="1435608"/>
            <a:ext cx="6355080" cy="0"/>
          </a:xfrm>
          <a:prstGeom prst="line">
            <a:avLst/>
          </a:prstGeom>
          <a:ln w="9525">
            <a:solidFill>
              <a:srgbClr val="D9D2C6"/>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783226" y="1508760"/>
            <a:ext cx="2196388" cy="566928"/>
          </a:xfrm>
          <a:prstGeom prst="rect">
            <a:avLst/>
          </a:prstGeom>
          <a:noFill/>
        </p:spPr>
        <p:txBody>
          <a:bodyPr wrap="square" lIns="0" tIns="0" rIns="0" bIns="0" anchor="t">
            <a:spAutoFit/>
          </a:bodyPr>
          <a:lstStyle/>
          <a:p>
            <a:pPr algn="r" rtl="1">
              <a:lnSpc>
                <a:spcPct val="130000"/>
              </a:lnSpc>
            </a:pPr>
            <a:r>
              <a:rPr sz="1000" b="1" i="0">
                <a:solidFill>
                  <a:srgbClr val="1C1B1B"/>
                </a:solidFill>
                <a:latin typeface="Cairo"/>
                <a:cs typeface="Cairo"/>
              </a:rPr>
              <a:t>إدراجات منتقاة ثنائية اللغة</a:t>
            </a:r>
            <a:endParaRPr sz="1000" b="1" i="0">
              <a:solidFill>
                <a:srgbClr val="1C1B1B"/>
              </a:solidFill>
              <a:latin typeface="Cairo"/>
              <a:cs typeface="Cairo"/>
            </a:endParaRPr>
          </a:p>
        </p:txBody>
      </p:sp>
      <p:sp>
        <p:nvSpPr>
          <p:cNvPr id="18" name="TextBox 17"/>
          <p:cNvSpPr txBox="1"/>
          <p:nvPr/>
        </p:nvSpPr>
        <p:spPr>
          <a:xfrm>
            <a:off x="3766413" y="1508760"/>
            <a:ext cx="925372" cy="566928"/>
          </a:xfrm>
          <a:prstGeom prst="rect">
            <a:avLst/>
          </a:prstGeom>
          <a:noFill/>
        </p:spPr>
        <p:txBody>
          <a:bodyPr wrap="square" lIns="0" tIns="0" rIns="0" bIns="0" anchor="t">
            <a:spAutoFit/>
          </a:bodyPr>
          <a:lstStyle/>
          <a:p>
            <a:pPr algn="r" rtl="1">
              <a:lnSpc>
                <a:spcPct val="130000"/>
              </a:lnSpc>
            </a:pPr>
            <a:r>
              <a:rPr sz="1000" b="0" i="0">
                <a:solidFill>
                  <a:srgbClr val="0D7A5F"/>
                </a:solidFill>
                <a:latin typeface="Cairo"/>
                <a:cs typeface="Cairo"/>
              </a:rPr>
              <a:t>نعم</a:t>
            </a:r>
            <a:endParaRPr sz="1000" b="0" i="0">
              <a:solidFill>
                <a:srgbClr val="0D7A5F"/>
              </a:solidFill>
              <a:latin typeface="Cairo"/>
              <a:cs typeface="Cairo"/>
            </a:endParaRPr>
          </a:p>
        </p:txBody>
      </p:sp>
      <p:sp>
        <p:nvSpPr>
          <p:cNvPr id="19" name="TextBox 18"/>
          <p:cNvSpPr txBox="1"/>
          <p:nvPr/>
        </p:nvSpPr>
        <p:spPr>
          <a:xfrm>
            <a:off x="2749600" y="1508760"/>
            <a:ext cx="925372" cy="566928"/>
          </a:xfrm>
          <a:prstGeom prst="rect">
            <a:avLst/>
          </a:prstGeom>
          <a:noFill/>
        </p:spPr>
        <p:txBody>
          <a:bodyPr wrap="square" lIns="0" tIns="0" rIns="0" bIns="0" anchor="t">
            <a:spAutoFit/>
          </a:bodyPr>
          <a:lstStyle/>
          <a:p>
            <a:pPr algn="r" rtl="1">
              <a:lnSpc>
                <a:spcPct val="130000"/>
              </a:lnSpc>
            </a:pPr>
            <a:r>
              <a:rPr sz="1000" b="0" i="0">
                <a:solidFill>
                  <a:srgbClr val="57635D"/>
                </a:solidFill>
                <a:latin typeface="Cairo"/>
                <a:cs typeface="Cairo"/>
              </a:rPr>
              <a:t>مترجمة</a:t>
            </a:r>
            <a:endParaRPr sz="1000" b="0" i="0">
              <a:solidFill>
                <a:srgbClr val="57635D"/>
              </a:solidFill>
              <a:latin typeface="Cairo"/>
              <a:cs typeface="Cairo"/>
            </a:endParaRPr>
          </a:p>
        </p:txBody>
      </p:sp>
      <p:sp>
        <p:nvSpPr>
          <p:cNvPr id="20" name="TextBox 19"/>
          <p:cNvSpPr txBox="1"/>
          <p:nvPr/>
        </p:nvSpPr>
        <p:spPr>
          <a:xfrm>
            <a:off x="1732788" y="1508760"/>
            <a:ext cx="925372" cy="566928"/>
          </a:xfrm>
          <a:prstGeom prst="rect">
            <a:avLst/>
          </a:prstGeom>
          <a:noFill/>
        </p:spPr>
        <p:txBody>
          <a:bodyPr wrap="square" lIns="0" tIns="0" rIns="0" bIns="0" anchor="t">
            <a:spAutoFit/>
          </a:bodyPr>
          <a:lstStyle/>
          <a:p>
            <a:pPr algn="r" rtl="1">
              <a:lnSpc>
                <a:spcPct val="130000"/>
              </a:lnSpc>
            </a:pPr>
            <a:r>
              <a:rPr sz="1000" b="0" i="0">
                <a:solidFill>
                  <a:srgbClr val="57635D"/>
                </a:solidFill>
                <a:latin typeface="Cairo"/>
                <a:cs typeface="Cairo"/>
              </a:rPr>
              <a:t>جماعية</a:t>
            </a:r>
            <a:endParaRPr sz="1000" b="0" i="0">
              <a:solidFill>
                <a:srgbClr val="57635D"/>
              </a:solidFill>
              <a:latin typeface="Cairo"/>
              <a:cs typeface="Cairo"/>
            </a:endParaRPr>
          </a:p>
        </p:txBody>
      </p:sp>
      <p:sp>
        <p:nvSpPr>
          <p:cNvPr id="21" name="TextBox 20"/>
          <p:cNvSpPr txBox="1"/>
          <p:nvPr/>
        </p:nvSpPr>
        <p:spPr>
          <a:xfrm>
            <a:off x="715975" y="1508760"/>
            <a:ext cx="925372" cy="566928"/>
          </a:xfrm>
          <a:prstGeom prst="rect">
            <a:avLst/>
          </a:prstGeom>
          <a:noFill/>
        </p:spPr>
        <p:txBody>
          <a:bodyPr wrap="square" lIns="0" tIns="0" rIns="0" bIns="0" anchor="t">
            <a:spAutoFit/>
          </a:bodyPr>
          <a:lstStyle/>
          <a:p>
            <a:pPr algn="r" rtl="1">
              <a:lnSpc>
                <a:spcPct val="130000"/>
              </a:lnSpc>
            </a:pPr>
            <a:r>
              <a:rPr sz="1000" b="0" i="0">
                <a:solidFill>
                  <a:srgbClr val="0D7A5F"/>
                </a:solidFill>
                <a:latin typeface="Cairo"/>
                <a:cs typeface="Cairo"/>
              </a:rPr>
              <a:t>جزئياً</a:t>
            </a:r>
            <a:endParaRPr sz="1000" b="0" i="0">
              <a:solidFill>
                <a:srgbClr val="0D7A5F"/>
              </a:solidFill>
              <a:latin typeface="Cairo"/>
              <a:cs typeface="Cairo"/>
            </a:endParaRPr>
          </a:p>
        </p:txBody>
      </p:sp>
      <p:cxnSp>
        <p:nvCxnSpPr>
          <p:cNvPr id="22" name="Connector 21"/>
          <p:cNvCxnSpPr/>
          <p:nvPr/>
        </p:nvCxnSpPr>
        <p:spPr>
          <a:xfrm>
            <a:off x="624535" y="2020824"/>
            <a:ext cx="6355080" cy="0"/>
          </a:xfrm>
          <a:prstGeom prst="line">
            <a:avLst/>
          </a:prstGeom>
          <a:ln w="9525">
            <a:solidFill>
              <a:srgbClr val="D9D2C6"/>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783226" y="2075688"/>
            <a:ext cx="2196388" cy="566928"/>
          </a:xfrm>
          <a:prstGeom prst="rect">
            <a:avLst/>
          </a:prstGeom>
          <a:noFill/>
        </p:spPr>
        <p:txBody>
          <a:bodyPr wrap="square" lIns="0" tIns="0" rIns="0" bIns="0" anchor="t">
            <a:spAutoFit/>
          </a:bodyPr>
          <a:lstStyle/>
          <a:p>
            <a:pPr algn="r" rtl="1">
              <a:lnSpc>
                <a:spcPct val="130000"/>
              </a:lnSpc>
            </a:pPr>
            <a:r>
              <a:rPr sz="1000" b="1" i="0">
                <a:solidFill>
                  <a:srgbClr val="1C1B1B"/>
                </a:solidFill>
                <a:latin typeface="Cairo"/>
                <a:cs typeface="Cairo"/>
              </a:rPr>
              <a:t>مخطِّط ذكي حواري</a:t>
            </a:r>
            <a:endParaRPr sz="1000" b="1" i="0">
              <a:solidFill>
                <a:srgbClr val="1C1B1B"/>
              </a:solidFill>
              <a:latin typeface="Cairo"/>
              <a:cs typeface="Cairo"/>
            </a:endParaRPr>
          </a:p>
        </p:txBody>
      </p:sp>
      <p:sp>
        <p:nvSpPr>
          <p:cNvPr id="24" name="TextBox 23"/>
          <p:cNvSpPr txBox="1"/>
          <p:nvPr/>
        </p:nvSpPr>
        <p:spPr>
          <a:xfrm>
            <a:off x="3766413" y="2075688"/>
            <a:ext cx="925372" cy="566928"/>
          </a:xfrm>
          <a:prstGeom prst="rect">
            <a:avLst/>
          </a:prstGeom>
          <a:noFill/>
        </p:spPr>
        <p:txBody>
          <a:bodyPr wrap="square" lIns="0" tIns="0" rIns="0" bIns="0" anchor="t">
            <a:spAutoFit/>
          </a:bodyPr>
          <a:lstStyle/>
          <a:p>
            <a:pPr algn="r" rtl="1">
              <a:lnSpc>
                <a:spcPct val="130000"/>
              </a:lnSpc>
            </a:pPr>
            <a:r>
              <a:rPr sz="1000" b="0" i="0">
                <a:solidFill>
                  <a:srgbClr val="0D7A5F"/>
                </a:solidFill>
                <a:latin typeface="Cairo"/>
                <a:cs typeface="Cairo"/>
              </a:rPr>
              <a:t>نعم</a:t>
            </a:r>
            <a:endParaRPr sz="1000" b="0" i="0">
              <a:solidFill>
                <a:srgbClr val="0D7A5F"/>
              </a:solidFill>
              <a:latin typeface="Cairo"/>
              <a:cs typeface="Cairo"/>
            </a:endParaRPr>
          </a:p>
        </p:txBody>
      </p:sp>
      <p:sp>
        <p:nvSpPr>
          <p:cNvPr id="25" name="TextBox 24"/>
          <p:cNvSpPr txBox="1"/>
          <p:nvPr/>
        </p:nvSpPr>
        <p:spPr>
          <a:xfrm>
            <a:off x="2749600" y="2075688"/>
            <a:ext cx="925372" cy="566928"/>
          </a:xfrm>
          <a:prstGeom prst="rect">
            <a:avLst/>
          </a:prstGeom>
          <a:noFill/>
        </p:spPr>
        <p:txBody>
          <a:bodyPr wrap="square" lIns="0" tIns="0" rIns="0" bIns="0" anchor="t">
            <a:spAutoFit/>
          </a:bodyPr>
          <a:lstStyle/>
          <a:p>
            <a:pPr algn="r" rtl="1">
              <a:lnSpc>
                <a:spcPct val="130000"/>
              </a:lnSpc>
            </a:pPr>
            <a:r>
              <a:rPr sz="1000" b="0" i="0">
                <a:solidFill>
                  <a:srgbClr val="57635D"/>
                </a:solidFill>
                <a:latin typeface="Cairo"/>
                <a:cs typeface="Cairo"/>
              </a:rPr>
              <a:t>محدود</a:t>
            </a:r>
            <a:endParaRPr sz="1000" b="0" i="0">
              <a:solidFill>
                <a:srgbClr val="57635D"/>
              </a:solidFill>
              <a:latin typeface="Cairo"/>
              <a:cs typeface="Cairo"/>
            </a:endParaRPr>
          </a:p>
        </p:txBody>
      </p:sp>
      <p:sp>
        <p:nvSpPr>
          <p:cNvPr id="26" name="TextBox 25"/>
          <p:cNvSpPr txBox="1"/>
          <p:nvPr/>
        </p:nvSpPr>
        <p:spPr>
          <a:xfrm>
            <a:off x="1732788" y="2075688"/>
            <a:ext cx="925372" cy="566928"/>
          </a:xfrm>
          <a:prstGeom prst="rect">
            <a:avLst/>
          </a:prstGeom>
          <a:noFill/>
        </p:spPr>
        <p:txBody>
          <a:bodyPr wrap="square" lIns="0" tIns="0" rIns="0" bIns="0" anchor="t">
            <a:spAutoFit/>
          </a:bodyPr>
          <a:lstStyle/>
          <a:p>
            <a:pPr algn="r" rtl="1">
              <a:lnSpc>
                <a:spcPct val="130000"/>
              </a:lnSpc>
            </a:pPr>
            <a:r>
              <a:rPr sz="1000" b="0" i="0">
                <a:solidFill>
                  <a:srgbClr val="57635D"/>
                </a:solidFill>
                <a:latin typeface="Cairo"/>
                <a:cs typeface="Cairo"/>
              </a:rPr>
              <a:t>لا</a:t>
            </a:r>
            <a:endParaRPr sz="1000" b="0" i="0">
              <a:solidFill>
                <a:srgbClr val="57635D"/>
              </a:solidFill>
              <a:latin typeface="Cairo"/>
              <a:cs typeface="Cairo"/>
            </a:endParaRPr>
          </a:p>
        </p:txBody>
      </p:sp>
      <p:sp>
        <p:nvSpPr>
          <p:cNvPr id="27" name="TextBox 26"/>
          <p:cNvSpPr txBox="1"/>
          <p:nvPr/>
        </p:nvSpPr>
        <p:spPr>
          <a:xfrm>
            <a:off x="715975" y="2075688"/>
            <a:ext cx="925372" cy="566928"/>
          </a:xfrm>
          <a:prstGeom prst="rect">
            <a:avLst/>
          </a:prstGeom>
          <a:noFill/>
        </p:spPr>
        <p:txBody>
          <a:bodyPr wrap="square" lIns="0" tIns="0" rIns="0" bIns="0" anchor="t">
            <a:spAutoFit/>
          </a:bodyPr>
          <a:lstStyle/>
          <a:p>
            <a:pPr algn="r" rtl="1">
              <a:lnSpc>
                <a:spcPct val="130000"/>
              </a:lnSpc>
            </a:pPr>
            <a:r>
              <a:rPr sz="1000" b="0" i="0">
                <a:solidFill>
                  <a:srgbClr val="57635D"/>
                </a:solidFill>
                <a:latin typeface="Cairo"/>
                <a:cs typeface="Cairo"/>
              </a:rPr>
              <a:t>لا</a:t>
            </a:r>
            <a:endParaRPr sz="1000" b="0" i="0">
              <a:solidFill>
                <a:srgbClr val="57635D"/>
              </a:solidFill>
              <a:latin typeface="Cairo"/>
              <a:cs typeface="Cairo"/>
            </a:endParaRPr>
          </a:p>
        </p:txBody>
      </p:sp>
      <p:cxnSp>
        <p:nvCxnSpPr>
          <p:cNvPr id="28" name="Connector 27"/>
          <p:cNvCxnSpPr/>
          <p:nvPr/>
        </p:nvCxnSpPr>
        <p:spPr>
          <a:xfrm>
            <a:off x="624535" y="2587752"/>
            <a:ext cx="6355080" cy="0"/>
          </a:xfrm>
          <a:prstGeom prst="line">
            <a:avLst/>
          </a:prstGeom>
          <a:ln w="9525">
            <a:solidFill>
              <a:srgbClr val="D9D2C6"/>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783226" y="2642616"/>
            <a:ext cx="2196388" cy="566928"/>
          </a:xfrm>
          <a:prstGeom prst="rect">
            <a:avLst/>
          </a:prstGeom>
          <a:noFill/>
        </p:spPr>
        <p:txBody>
          <a:bodyPr wrap="square" lIns="0" tIns="0" rIns="0" bIns="0" anchor="t">
            <a:spAutoFit/>
          </a:bodyPr>
          <a:lstStyle/>
          <a:p>
            <a:pPr algn="r" rtl="1">
              <a:lnSpc>
                <a:spcPct val="130000"/>
              </a:lnSpc>
            </a:pPr>
            <a:r>
              <a:rPr sz="1000" b="1" i="0">
                <a:solidFill>
                  <a:srgbClr val="1C1B1B"/>
                </a:solidFill>
                <a:latin typeface="Cairo"/>
                <a:cs typeface="Cairo"/>
              </a:rPr>
              <a:t>حجوزات داخل التطبيق</a:t>
            </a:r>
            <a:endParaRPr sz="1000" b="1" i="0">
              <a:solidFill>
                <a:srgbClr val="1C1B1B"/>
              </a:solidFill>
              <a:latin typeface="Cairo"/>
              <a:cs typeface="Cairo"/>
            </a:endParaRPr>
          </a:p>
        </p:txBody>
      </p:sp>
      <p:sp>
        <p:nvSpPr>
          <p:cNvPr id="30" name="TextBox 29"/>
          <p:cNvSpPr txBox="1"/>
          <p:nvPr/>
        </p:nvSpPr>
        <p:spPr>
          <a:xfrm>
            <a:off x="3766413" y="2642616"/>
            <a:ext cx="925372" cy="566928"/>
          </a:xfrm>
          <a:prstGeom prst="rect">
            <a:avLst/>
          </a:prstGeom>
          <a:noFill/>
        </p:spPr>
        <p:txBody>
          <a:bodyPr wrap="square" lIns="0" tIns="0" rIns="0" bIns="0" anchor="t">
            <a:spAutoFit/>
          </a:bodyPr>
          <a:lstStyle/>
          <a:p>
            <a:pPr algn="r" rtl="1">
              <a:lnSpc>
                <a:spcPct val="130000"/>
              </a:lnSpc>
            </a:pPr>
            <a:r>
              <a:rPr sz="1000" b="0" i="0">
                <a:solidFill>
                  <a:srgbClr val="0D7A5F"/>
                </a:solidFill>
                <a:latin typeface="Cairo"/>
                <a:cs typeface="Cairo"/>
              </a:rPr>
              <a:t>نعم</a:t>
            </a:r>
            <a:endParaRPr sz="1000" b="0" i="0">
              <a:solidFill>
                <a:srgbClr val="0D7A5F"/>
              </a:solidFill>
              <a:latin typeface="Cairo"/>
              <a:cs typeface="Cairo"/>
            </a:endParaRPr>
          </a:p>
        </p:txBody>
      </p:sp>
      <p:sp>
        <p:nvSpPr>
          <p:cNvPr id="31" name="TextBox 30"/>
          <p:cNvSpPr txBox="1"/>
          <p:nvPr/>
        </p:nvSpPr>
        <p:spPr>
          <a:xfrm>
            <a:off x="2749600" y="2642616"/>
            <a:ext cx="925372" cy="566928"/>
          </a:xfrm>
          <a:prstGeom prst="rect">
            <a:avLst/>
          </a:prstGeom>
          <a:noFill/>
        </p:spPr>
        <p:txBody>
          <a:bodyPr wrap="square" lIns="0" tIns="0" rIns="0" bIns="0" anchor="t">
            <a:spAutoFit/>
          </a:bodyPr>
          <a:lstStyle/>
          <a:p>
            <a:pPr algn="r" rtl="1">
              <a:lnSpc>
                <a:spcPct val="130000"/>
              </a:lnSpc>
            </a:pPr>
            <a:r>
              <a:rPr sz="1000" b="0" i="0">
                <a:solidFill>
                  <a:srgbClr val="0D7A5F"/>
                </a:solidFill>
                <a:latin typeface="Cairo"/>
                <a:cs typeface="Cairo"/>
              </a:rPr>
              <a:t>نعم</a:t>
            </a:r>
            <a:endParaRPr sz="1000" b="0" i="0">
              <a:solidFill>
                <a:srgbClr val="0D7A5F"/>
              </a:solidFill>
              <a:latin typeface="Cairo"/>
              <a:cs typeface="Cairo"/>
            </a:endParaRPr>
          </a:p>
        </p:txBody>
      </p:sp>
      <p:sp>
        <p:nvSpPr>
          <p:cNvPr id="32" name="TextBox 31"/>
          <p:cNvSpPr txBox="1"/>
          <p:nvPr/>
        </p:nvSpPr>
        <p:spPr>
          <a:xfrm>
            <a:off x="1732788" y="2642616"/>
            <a:ext cx="925372" cy="566928"/>
          </a:xfrm>
          <a:prstGeom prst="rect">
            <a:avLst/>
          </a:prstGeom>
          <a:noFill/>
        </p:spPr>
        <p:txBody>
          <a:bodyPr wrap="square" lIns="0" tIns="0" rIns="0" bIns="0" anchor="t">
            <a:spAutoFit/>
          </a:bodyPr>
          <a:lstStyle/>
          <a:p>
            <a:pPr algn="r" rtl="1">
              <a:lnSpc>
                <a:spcPct val="130000"/>
              </a:lnSpc>
            </a:pPr>
            <a:r>
              <a:rPr sz="1000" b="0" i="0">
                <a:solidFill>
                  <a:srgbClr val="57635D"/>
                </a:solidFill>
                <a:latin typeface="Cairo"/>
                <a:cs typeface="Cairo"/>
              </a:rPr>
              <a:t>إحالة</a:t>
            </a:r>
            <a:endParaRPr sz="1000" b="0" i="0">
              <a:solidFill>
                <a:srgbClr val="57635D"/>
              </a:solidFill>
              <a:latin typeface="Cairo"/>
              <a:cs typeface="Cairo"/>
            </a:endParaRPr>
          </a:p>
        </p:txBody>
      </p:sp>
      <p:sp>
        <p:nvSpPr>
          <p:cNvPr id="33" name="TextBox 32"/>
          <p:cNvSpPr txBox="1"/>
          <p:nvPr/>
        </p:nvSpPr>
        <p:spPr>
          <a:xfrm>
            <a:off x="715975" y="2642616"/>
            <a:ext cx="925372" cy="566928"/>
          </a:xfrm>
          <a:prstGeom prst="rect">
            <a:avLst/>
          </a:prstGeom>
          <a:noFill/>
        </p:spPr>
        <p:txBody>
          <a:bodyPr wrap="square" lIns="0" tIns="0" rIns="0" bIns="0" anchor="t">
            <a:spAutoFit/>
          </a:bodyPr>
          <a:lstStyle/>
          <a:p>
            <a:pPr algn="r" rtl="1">
              <a:lnSpc>
                <a:spcPct val="130000"/>
              </a:lnSpc>
            </a:pPr>
            <a:r>
              <a:rPr sz="1000" b="0" i="0">
                <a:solidFill>
                  <a:srgbClr val="57635D"/>
                </a:solidFill>
                <a:latin typeface="Cairo"/>
                <a:cs typeface="Cairo"/>
              </a:rPr>
              <a:t>لا</a:t>
            </a:r>
            <a:endParaRPr sz="1000" b="0" i="0">
              <a:solidFill>
                <a:srgbClr val="57635D"/>
              </a:solidFill>
              <a:latin typeface="Cairo"/>
              <a:cs typeface="Cairo"/>
            </a:endParaRPr>
          </a:p>
        </p:txBody>
      </p:sp>
      <p:cxnSp>
        <p:nvCxnSpPr>
          <p:cNvPr id="34" name="Connector 33"/>
          <p:cNvCxnSpPr/>
          <p:nvPr/>
        </p:nvCxnSpPr>
        <p:spPr>
          <a:xfrm>
            <a:off x="624535" y="3154680"/>
            <a:ext cx="6355080" cy="0"/>
          </a:xfrm>
          <a:prstGeom prst="line">
            <a:avLst/>
          </a:prstGeom>
          <a:ln w="9525">
            <a:solidFill>
              <a:srgbClr val="D9D2C6"/>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4783226" y="3209544"/>
            <a:ext cx="2196388" cy="566928"/>
          </a:xfrm>
          <a:prstGeom prst="rect">
            <a:avLst/>
          </a:prstGeom>
          <a:noFill/>
        </p:spPr>
        <p:txBody>
          <a:bodyPr wrap="square" lIns="0" tIns="0" rIns="0" bIns="0" anchor="t">
            <a:spAutoFit/>
          </a:bodyPr>
          <a:lstStyle/>
          <a:p>
            <a:pPr algn="r" rtl="1">
              <a:lnSpc>
                <a:spcPct val="130000"/>
              </a:lnSpc>
            </a:pPr>
            <a:r>
              <a:rPr sz="1000" b="1" i="0">
                <a:solidFill>
                  <a:srgbClr val="1C1B1B"/>
                </a:solidFill>
                <a:latin typeface="Cairo"/>
                <a:cs typeface="Cairo"/>
              </a:rPr>
              <a:t>سوق خدمات محلية</a:t>
            </a:r>
            <a:endParaRPr sz="1000" b="1" i="0">
              <a:solidFill>
                <a:srgbClr val="1C1B1B"/>
              </a:solidFill>
              <a:latin typeface="Cairo"/>
              <a:cs typeface="Cairo"/>
            </a:endParaRPr>
          </a:p>
        </p:txBody>
      </p:sp>
      <p:sp>
        <p:nvSpPr>
          <p:cNvPr id="36" name="TextBox 35"/>
          <p:cNvSpPr txBox="1"/>
          <p:nvPr/>
        </p:nvSpPr>
        <p:spPr>
          <a:xfrm>
            <a:off x="3766413" y="3209544"/>
            <a:ext cx="925372" cy="566928"/>
          </a:xfrm>
          <a:prstGeom prst="rect">
            <a:avLst/>
          </a:prstGeom>
          <a:noFill/>
        </p:spPr>
        <p:txBody>
          <a:bodyPr wrap="square" lIns="0" tIns="0" rIns="0" bIns="0" anchor="t">
            <a:spAutoFit/>
          </a:bodyPr>
          <a:lstStyle/>
          <a:p>
            <a:pPr algn="r" rtl="1">
              <a:lnSpc>
                <a:spcPct val="130000"/>
              </a:lnSpc>
            </a:pPr>
            <a:r>
              <a:rPr sz="1000" b="0" i="0">
                <a:solidFill>
                  <a:srgbClr val="0D7A5F"/>
                </a:solidFill>
                <a:latin typeface="Cairo"/>
                <a:cs typeface="Cairo"/>
              </a:rPr>
              <a:t>نعم</a:t>
            </a:r>
            <a:endParaRPr sz="1000" b="0" i="0">
              <a:solidFill>
                <a:srgbClr val="0D7A5F"/>
              </a:solidFill>
              <a:latin typeface="Cairo"/>
              <a:cs typeface="Cairo"/>
            </a:endParaRPr>
          </a:p>
        </p:txBody>
      </p:sp>
      <p:sp>
        <p:nvSpPr>
          <p:cNvPr id="37" name="TextBox 36"/>
          <p:cNvSpPr txBox="1"/>
          <p:nvPr/>
        </p:nvSpPr>
        <p:spPr>
          <a:xfrm>
            <a:off x="2749600" y="3209544"/>
            <a:ext cx="925372" cy="566928"/>
          </a:xfrm>
          <a:prstGeom prst="rect">
            <a:avLst/>
          </a:prstGeom>
          <a:noFill/>
        </p:spPr>
        <p:txBody>
          <a:bodyPr wrap="square" lIns="0" tIns="0" rIns="0" bIns="0" anchor="t">
            <a:spAutoFit/>
          </a:bodyPr>
          <a:lstStyle/>
          <a:p>
            <a:pPr algn="r" rtl="1">
              <a:lnSpc>
                <a:spcPct val="130000"/>
              </a:lnSpc>
            </a:pPr>
            <a:r>
              <a:rPr sz="1000" b="0" i="0">
                <a:solidFill>
                  <a:srgbClr val="57635D"/>
                </a:solidFill>
                <a:latin typeface="Cairo"/>
                <a:cs typeface="Cairo"/>
              </a:rPr>
              <a:t>لا</a:t>
            </a:r>
            <a:endParaRPr sz="1000" b="0" i="0">
              <a:solidFill>
                <a:srgbClr val="57635D"/>
              </a:solidFill>
              <a:latin typeface="Cairo"/>
              <a:cs typeface="Cairo"/>
            </a:endParaRPr>
          </a:p>
        </p:txBody>
      </p:sp>
      <p:sp>
        <p:nvSpPr>
          <p:cNvPr id="38" name="TextBox 37"/>
          <p:cNvSpPr txBox="1"/>
          <p:nvPr/>
        </p:nvSpPr>
        <p:spPr>
          <a:xfrm>
            <a:off x="1732788" y="3209544"/>
            <a:ext cx="925372" cy="566928"/>
          </a:xfrm>
          <a:prstGeom prst="rect">
            <a:avLst/>
          </a:prstGeom>
          <a:noFill/>
        </p:spPr>
        <p:txBody>
          <a:bodyPr wrap="square" lIns="0" tIns="0" rIns="0" bIns="0" anchor="t">
            <a:spAutoFit/>
          </a:bodyPr>
          <a:lstStyle/>
          <a:p>
            <a:pPr algn="r" rtl="1">
              <a:lnSpc>
                <a:spcPct val="130000"/>
              </a:lnSpc>
            </a:pPr>
            <a:r>
              <a:rPr sz="1000" b="0" i="0">
                <a:solidFill>
                  <a:srgbClr val="57635D"/>
                </a:solidFill>
                <a:latin typeface="Cairo"/>
                <a:cs typeface="Cairo"/>
              </a:rPr>
              <a:t>لا</a:t>
            </a:r>
            <a:endParaRPr sz="1000" b="0" i="0">
              <a:solidFill>
                <a:srgbClr val="57635D"/>
              </a:solidFill>
              <a:latin typeface="Cairo"/>
              <a:cs typeface="Cairo"/>
            </a:endParaRPr>
          </a:p>
        </p:txBody>
      </p:sp>
      <p:sp>
        <p:nvSpPr>
          <p:cNvPr id="39" name="TextBox 38"/>
          <p:cNvSpPr txBox="1"/>
          <p:nvPr/>
        </p:nvSpPr>
        <p:spPr>
          <a:xfrm>
            <a:off x="715975" y="3209544"/>
            <a:ext cx="925372" cy="566928"/>
          </a:xfrm>
          <a:prstGeom prst="rect">
            <a:avLst/>
          </a:prstGeom>
          <a:noFill/>
        </p:spPr>
        <p:txBody>
          <a:bodyPr wrap="square" lIns="0" tIns="0" rIns="0" bIns="0" anchor="t">
            <a:spAutoFit/>
          </a:bodyPr>
          <a:lstStyle/>
          <a:p>
            <a:pPr algn="r" rtl="1">
              <a:lnSpc>
                <a:spcPct val="130000"/>
              </a:lnSpc>
            </a:pPr>
            <a:r>
              <a:rPr sz="1000" b="0" i="0">
                <a:solidFill>
                  <a:srgbClr val="57635D"/>
                </a:solidFill>
                <a:latin typeface="Cairo"/>
                <a:cs typeface="Cairo"/>
              </a:rPr>
              <a:t>لا</a:t>
            </a:r>
            <a:endParaRPr sz="1000" b="0" i="0">
              <a:solidFill>
                <a:srgbClr val="57635D"/>
              </a:solidFill>
              <a:latin typeface="Cairo"/>
              <a:cs typeface="Cairo"/>
            </a:endParaRPr>
          </a:p>
        </p:txBody>
      </p:sp>
      <p:cxnSp>
        <p:nvCxnSpPr>
          <p:cNvPr id="40" name="Connector 39"/>
          <p:cNvCxnSpPr/>
          <p:nvPr/>
        </p:nvCxnSpPr>
        <p:spPr>
          <a:xfrm>
            <a:off x="624535" y="3721608"/>
            <a:ext cx="6355080" cy="0"/>
          </a:xfrm>
          <a:prstGeom prst="line">
            <a:avLst/>
          </a:prstGeom>
          <a:ln w="9525">
            <a:solidFill>
              <a:srgbClr val="D9D2C6"/>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4783226" y="3776472"/>
            <a:ext cx="2196388" cy="566928"/>
          </a:xfrm>
          <a:prstGeom prst="rect">
            <a:avLst/>
          </a:prstGeom>
          <a:noFill/>
        </p:spPr>
        <p:txBody>
          <a:bodyPr wrap="square" lIns="0" tIns="0" rIns="0" bIns="0" anchor="t">
            <a:spAutoFit/>
          </a:bodyPr>
          <a:lstStyle/>
          <a:p>
            <a:pPr algn="r" rtl="1">
              <a:lnSpc>
                <a:spcPct val="130000"/>
              </a:lnSpc>
            </a:pPr>
            <a:r>
              <a:rPr sz="1000" b="1" i="0">
                <a:solidFill>
                  <a:srgbClr val="1C1B1B"/>
                </a:solidFill>
                <a:latin typeface="Cairo"/>
                <a:cs typeface="Cairo"/>
              </a:rPr>
              <a:t>إدخال عرض موثّق</a:t>
            </a:r>
            <a:endParaRPr sz="1000" b="1" i="0">
              <a:solidFill>
                <a:srgbClr val="1C1B1B"/>
              </a:solidFill>
              <a:latin typeface="Cairo"/>
              <a:cs typeface="Cairo"/>
            </a:endParaRPr>
          </a:p>
        </p:txBody>
      </p:sp>
      <p:sp>
        <p:nvSpPr>
          <p:cNvPr id="42" name="TextBox 41"/>
          <p:cNvSpPr txBox="1"/>
          <p:nvPr/>
        </p:nvSpPr>
        <p:spPr>
          <a:xfrm>
            <a:off x="3766413" y="3776472"/>
            <a:ext cx="925372" cy="566928"/>
          </a:xfrm>
          <a:prstGeom prst="rect">
            <a:avLst/>
          </a:prstGeom>
          <a:noFill/>
        </p:spPr>
        <p:txBody>
          <a:bodyPr wrap="square" lIns="0" tIns="0" rIns="0" bIns="0" anchor="t">
            <a:spAutoFit/>
          </a:bodyPr>
          <a:lstStyle/>
          <a:p>
            <a:pPr algn="r" rtl="1">
              <a:lnSpc>
                <a:spcPct val="130000"/>
              </a:lnSpc>
            </a:pPr>
            <a:r>
              <a:rPr sz="1000" b="0" i="0">
                <a:solidFill>
                  <a:srgbClr val="0D7A5F"/>
                </a:solidFill>
                <a:latin typeface="Cairo"/>
                <a:cs typeface="Cairo"/>
              </a:rPr>
              <a:t>نعم</a:t>
            </a:r>
            <a:endParaRPr sz="1000" b="0" i="0">
              <a:solidFill>
                <a:srgbClr val="0D7A5F"/>
              </a:solidFill>
              <a:latin typeface="Cairo"/>
              <a:cs typeface="Cairo"/>
            </a:endParaRPr>
          </a:p>
        </p:txBody>
      </p:sp>
      <p:sp>
        <p:nvSpPr>
          <p:cNvPr id="43" name="TextBox 42"/>
          <p:cNvSpPr txBox="1"/>
          <p:nvPr/>
        </p:nvSpPr>
        <p:spPr>
          <a:xfrm>
            <a:off x="2749600" y="3776472"/>
            <a:ext cx="925372" cy="566928"/>
          </a:xfrm>
          <a:prstGeom prst="rect">
            <a:avLst/>
          </a:prstGeom>
          <a:noFill/>
        </p:spPr>
        <p:txBody>
          <a:bodyPr wrap="square" lIns="0" tIns="0" rIns="0" bIns="0" anchor="t">
            <a:spAutoFit/>
          </a:bodyPr>
          <a:lstStyle/>
          <a:p>
            <a:pPr algn="r" rtl="1">
              <a:lnSpc>
                <a:spcPct val="130000"/>
              </a:lnSpc>
            </a:pPr>
            <a:r>
              <a:rPr sz="1000" b="0" i="0">
                <a:solidFill>
                  <a:srgbClr val="0D7A5F"/>
                </a:solidFill>
                <a:latin typeface="Cairo"/>
                <a:cs typeface="Cairo"/>
              </a:rPr>
              <a:t>نعم</a:t>
            </a:r>
            <a:endParaRPr sz="1000" b="0" i="0">
              <a:solidFill>
                <a:srgbClr val="0D7A5F"/>
              </a:solidFill>
              <a:latin typeface="Cairo"/>
              <a:cs typeface="Cairo"/>
            </a:endParaRPr>
          </a:p>
        </p:txBody>
      </p:sp>
      <p:sp>
        <p:nvSpPr>
          <p:cNvPr id="44" name="TextBox 43"/>
          <p:cNvSpPr txBox="1"/>
          <p:nvPr/>
        </p:nvSpPr>
        <p:spPr>
          <a:xfrm>
            <a:off x="1732788" y="3776472"/>
            <a:ext cx="925372" cy="566928"/>
          </a:xfrm>
          <a:prstGeom prst="rect">
            <a:avLst/>
          </a:prstGeom>
          <a:noFill/>
        </p:spPr>
        <p:txBody>
          <a:bodyPr wrap="square" lIns="0" tIns="0" rIns="0" bIns="0" anchor="t">
            <a:spAutoFit/>
          </a:bodyPr>
          <a:lstStyle/>
          <a:p>
            <a:pPr algn="r" rtl="1">
              <a:lnSpc>
                <a:spcPct val="130000"/>
              </a:lnSpc>
            </a:pPr>
            <a:r>
              <a:rPr sz="1000" b="0" i="0">
                <a:solidFill>
                  <a:srgbClr val="57635D"/>
                </a:solidFill>
                <a:latin typeface="Cairo"/>
                <a:cs typeface="Cairo"/>
              </a:rPr>
              <a:t>لا</a:t>
            </a:r>
            <a:endParaRPr sz="1000" b="0" i="0">
              <a:solidFill>
                <a:srgbClr val="57635D"/>
              </a:solidFill>
              <a:latin typeface="Cairo"/>
              <a:cs typeface="Cairo"/>
            </a:endParaRPr>
          </a:p>
        </p:txBody>
      </p:sp>
      <p:sp>
        <p:nvSpPr>
          <p:cNvPr id="45" name="TextBox 44"/>
          <p:cNvSpPr txBox="1"/>
          <p:nvPr/>
        </p:nvSpPr>
        <p:spPr>
          <a:xfrm>
            <a:off x="715975" y="3776472"/>
            <a:ext cx="925372" cy="566928"/>
          </a:xfrm>
          <a:prstGeom prst="rect">
            <a:avLst/>
          </a:prstGeom>
          <a:noFill/>
        </p:spPr>
        <p:txBody>
          <a:bodyPr wrap="square" lIns="0" tIns="0" rIns="0" bIns="0" anchor="t">
            <a:spAutoFit/>
          </a:bodyPr>
          <a:lstStyle/>
          <a:p>
            <a:pPr algn="r" rtl="1">
              <a:lnSpc>
                <a:spcPct val="130000"/>
              </a:lnSpc>
            </a:pPr>
            <a:r>
              <a:rPr sz="1000" b="0" i="0">
                <a:solidFill>
                  <a:srgbClr val="0D7A5F"/>
                </a:solidFill>
                <a:latin typeface="Cairo"/>
                <a:cs typeface="Cairo"/>
              </a:rPr>
              <a:t>نعم</a:t>
            </a:r>
            <a:endParaRPr sz="1000" b="0" i="0">
              <a:solidFill>
                <a:srgbClr val="0D7A5F"/>
              </a:solidFill>
              <a:latin typeface="Cairo"/>
              <a:cs typeface="Cairo"/>
            </a:endParaRPr>
          </a:p>
        </p:txBody>
      </p:sp>
      <p:cxnSp>
        <p:nvCxnSpPr>
          <p:cNvPr id="46" name="Connector 45"/>
          <p:cNvCxnSpPr/>
          <p:nvPr/>
        </p:nvCxnSpPr>
        <p:spPr>
          <a:xfrm>
            <a:off x="624535" y="4288536"/>
            <a:ext cx="6355080" cy="0"/>
          </a:xfrm>
          <a:prstGeom prst="line">
            <a:avLst/>
          </a:prstGeom>
          <a:ln w="9525">
            <a:solidFill>
              <a:srgbClr val="D9D2C6"/>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4783226" y="4343400"/>
            <a:ext cx="2196388" cy="566928"/>
          </a:xfrm>
          <a:prstGeom prst="rect">
            <a:avLst/>
          </a:prstGeom>
          <a:noFill/>
        </p:spPr>
        <p:txBody>
          <a:bodyPr wrap="square" lIns="0" tIns="0" rIns="0" bIns="0" anchor="t">
            <a:spAutoFit/>
          </a:bodyPr>
          <a:lstStyle/>
          <a:p>
            <a:pPr algn="r" rtl="1">
              <a:lnSpc>
                <a:spcPct val="130000"/>
              </a:lnSpc>
            </a:pPr>
            <a:r>
              <a:rPr sz="1000" b="1" i="0">
                <a:solidFill>
                  <a:srgbClr val="1C1B1B"/>
                </a:solidFill>
                <a:latin typeface="Cairo"/>
                <a:cs typeface="Cairo"/>
              </a:rPr>
              <a:t>معاينات غامرة (خارطة الطريق)</a:t>
            </a:r>
            <a:endParaRPr sz="1000" b="1" i="0">
              <a:solidFill>
                <a:srgbClr val="1C1B1B"/>
              </a:solidFill>
              <a:latin typeface="Cairo"/>
              <a:cs typeface="Cairo"/>
            </a:endParaRPr>
          </a:p>
        </p:txBody>
      </p:sp>
      <p:sp>
        <p:nvSpPr>
          <p:cNvPr id="48" name="TextBox 47"/>
          <p:cNvSpPr txBox="1"/>
          <p:nvPr/>
        </p:nvSpPr>
        <p:spPr>
          <a:xfrm>
            <a:off x="3766413" y="4343400"/>
            <a:ext cx="925372" cy="566928"/>
          </a:xfrm>
          <a:prstGeom prst="rect">
            <a:avLst/>
          </a:prstGeom>
          <a:noFill/>
        </p:spPr>
        <p:txBody>
          <a:bodyPr wrap="square" lIns="0" tIns="0" rIns="0" bIns="0" anchor="t">
            <a:spAutoFit/>
          </a:bodyPr>
          <a:lstStyle/>
          <a:p>
            <a:pPr algn="r" rtl="1">
              <a:lnSpc>
                <a:spcPct val="130000"/>
              </a:lnSpc>
            </a:pPr>
            <a:r>
              <a:rPr sz="1000" b="0" i="0">
                <a:solidFill>
                  <a:srgbClr val="0D7A5F"/>
                </a:solidFill>
                <a:latin typeface="Cairo"/>
                <a:cs typeface="Cairo"/>
              </a:rPr>
              <a:t>قيد البناء</a:t>
            </a:r>
            <a:endParaRPr sz="1000" b="0" i="0">
              <a:solidFill>
                <a:srgbClr val="0D7A5F"/>
              </a:solidFill>
              <a:latin typeface="Cairo"/>
              <a:cs typeface="Cairo"/>
            </a:endParaRPr>
          </a:p>
        </p:txBody>
      </p:sp>
      <p:sp>
        <p:nvSpPr>
          <p:cNvPr id="49" name="TextBox 48"/>
          <p:cNvSpPr txBox="1"/>
          <p:nvPr/>
        </p:nvSpPr>
        <p:spPr>
          <a:xfrm>
            <a:off x="2749600" y="4343400"/>
            <a:ext cx="925372" cy="566928"/>
          </a:xfrm>
          <a:prstGeom prst="rect">
            <a:avLst/>
          </a:prstGeom>
          <a:noFill/>
        </p:spPr>
        <p:txBody>
          <a:bodyPr wrap="square" lIns="0" tIns="0" rIns="0" bIns="0" anchor="t">
            <a:spAutoFit/>
          </a:bodyPr>
          <a:lstStyle/>
          <a:p>
            <a:pPr algn="r" rtl="1">
              <a:lnSpc>
                <a:spcPct val="130000"/>
              </a:lnSpc>
            </a:pPr>
            <a:r>
              <a:rPr sz="1000" b="0" i="0">
                <a:solidFill>
                  <a:srgbClr val="57635D"/>
                </a:solidFill>
                <a:latin typeface="Cairo"/>
                <a:cs typeface="Cairo"/>
              </a:rPr>
              <a:t>لا</a:t>
            </a:r>
            <a:endParaRPr sz="1000" b="0" i="0">
              <a:solidFill>
                <a:srgbClr val="57635D"/>
              </a:solidFill>
              <a:latin typeface="Cairo"/>
              <a:cs typeface="Cairo"/>
            </a:endParaRPr>
          </a:p>
        </p:txBody>
      </p:sp>
      <p:sp>
        <p:nvSpPr>
          <p:cNvPr id="50" name="TextBox 49"/>
          <p:cNvSpPr txBox="1"/>
          <p:nvPr/>
        </p:nvSpPr>
        <p:spPr>
          <a:xfrm>
            <a:off x="1732788" y="4343400"/>
            <a:ext cx="925372" cy="566928"/>
          </a:xfrm>
          <a:prstGeom prst="rect">
            <a:avLst/>
          </a:prstGeom>
          <a:noFill/>
        </p:spPr>
        <p:txBody>
          <a:bodyPr wrap="square" lIns="0" tIns="0" rIns="0" bIns="0" anchor="t">
            <a:spAutoFit/>
          </a:bodyPr>
          <a:lstStyle/>
          <a:p>
            <a:pPr algn="r" rtl="1">
              <a:lnSpc>
                <a:spcPct val="130000"/>
              </a:lnSpc>
            </a:pPr>
            <a:r>
              <a:rPr sz="1000" b="0" i="0">
                <a:solidFill>
                  <a:srgbClr val="57635D"/>
                </a:solidFill>
                <a:latin typeface="Cairo"/>
                <a:cs typeface="Cairo"/>
              </a:rPr>
              <a:t>مستوى الشارع</a:t>
            </a:r>
            <a:endParaRPr sz="1000" b="0" i="0">
              <a:solidFill>
                <a:srgbClr val="57635D"/>
              </a:solidFill>
              <a:latin typeface="Cairo"/>
              <a:cs typeface="Cairo"/>
            </a:endParaRPr>
          </a:p>
        </p:txBody>
      </p:sp>
      <p:sp>
        <p:nvSpPr>
          <p:cNvPr id="51" name="TextBox 50"/>
          <p:cNvSpPr txBox="1"/>
          <p:nvPr/>
        </p:nvSpPr>
        <p:spPr>
          <a:xfrm>
            <a:off x="715975" y="4343400"/>
            <a:ext cx="925372" cy="566928"/>
          </a:xfrm>
          <a:prstGeom prst="rect">
            <a:avLst/>
          </a:prstGeom>
          <a:noFill/>
        </p:spPr>
        <p:txBody>
          <a:bodyPr wrap="square" lIns="0" tIns="0" rIns="0" bIns="0" anchor="t">
            <a:spAutoFit/>
          </a:bodyPr>
          <a:lstStyle/>
          <a:p>
            <a:pPr algn="r" rtl="1">
              <a:lnSpc>
                <a:spcPct val="130000"/>
              </a:lnSpc>
            </a:pPr>
            <a:r>
              <a:rPr sz="1000" b="0" i="0">
                <a:solidFill>
                  <a:srgbClr val="57635D"/>
                </a:solidFill>
                <a:latin typeface="Cairo"/>
                <a:cs typeface="Cairo"/>
              </a:rPr>
              <a:t>لا</a:t>
            </a:r>
            <a:endParaRPr sz="1000" b="0" i="0">
              <a:solidFill>
                <a:srgbClr val="57635D"/>
              </a:solidFill>
              <a:latin typeface="Cairo"/>
              <a:cs typeface="Cairo"/>
            </a:endParaRPr>
          </a:p>
        </p:txBody>
      </p:sp>
      <p:cxnSp>
        <p:nvCxnSpPr>
          <p:cNvPr id="52" name="Connector 51"/>
          <p:cNvCxnSpPr/>
          <p:nvPr/>
        </p:nvCxnSpPr>
        <p:spPr>
          <a:xfrm>
            <a:off x="624535" y="4855464"/>
            <a:ext cx="6355080" cy="0"/>
          </a:xfrm>
          <a:prstGeom prst="line">
            <a:avLst/>
          </a:prstGeom>
          <a:ln w="9525">
            <a:solidFill>
              <a:srgbClr val="D9D2C6"/>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4783226" y="4910328"/>
            <a:ext cx="2196388" cy="566928"/>
          </a:xfrm>
          <a:prstGeom prst="rect">
            <a:avLst/>
          </a:prstGeom>
          <a:noFill/>
        </p:spPr>
        <p:txBody>
          <a:bodyPr wrap="square" lIns="0" tIns="0" rIns="0" bIns="0" anchor="t">
            <a:spAutoFit/>
          </a:bodyPr>
          <a:lstStyle/>
          <a:p>
            <a:pPr algn="r" rtl="1">
              <a:lnSpc>
                <a:spcPct val="130000"/>
              </a:lnSpc>
            </a:pPr>
            <a:r>
              <a:rPr sz="1000" b="1" i="0">
                <a:solidFill>
                  <a:srgbClr val="1C1B1B"/>
                </a:solidFill>
                <a:latin typeface="Cairo"/>
                <a:cs typeface="Cairo"/>
              </a:rPr>
              <a:t>عمق المنطقة الشرقية</a:t>
            </a:r>
            <a:endParaRPr sz="1000" b="1" i="0">
              <a:solidFill>
                <a:srgbClr val="1C1B1B"/>
              </a:solidFill>
              <a:latin typeface="Cairo"/>
              <a:cs typeface="Cairo"/>
            </a:endParaRPr>
          </a:p>
        </p:txBody>
      </p:sp>
      <p:sp>
        <p:nvSpPr>
          <p:cNvPr id="54" name="TextBox 53"/>
          <p:cNvSpPr txBox="1"/>
          <p:nvPr/>
        </p:nvSpPr>
        <p:spPr>
          <a:xfrm>
            <a:off x="3766413" y="4910328"/>
            <a:ext cx="925372" cy="566928"/>
          </a:xfrm>
          <a:prstGeom prst="rect">
            <a:avLst/>
          </a:prstGeom>
          <a:noFill/>
        </p:spPr>
        <p:txBody>
          <a:bodyPr wrap="square" lIns="0" tIns="0" rIns="0" bIns="0" anchor="t">
            <a:spAutoFit/>
          </a:bodyPr>
          <a:lstStyle/>
          <a:p>
            <a:pPr algn="r" rtl="1">
              <a:lnSpc>
                <a:spcPct val="130000"/>
              </a:lnSpc>
            </a:pPr>
            <a:r>
              <a:rPr sz="1000" b="0" i="0">
                <a:solidFill>
                  <a:srgbClr val="0D7A5F"/>
                </a:solidFill>
                <a:latin typeface="Cairo"/>
                <a:cs typeface="Cairo"/>
              </a:rPr>
              <a:t>السوق الأم</a:t>
            </a:r>
            <a:endParaRPr sz="1000" b="0" i="0">
              <a:solidFill>
                <a:srgbClr val="0D7A5F"/>
              </a:solidFill>
              <a:latin typeface="Cairo"/>
              <a:cs typeface="Cairo"/>
            </a:endParaRPr>
          </a:p>
        </p:txBody>
      </p:sp>
      <p:sp>
        <p:nvSpPr>
          <p:cNvPr id="55" name="TextBox 54"/>
          <p:cNvSpPr txBox="1"/>
          <p:nvPr/>
        </p:nvSpPr>
        <p:spPr>
          <a:xfrm>
            <a:off x="2749600" y="4910328"/>
            <a:ext cx="925372" cy="566928"/>
          </a:xfrm>
          <a:prstGeom prst="rect">
            <a:avLst/>
          </a:prstGeom>
          <a:noFill/>
        </p:spPr>
        <p:txBody>
          <a:bodyPr wrap="square" lIns="0" tIns="0" rIns="0" bIns="0" anchor="t">
            <a:spAutoFit/>
          </a:bodyPr>
          <a:lstStyle/>
          <a:p>
            <a:pPr algn="r" rtl="1">
              <a:lnSpc>
                <a:spcPct val="130000"/>
              </a:lnSpc>
            </a:pPr>
            <a:r>
              <a:rPr sz="1000" b="0" i="0">
                <a:solidFill>
                  <a:srgbClr val="57635D"/>
                </a:solidFill>
                <a:latin typeface="Cairo"/>
                <a:cs typeface="Cairo"/>
              </a:rPr>
              <a:t>ضعيف</a:t>
            </a:r>
            <a:endParaRPr sz="1000" b="0" i="0">
              <a:solidFill>
                <a:srgbClr val="57635D"/>
              </a:solidFill>
              <a:latin typeface="Cairo"/>
              <a:cs typeface="Cairo"/>
            </a:endParaRPr>
          </a:p>
        </p:txBody>
      </p:sp>
      <p:sp>
        <p:nvSpPr>
          <p:cNvPr id="56" name="TextBox 55"/>
          <p:cNvSpPr txBox="1"/>
          <p:nvPr/>
        </p:nvSpPr>
        <p:spPr>
          <a:xfrm>
            <a:off x="1732788" y="4910328"/>
            <a:ext cx="925372" cy="566928"/>
          </a:xfrm>
          <a:prstGeom prst="rect">
            <a:avLst/>
          </a:prstGeom>
          <a:noFill/>
        </p:spPr>
        <p:txBody>
          <a:bodyPr wrap="square" lIns="0" tIns="0" rIns="0" bIns="0" anchor="t">
            <a:spAutoFit/>
          </a:bodyPr>
          <a:lstStyle/>
          <a:p>
            <a:pPr algn="r" rtl="1">
              <a:lnSpc>
                <a:spcPct val="130000"/>
              </a:lnSpc>
            </a:pPr>
            <a:r>
              <a:rPr sz="1000" b="0" i="0">
                <a:solidFill>
                  <a:srgbClr val="57635D"/>
                </a:solidFill>
                <a:latin typeface="Cairo"/>
                <a:cs typeface="Cairo"/>
              </a:rPr>
              <a:t>ضعيف</a:t>
            </a:r>
            <a:endParaRPr sz="1000" b="0" i="0">
              <a:solidFill>
                <a:srgbClr val="57635D"/>
              </a:solidFill>
              <a:latin typeface="Cairo"/>
              <a:cs typeface="Cairo"/>
            </a:endParaRPr>
          </a:p>
        </p:txBody>
      </p:sp>
      <p:sp>
        <p:nvSpPr>
          <p:cNvPr id="57" name="TextBox 56"/>
          <p:cNvSpPr txBox="1"/>
          <p:nvPr/>
        </p:nvSpPr>
        <p:spPr>
          <a:xfrm>
            <a:off x="715975" y="4910328"/>
            <a:ext cx="925372" cy="566928"/>
          </a:xfrm>
          <a:prstGeom prst="rect">
            <a:avLst/>
          </a:prstGeom>
          <a:noFill/>
        </p:spPr>
        <p:txBody>
          <a:bodyPr wrap="square" lIns="0" tIns="0" rIns="0" bIns="0" anchor="t">
            <a:spAutoFit/>
          </a:bodyPr>
          <a:lstStyle/>
          <a:p>
            <a:pPr algn="r" rtl="1">
              <a:lnSpc>
                <a:spcPct val="130000"/>
              </a:lnSpc>
            </a:pPr>
            <a:r>
              <a:rPr sz="1000" b="0" i="0">
                <a:solidFill>
                  <a:srgbClr val="57635D"/>
                </a:solidFill>
                <a:latin typeface="Cairo"/>
                <a:cs typeface="Cairo"/>
              </a:rPr>
              <a:t>يركّز على الرياض</a:t>
            </a:r>
            <a:endParaRPr sz="1000" b="0" i="0">
              <a:solidFill>
                <a:srgbClr val="57635D"/>
              </a:solidFill>
              <a:latin typeface="Cairo"/>
              <a:cs typeface="Cairo"/>
            </a:endParaRPr>
          </a:p>
        </p:txBody>
      </p:sp>
      <p:cxnSp>
        <p:nvCxnSpPr>
          <p:cNvPr id="58" name="Connector 57"/>
          <p:cNvCxnSpPr/>
          <p:nvPr/>
        </p:nvCxnSpPr>
        <p:spPr>
          <a:xfrm>
            <a:off x="624535" y="5422392"/>
            <a:ext cx="6355080" cy="0"/>
          </a:xfrm>
          <a:prstGeom prst="line">
            <a:avLst/>
          </a:prstGeom>
          <a:ln w="9525">
            <a:solidFill>
              <a:srgbClr val="D9D2C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C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63847" y="457200"/>
            <a:ext cx="7315200" cy="292608"/>
          </a:xfrm>
          <a:prstGeom prst="rect">
            <a:avLst/>
          </a:prstGeom>
          <a:noFill/>
        </p:spPr>
        <p:txBody>
          <a:bodyPr wrap="square" lIns="0" tIns="0" rIns="0" bIns="0" anchor="t">
            <a:spAutoFit/>
          </a:bodyPr>
          <a:lstStyle/>
          <a:p>
            <a:pPr algn="r" rtl="1">
              <a:lnSpc>
                <a:spcPct val="115000"/>
              </a:lnSpc>
            </a:pPr>
            <a:r>
              <a:rPr sz="1050" b="1" i="0">
                <a:solidFill>
                  <a:srgbClr val="0D7A5F"/>
                </a:solidFill>
                <a:latin typeface="Cairo"/>
                <a:cs typeface="Cairo"/>
              </a:rPr>
              <a:t>خارطة الطريق</a:t>
            </a:r>
            <a:endParaRPr sz="1050" b="1" i="0">
              <a:solidFill>
                <a:srgbClr val="0D7A5F"/>
              </a:solidFill>
              <a:latin typeface="Cairo"/>
              <a:cs typeface="Cairo"/>
            </a:endParaRPr>
          </a:p>
        </p:txBody>
      </p:sp>
      <p:sp>
        <p:nvSpPr>
          <p:cNvPr id="4" name="TextBox 3"/>
          <p:cNvSpPr txBox="1"/>
          <p:nvPr/>
        </p:nvSpPr>
        <p:spPr>
          <a:xfrm>
            <a:off x="612647" y="475488"/>
            <a:ext cx="1828800" cy="274320"/>
          </a:xfrm>
          <a:prstGeom prst="rect">
            <a:avLst/>
          </a:prstGeom>
          <a:noFill/>
        </p:spPr>
        <p:txBody>
          <a:bodyPr wrap="square" lIns="0" tIns="0" rIns="0" bIns="0" anchor="t">
            <a:spAutoFit/>
          </a:bodyPr>
          <a:lstStyle/>
          <a:p>
            <a:pPr algn="l" rtl="0">
              <a:lnSpc>
                <a:spcPct val="115000"/>
              </a:lnSpc>
            </a:pPr>
            <a:r>
              <a:rPr sz="950" b="0" i="0" spc="100">
                <a:solidFill>
                  <a:srgbClr val="57635D"/>
                </a:solidFill>
                <a:latin typeface="Cairo"/>
                <a:cs typeface="Cairo"/>
              </a:rPr>
              <a:t>12 / 14</a:t>
            </a:r>
            <a:endParaRPr sz="950" b="0" i="0" spc="100">
              <a:solidFill>
                <a:srgbClr val="57635D"/>
              </a:solidFill>
              <a:latin typeface="Cairo"/>
              <a:cs typeface="Cairo"/>
            </a:endParaRPr>
          </a:p>
        </p:txBody>
      </p:sp>
      <p:cxnSp>
        <p:nvCxnSpPr>
          <p:cNvPr id="5" name="Connector 4"/>
          <p:cNvCxnSpPr/>
          <p:nvPr/>
        </p:nvCxnSpPr>
        <p:spPr>
          <a:xfrm>
            <a:off x="612647" y="822960"/>
            <a:ext cx="10966400" cy="0"/>
          </a:xfrm>
          <a:prstGeom prst="line">
            <a:avLst/>
          </a:prstGeom>
          <a:ln w="9525">
            <a:solidFill>
              <a:srgbClr val="D9D2C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921447" y="6364224"/>
            <a:ext cx="3657600" cy="256032"/>
          </a:xfrm>
          <a:prstGeom prst="rect">
            <a:avLst/>
          </a:prstGeom>
          <a:noFill/>
        </p:spPr>
        <p:txBody>
          <a:bodyPr wrap="square" lIns="0" tIns="0" rIns="0" bIns="0" anchor="t">
            <a:spAutoFit/>
          </a:bodyPr>
          <a:lstStyle/>
          <a:p>
            <a:pPr algn="r" rtl="0">
              <a:lnSpc>
                <a:spcPct val="115000"/>
              </a:lnSpc>
            </a:pPr>
            <a:r>
              <a:rPr sz="900" b="1" i="0">
                <a:solidFill>
                  <a:srgbClr val="57635D"/>
                </a:solidFill>
                <a:latin typeface="Cairo"/>
                <a:cs typeface="Cairo"/>
              </a:rPr>
              <a:t>Hasio</a:t>
            </a:r>
            <a:endParaRPr sz="900" b="1" i="0">
              <a:solidFill>
                <a:srgbClr val="57635D"/>
              </a:solidFill>
              <a:latin typeface="Cairo"/>
              <a:cs typeface="Cairo"/>
            </a:endParaRPr>
          </a:p>
        </p:txBody>
      </p:sp>
      <p:sp>
        <p:nvSpPr>
          <p:cNvPr id="7" name="TextBox 6"/>
          <p:cNvSpPr txBox="1"/>
          <p:nvPr/>
        </p:nvSpPr>
        <p:spPr>
          <a:xfrm>
            <a:off x="612647" y="6364224"/>
            <a:ext cx="3657600" cy="256032"/>
          </a:xfrm>
          <a:prstGeom prst="rect">
            <a:avLst/>
          </a:prstGeom>
          <a:noFill/>
        </p:spPr>
        <p:txBody>
          <a:bodyPr wrap="square" lIns="0" tIns="0" rIns="0" bIns="0" anchor="t">
            <a:spAutoFit/>
          </a:bodyPr>
          <a:lstStyle/>
          <a:p>
            <a:pPr algn="l" rtl="1">
              <a:lnSpc>
                <a:spcPct val="115000"/>
              </a:lnSpc>
            </a:pPr>
            <a:r>
              <a:rPr sz="900" b="0" i="0">
                <a:solidFill>
                  <a:srgbClr val="57635D"/>
                </a:solidFill>
                <a:latin typeface="Cairo"/>
                <a:cs typeface="Cairo"/>
              </a:rPr>
              <a:t>خارطة الطريق</a:t>
            </a:r>
            <a:endParaRPr sz="900" b="0" i="0">
              <a:solidFill>
                <a:srgbClr val="57635D"/>
              </a:solidFill>
              <a:latin typeface="Cairo"/>
              <a:cs typeface="Cairo"/>
            </a:endParaRPr>
          </a:p>
        </p:txBody>
      </p:sp>
      <p:sp>
        <p:nvSpPr>
          <p:cNvPr id="8" name="TextBox 7"/>
          <p:cNvSpPr txBox="1"/>
          <p:nvPr/>
        </p:nvSpPr>
        <p:spPr>
          <a:xfrm>
            <a:off x="5909767" y="1097280"/>
            <a:ext cx="5669280" cy="822960"/>
          </a:xfrm>
          <a:prstGeom prst="rect">
            <a:avLst/>
          </a:prstGeom>
          <a:noFill/>
        </p:spPr>
        <p:txBody>
          <a:bodyPr wrap="square" lIns="0" tIns="0" rIns="0" bIns="0" anchor="t">
            <a:spAutoFit/>
          </a:bodyPr>
          <a:lstStyle/>
          <a:p>
            <a:pPr algn="r" rtl="1">
              <a:lnSpc>
                <a:spcPct val="120000"/>
              </a:lnSpc>
            </a:pPr>
            <a:r>
              <a:rPr sz="2600" b="1" i="0">
                <a:solidFill>
                  <a:srgbClr val="1C1B1B"/>
                </a:solidFill>
                <a:latin typeface="Cairo"/>
                <a:cs typeface="Cairo"/>
              </a:rPr>
              <a:t>من الدليل، إلى السوق، إلى الحضور.</a:t>
            </a:r>
            <a:endParaRPr sz="2600" b="1" i="0">
              <a:solidFill>
                <a:srgbClr val="1C1B1B"/>
              </a:solidFill>
              <a:latin typeface="Cairo"/>
              <a:cs typeface="Cairo"/>
            </a:endParaRPr>
          </a:p>
        </p:txBody>
      </p:sp>
      <p:sp>
        <p:nvSpPr>
          <p:cNvPr id="9" name="TextBox 8"/>
          <p:cNvSpPr txBox="1"/>
          <p:nvPr/>
        </p:nvSpPr>
        <p:spPr>
          <a:xfrm>
            <a:off x="624535" y="1188720"/>
            <a:ext cx="4983480" cy="1005840"/>
          </a:xfrm>
          <a:prstGeom prst="rect">
            <a:avLst/>
          </a:prstGeom>
          <a:noFill/>
        </p:spPr>
        <p:txBody>
          <a:bodyPr wrap="square" lIns="0" tIns="0" rIns="0" bIns="0" anchor="t">
            <a:spAutoFit/>
          </a:bodyPr>
          <a:lstStyle/>
          <a:p>
            <a:pPr algn="r" rtl="1">
              <a:lnSpc>
                <a:spcPct val="145000"/>
              </a:lnSpc>
            </a:pPr>
            <a:r>
              <a:rPr sz="1150" b="0" i="0">
                <a:solidFill>
                  <a:srgbClr val="57635D"/>
                </a:solidFill>
                <a:latin typeface="Cairo"/>
                <a:cs typeface="Cairo"/>
              </a:rPr>
              <a:t>كل مرحلة تموّل التي تليها: الدليل يكسب الثقة، والحجوزات تكسب الإيراد، والإيراد يكسب برنامج الالتقاط الذي يجعل Hasio مستحيل النسخ.</a:t>
            </a:r>
            <a:endParaRPr sz="1150" b="0" i="0">
              <a:solidFill>
                <a:srgbClr val="57635D"/>
              </a:solidFill>
              <a:latin typeface="Cairo"/>
              <a:cs typeface="Cairo"/>
            </a:endParaRPr>
          </a:p>
        </p:txBody>
      </p:sp>
      <p:cxnSp>
        <p:nvCxnSpPr>
          <p:cNvPr id="10" name="Connector 9"/>
          <p:cNvCxnSpPr/>
          <p:nvPr/>
        </p:nvCxnSpPr>
        <p:spPr>
          <a:xfrm>
            <a:off x="612647" y="2697480"/>
            <a:ext cx="10966400" cy="0"/>
          </a:xfrm>
          <a:prstGeom prst="line">
            <a:avLst/>
          </a:prstGeom>
          <a:ln w="9525">
            <a:solidFill>
              <a:srgbClr val="D9D2C6"/>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1441887" y="2633472"/>
            <a:ext cx="137160" cy="137160"/>
          </a:xfrm>
          <a:prstGeom prst="ellipse">
            <a:avLst/>
          </a:prstGeom>
          <a:solidFill>
            <a:srgbClr val="A88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08897" y="2880360"/>
            <a:ext cx="2570149" cy="274320"/>
          </a:xfrm>
          <a:prstGeom prst="rect">
            <a:avLst/>
          </a:prstGeom>
          <a:noFill/>
        </p:spPr>
        <p:txBody>
          <a:bodyPr wrap="square" lIns="0" tIns="0" rIns="0" bIns="0" anchor="t">
            <a:spAutoFit/>
          </a:bodyPr>
          <a:lstStyle/>
          <a:p>
            <a:pPr algn="r" rtl="1">
              <a:lnSpc>
                <a:spcPct val="115000"/>
              </a:lnSpc>
            </a:pPr>
            <a:r>
              <a:rPr sz="950" b="1" i="0">
                <a:solidFill>
                  <a:srgbClr val="57635D"/>
                </a:solidFill>
                <a:latin typeface="Cairo"/>
                <a:cs typeface="Cairo"/>
              </a:rPr>
              <a:t>الآن · 2026</a:t>
            </a:r>
            <a:endParaRPr sz="950" b="1" i="0">
              <a:solidFill>
                <a:srgbClr val="57635D"/>
              </a:solidFill>
              <a:latin typeface="Cairo"/>
              <a:cs typeface="Cairo"/>
            </a:endParaRPr>
          </a:p>
        </p:txBody>
      </p:sp>
      <p:sp>
        <p:nvSpPr>
          <p:cNvPr id="13" name="TextBox 12"/>
          <p:cNvSpPr txBox="1"/>
          <p:nvPr/>
        </p:nvSpPr>
        <p:spPr>
          <a:xfrm>
            <a:off x="9008897" y="3200400"/>
            <a:ext cx="2570149" cy="777240"/>
          </a:xfrm>
          <a:prstGeom prst="rect">
            <a:avLst/>
          </a:prstGeom>
          <a:noFill/>
        </p:spPr>
        <p:txBody>
          <a:bodyPr wrap="square" lIns="0" tIns="0" rIns="0" bIns="0" anchor="t">
            <a:spAutoFit/>
          </a:bodyPr>
          <a:lstStyle/>
          <a:p>
            <a:pPr algn="r" rtl="1">
              <a:lnSpc>
                <a:spcPct val="115000"/>
              </a:lnSpc>
            </a:pPr>
            <a:r>
              <a:rPr sz="1600" b="1" i="0">
                <a:solidFill>
                  <a:srgbClr val="1C1B1B"/>
                </a:solidFill>
                <a:latin typeface="Cairo"/>
                <a:cs typeface="Cairo"/>
              </a:rPr>
              <a:t>الدليل، متاح</a:t>
            </a:r>
            <a:endParaRPr sz="1600" b="1" i="0">
              <a:solidFill>
                <a:srgbClr val="1C1B1B"/>
              </a:solidFill>
              <a:latin typeface="Cairo"/>
              <a:cs typeface="Cairo"/>
            </a:endParaRPr>
          </a:p>
        </p:txBody>
      </p:sp>
      <p:sp>
        <p:nvSpPr>
          <p:cNvPr id="14" name="TextBox 13"/>
          <p:cNvSpPr txBox="1"/>
          <p:nvPr/>
        </p:nvSpPr>
        <p:spPr>
          <a:xfrm>
            <a:off x="9008897" y="4023360"/>
            <a:ext cx="2570149" cy="2194560"/>
          </a:xfrm>
          <a:prstGeom prst="rect">
            <a:avLst/>
          </a:prstGeom>
          <a:noFill/>
        </p:spPr>
        <p:txBody>
          <a:bodyPr wrap="square" lIns="0" tIns="0" rIns="0" bIns="0" anchor="t">
            <a:spAutoFit/>
          </a:bodyPr>
          <a:lstStyle/>
          <a:p>
            <a:pPr algn="r" rtl="1">
              <a:lnSpc>
                <a:spcPct val="145000"/>
              </a:lnSpc>
            </a:pPr>
            <a:r>
              <a:rPr sz="1050" b="0" i="0">
                <a:solidFill>
                  <a:srgbClr val="57635D"/>
                </a:solidFill>
                <a:latin typeface="Cairo"/>
                <a:cs typeface="Cairo"/>
              </a:rPr>
              <a:t>الإصدار الأول في المتجرين. دليل ومخطِّط ذكي ورحلات وحجوزات وسوق خدمات في 13 مدينة بالمنطقة الشرقية. عمليات الإدارة جاهزة. الوكيل الصوتي «أبشر» يعمل على الموقع.</a:t>
            </a:r>
            <a:endParaRPr sz="1050" b="0" i="0">
              <a:solidFill>
                <a:srgbClr val="57635D"/>
              </a:solidFill>
              <a:latin typeface="Cairo"/>
              <a:cs typeface="Cairo"/>
            </a:endParaRPr>
          </a:p>
        </p:txBody>
      </p:sp>
      <p:sp>
        <p:nvSpPr>
          <p:cNvPr id="15" name="Oval 14"/>
          <p:cNvSpPr/>
          <p:nvPr/>
        </p:nvSpPr>
        <p:spPr>
          <a:xfrm>
            <a:off x="8643137" y="2633472"/>
            <a:ext cx="137160" cy="137160"/>
          </a:xfrm>
          <a:prstGeom prst="ellipse">
            <a:avLst/>
          </a:prstGeom>
          <a:solidFill>
            <a:srgbClr val="0D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0147" y="2880360"/>
            <a:ext cx="2570149" cy="274320"/>
          </a:xfrm>
          <a:prstGeom prst="rect">
            <a:avLst/>
          </a:prstGeom>
          <a:noFill/>
        </p:spPr>
        <p:txBody>
          <a:bodyPr wrap="square" lIns="0" tIns="0" rIns="0" bIns="0" anchor="t">
            <a:spAutoFit/>
          </a:bodyPr>
          <a:lstStyle/>
          <a:p>
            <a:pPr algn="r" rtl="1">
              <a:lnSpc>
                <a:spcPct val="115000"/>
              </a:lnSpc>
            </a:pPr>
            <a:r>
              <a:rPr sz="950" b="1" i="0">
                <a:solidFill>
                  <a:srgbClr val="57635D"/>
                </a:solidFill>
                <a:latin typeface="Cairo"/>
                <a:cs typeface="Cairo"/>
              </a:rPr>
              <a:t>الأشهر 6 القادمة</a:t>
            </a:r>
            <a:endParaRPr sz="950" b="1" i="0">
              <a:solidFill>
                <a:srgbClr val="57635D"/>
              </a:solidFill>
              <a:latin typeface="Cairo"/>
              <a:cs typeface="Cairo"/>
            </a:endParaRPr>
          </a:p>
        </p:txBody>
      </p:sp>
      <p:sp>
        <p:nvSpPr>
          <p:cNvPr id="17" name="TextBox 16"/>
          <p:cNvSpPr txBox="1"/>
          <p:nvPr/>
        </p:nvSpPr>
        <p:spPr>
          <a:xfrm>
            <a:off x="6210147" y="3200400"/>
            <a:ext cx="2570149" cy="777240"/>
          </a:xfrm>
          <a:prstGeom prst="rect">
            <a:avLst/>
          </a:prstGeom>
          <a:noFill/>
        </p:spPr>
        <p:txBody>
          <a:bodyPr wrap="square" lIns="0" tIns="0" rIns="0" bIns="0" anchor="t">
            <a:spAutoFit/>
          </a:bodyPr>
          <a:lstStyle/>
          <a:p>
            <a:pPr algn="r" rtl="1">
              <a:lnSpc>
                <a:spcPct val="115000"/>
              </a:lnSpc>
            </a:pPr>
            <a:r>
              <a:rPr sz="1600" b="1" i="0">
                <a:solidFill>
                  <a:srgbClr val="1C1B1B"/>
                </a:solidFill>
                <a:latin typeface="Cairo"/>
                <a:cs typeface="Cairo"/>
              </a:rPr>
              <a:t>السوق والمدفوعات</a:t>
            </a:r>
            <a:endParaRPr sz="1600" b="1" i="0">
              <a:solidFill>
                <a:srgbClr val="1C1B1B"/>
              </a:solidFill>
              <a:latin typeface="Cairo"/>
              <a:cs typeface="Cairo"/>
            </a:endParaRPr>
          </a:p>
        </p:txBody>
      </p:sp>
      <p:sp>
        <p:nvSpPr>
          <p:cNvPr id="18" name="TextBox 17"/>
          <p:cNvSpPr txBox="1"/>
          <p:nvPr/>
        </p:nvSpPr>
        <p:spPr>
          <a:xfrm>
            <a:off x="6210147" y="4023360"/>
            <a:ext cx="2570149" cy="2194560"/>
          </a:xfrm>
          <a:prstGeom prst="rect">
            <a:avLst/>
          </a:prstGeom>
          <a:noFill/>
        </p:spPr>
        <p:txBody>
          <a:bodyPr wrap="square" lIns="0" tIns="0" rIns="0" bIns="0" anchor="t">
            <a:spAutoFit/>
          </a:bodyPr>
          <a:lstStyle/>
          <a:p>
            <a:pPr algn="r" rtl="1">
              <a:lnSpc>
                <a:spcPct val="145000"/>
              </a:lnSpc>
            </a:pPr>
            <a:r>
              <a:rPr sz="1050" b="0" i="0">
                <a:solidFill>
                  <a:srgbClr val="57635D"/>
                </a:solidFill>
                <a:latin typeface="Cairo"/>
                <a:cs typeface="Cairo"/>
              </a:rPr>
              <a:t>إقامات مسعّرة وحجوزات مدفوعة، ومدفوعات لمقدّمي الخدمات، وتقييمات، واشتراكات الظهور المميّز. المرشد الصوتي في التطبيق. أول 300 منشأة ومقدّم خدمة موثّق عبر فريق ميداني.</a:t>
            </a:r>
            <a:endParaRPr sz="1050" b="0" i="0">
              <a:solidFill>
                <a:srgbClr val="57635D"/>
              </a:solidFill>
              <a:latin typeface="Cairo"/>
              <a:cs typeface="Cairo"/>
            </a:endParaRPr>
          </a:p>
        </p:txBody>
      </p:sp>
      <p:sp>
        <p:nvSpPr>
          <p:cNvPr id="19" name="Oval 18"/>
          <p:cNvSpPr/>
          <p:nvPr/>
        </p:nvSpPr>
        <p:spPr>
          <a:xfrm>
            <a:off x="5844387" y="2633472"/>
            <a:ext cx="137160" cy="137160"/>
          </a:xfrm>
          <a:prstGeom prst="ellipse">
            <a:avLst/>
          </a:prstGeom>
          <a:solidFill>
            <a:srgbClr val="0D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11397" y="2880360"/>
            <a:ext cx="2570149" cy="274320"/>
          </a:xfrm>
          <a:prstGeom prst="rect">
            <a:avLst/>
          </a:prstGeom>
          <a:noFill/>
        </p:spPr>
        <p:txBody>
          <a:bodyPr wrap="square" lIns="0" tIns="0" rIns="0" bIns="0" anchor="t">
            <a:spAutoFit/>
          </a:bodyPr>
          <a:lstStyle/>
          <a:p>
            <a:pPr algn="r" rtl="1">
              <a:lnSpc>
                <a:spcPct val="115000"/>
              </a:lnSpc>
            </a:pPr>
            <a:r>
              <a:rPr sz="950" b="1" i="0">
                <a:solidFill>
                  <a:srgbClr val="57635D"/>
                </a:solidFill>
                <a:latin typeface="Cairo"/>
                <a:cs typeface="Cairo"/>
              </a:rPr>
              <a:t>الأشهر 6 إلى 18</a:t>
            </a:r>
            <a:endParaRPr sz="950" b="1" i="0">
              <a:solidFill>
                <a:srgbClr val="57635D"/>
              </a:solidFill>
              <a:latin typeface="Cairo"/>
              <a:cs typeface="Cairo"/>
            </a:endParaRPr>
          </a:p>
        </p:txBody>
      </p:sp>
      <p:sp>
        <p:nvSpPr>
          <p:cNvPr id="21" name="TextBox 20"/>
          <p:cNvSpPr txBox="1"/>
          <p:nvPr/>
        </p:nvSpPr>
        <p:spPr>
          <a:xfrm>
            <a:off x="3411397" y="3200400"/>
            <a:ext cx="2570149" cy="777240"/>
          </a:xfrm>
          <a:prstGeom prst="rect">
            <a:avLst/>
          </a:prstGeom>
          <a:noFill/>
        </p:spPr>
        <p:txBody>
          <a:bodyPr wrap="square" lIns="0" tIns="0" rIns="0" bIns="0" anchor="t">
            <a:spAutoFit/>
          </a:bodyPr>
          <a:lstStyle/>
          <a:p>
            <a:pPr algn="r" rtl="1">
              <a:lnSpc>
                <a:spcPct val="115000"/>
              </a:lnSpc>
            </a:pPr>
            <a:r>
              <a:rPr sz="1600" b="1" i="0">
                <a:solidFill>
                  <a:srgbClr val="1C1B1B"/>
                </a:solidFill>
                <a:latin typeface="Cairo"/>
                <a:cs typeface="Cairo"/>
              </a:rPr>
              <a:t>اشعر بالمكان قبل أن تذهب</a:t>
            </a:r>
            <a:endParaRPr sz="1600" b="1" i="0">
              <a:solidFill>
                <a:srgbClr val="1C1B1B"/>
              </a:solidFill>
              <a:latin typeface="Cairo"/>
              <a:cs typeface="Cairo"/>
            </a:endParaRPr>
          </a:p>
        </p:txBody>
      </p:sp>
      <p:sp>
        <p:nvSpPr>
          <p:cNvPr id="22" name="TextBox 21"/>
          <p:cNvSpPr txBox="1"/>
          <p:nvPr/>
        </p:nvSpPr>
        <p:spPr>
          <a:xfrm>
            <a:off x="3411397" y="4023360"/>
            <a:ext cx="2570149" cy="2194560"/>
          </a:xfrm>
          <a:prstGeom prst="rect">
            <a:avLst/>
          </a:prstGeom>
          <a:noFill/>
        </p:spPr>
        <p:txBody>
          <a:bodyPr wrap="square" lIns="0" tIns="0" rIns="0" bIns="0" anchor="t">
            <a:spAutoFit/>
          </a:bodyPr>
          <a:lstStyle/>
          <a:p>
            <a:pPr algn="r" rtl="1">
              <a:lnSpc>
                <a:spcPct val="145000"/>
              </a:lnSpc>
            </a:pPr>
            <a:r>
              <a:rPr sz="1050" b="0" i="0">
                <a:solidFill>
                  <a:srgbClr val="57635D"/>
                </a:solidFill>
                <a:latin typeface="Cairo"/>
                <a:cs typeface="Cairo"/>
              </a:rPr>
              <a:t>معاينات واقع معزّز على الهاتف: غرف وأفنية ومواقع ممسوحة لأفضل 100 إدراج. الالتقاط خدمة مدفوعة للمنشآت. التوسع إلى الرياض والمنطقة الغربية بنموذج المدن نفسه.</a:t>
            </a:r>
            <a:endParaRPr sz="1050" b="0" i="0">
              <a:solidFill>
                <a:srgbClr val="57635D"/>
              </a:solidFill>
              <a:latin typeface="Cairo"/>
              <a:cs typeface="Cairo"/>
            </a:endParaRPr>
          </a:p>
        </p:txBody>
      </p:sp>
      <p:sp>
        <p:nvSpPr>
          <p:cNvPr id="23" name="Oval 22"/>
          <p:cNvSpPr/>
          <p:nvPr/>
        </p:nvSpPr>
        <p:spPr>
          <a:xfrm>
            <a:off x="3045637" y="2633472"/>
            <a:ext cx="137160" cy="137160"/>
          </a:xfrm>
          <a:prstGeom prst="ellipse">
            <a:avLst/>
          </a:prstGeom>
          <a:solidFill>
            <a:srgbClr val="0D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2648" y="2880360"/>
            <a:ext cx="2570149" cy="274320"/>
          </a:xfrm>
          <a:prstGeom prst="rect">
            <a:avLst/>
          </a:prstGeom>
          <a:noFill/>
        </p:spPr>
        <p:txBody>
          <a:bodyPr wrap="square" lIns="0" tIns="0" rIns="0" bIns="0" anchor="t">
            <a:spAutoFit/>
          </a:bodyPr>
          <a:lstStyle/>
          <a:p>
            <a:pPr algn="r" rtl="1">
              <a:lnSpc>
                <a:spcPct val="115000"/>
              </a:lnSpc>
            </a:pPr>
            <a:r>
              <a:rPr sz="950" b="1" i="0">
                <a:solidFill>
                  <a:srgbClr val="57635D"/>
                </a:solidFill>
                <a:latin typeface="Cairo"/>
                <a:cs typeface="Cairo"/>
              </a:rPr>
              <a:t>الأشهر 18 إلى 36</a:t>
            </a:r>
            <a:endParaRPr sz="950" b="1" i="0">
              <a:solidFill>
                <a:srgbClr val="57635D"/>
              </a:solidFill>
              <a:latin typeface="Cairo"/>
              <a:cs typeface="Cairo"/>
            </a:endParaRPr>
          </a:p>
        </p:txBody>
      </p:sp>
      <p:sp>
        <p:nvSpPr>
          <p:cNvPr id="25" name="TextBox 24"/>
          <p:cNvSpPr txBox="1"/>
          <p:nvPr/>
        </p:nvSpPr>
        <p:spPr>
          <a:xfrm>
            <a:off x="612648" y="3200400"/>
            <a:ext cx="2570149" cy="777240"/>
          </a:xfrm>
          <a:prstGeom prst="rect">
            <a:avLst/>
          </a:prstGeom>
          <a:noFill/>
        </p:spPr>
        <p:txBody>
          <a:bodyPr wrap="square" lIns="0" tIns="0" rIns="0" bIns="0" anchor="t">
            <a:spAutoFit/>
          </a:bodyPr>
          <a:lstStyle/>
          <a:p>
            <a:pPr algn="r" rtl="1">
              <a:lnSpc>
                <a:spcPct val="115000"/>
              </a:lnSpc>
            </a:pPr>
            <a:r>
              <a:rPr sz="1600" b="1" i="0">
                <a:solidFill>
                  <a:srgbClr val="1C1B1B"/>
                </a:solidFill>
                <a:latin typeface="Cairo"/>
                <a:cs typeface="Cairo"/>
              </a:rPr>
              <a:t>الحضور</a:t>
            </a:r>
            <a:endParaRPr sz="1600" b="1" i="0">
              <a:solidFill>
                <a:srgbClr val="1C1B1B"/>
              </a:solidFill>
              <a:latin typeface="Cairo"/>
              <a:cs typeface="Cairo"/>
            </a:endParaRPr>
          </a:p>
        </p:txBody>
      </p:sp>
      <p:sp>
        <p:nvSpPr>
          <p:cNvPr id="26" name="TextBox 25"/>
          <p:cNvSpPr txBox="1"/>
          <p:nvPr/>
        </p:nvSpPr>
        <p:spPr>
          <a:xfrm>
            <a:off x="612648" y="4023360"/>
            <a:ext cx="2570149" cy="2194560"/>
          </a:xfrm>
          <a:prstGeom prst="rect">
            <a:avLst/>
          </a:prstGeom>
          <a:noFill/>
        </p:spPr>
        <p:txBody>
          <a:bodyPr wrap="square" lIns="0" tIns="0" rIns="0" bIns="0" anchor="t">
            <a:spAutoFit/>
          </a:bodyPr>
          <a:lstStyle/>
          <a:p>
            <a:pPr algn="r" rtl="1">
              <a:lnSpc>
                <a:spcPct val="145000"/>
              </a:lnSpc>
            </a:pPr>
            <a:r>
              <a:rPr sz="1050" b="0" i="0">
                <a:solidFill>
                  <a:srgbClr val="57635D"/>
                </a:solidFill>
                <a:latin typeface="Cairo"/>
                <a:cs typeface="Cairo"/>
              </a:rPr>
              <a:t>معاينات واقع افتراضي بنظارات، وفهرس يغطي المملكة. شراكات وجهات، ومخطِّط بعلامة بيضاء لهيئات السياحة ومجموعات الفنادق. Hasio طبقة الحضور للسفر السعودي.</a:t>
            </a:r>
            <a:endParaRPr sz="1050" b="0" i="0">
              <a:solidFill>
                <a:srgbClr val="57635D"/>
              </a:solidFill>
              <a:latin typeface="Cairo"/>
              <a:cs typeface="Cair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065F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63847" y="457200"/>
            <a:ext cx="7315200" cy="292608"/>
          </a:xfrm>
          <a:prstGeom prst="rect">
            <a:avLst/>
          </a:prstGeom>
          <a:noFill/>
        </p:spPr>
        <p:txBody>
          <a:bodyPr wrap="square" lIns="0" tIns="0" rIns="0" bIns="0" anchor="t">
            <a:spAutoFit/>
          </a:bodyPr>
          <a:lstStyle/>
          <a:p>
            <a:pPr algn="r" rtl="1">
              <a:lnSpc>
                <a:spcPct val="115000"/>
              </a:lnSpc>
            </a:pPr>
            <a:r>
              <a:rPr sz="1050" b="1" i="0">
                <a:solidFill>
                  <a:srgbClr val="8FDCC0"/>
                </a:solidFill>
                <a:latin typeface="Cairo"/>
                <a:cs typeface="Cairo"/>
              </a:rPr>
              <a:t>القادم · المعاينات الغامرة</a:t>
            </a:r>
            <a:endParaRPr sz="1050" b="1" i="0">
              <a:solidFill>
                <a:srgbClr val="8FDCC0"/>
              </a:solidFill>
              <a:latin typeface="Cairo"/>
              <a:cs typeface="Cairo"/>
            </a:endParaRPr>
          </a:p>
        </p:txBody>
      </p:sp>
      <p:sp>
        <p:nvSpPr>
          <p:cNvPr id="4" name="TextBox 3"/>
          <p:cNvSpPr txBox="1"/>
          <p:nvPr/>
        </p:nvSpPr>
        <p:spPr>
          <a:xfrm>
            <a:off x="612647" y="475488"/>
            <a:ext cx="1828800" cy="274320"/>
          </a:xfrm>
          <a:prstGeom prst="rect">
            <a:avLst/>
          </a:prstGeom>
          <a:noFill/>
        </p:spPr>
        <p:txBody>
          <a:bodyPr wrap="square" lIns="0" tIns="0" rIns="0" bIns="0" anchor="t">
            <a:spAutoFit/>
          </a:bodyPr>
          <a:lstStyle/>
          <a:p>
            <a:pPr algn="l" rtl="0">
              <a:lnSpc>
                <a:spcPct val="115000"/>
              </a:lnSpc>
            </a:pPr>
            <a:r>
              <a:rPr sz="950" b="0" i="0" spc="100">
                <a:solidFill>
                  <a:srgbClr val="CFE0D7"/>
                </a:solidFill>
                <a:latin typeface="Cairo"/>
                <a:cs typeface="Cairo"/>
              </a:rPr>
              <a:t>13 / 14</a:t>
            </a:r>
            <a:endParaRPr sz="950" b="0" i="0" spc="100">
              <a:solidFill>
                <a:srgbClr val="CFE0D7"/>
              </a:solidFill>
              <a:latin typeface="Cairo"/>
              <a:cs typeface="Cairo"/>
            </a:endParaRPr>
          </a:p>
        </p:txBody>
      </p:sp>
      <p:cxnSp>
        <p:nvCxnSpPr>
          <p:cNvPr id="5" name="Connector 4"/>
          <p:cNvCxnSpPr/>
          <p:nvPr/>
        </p:nvCxnSpPr>
        <p:spPr>
          <a:xfrm>
            <a:off x="612647" y="822960"/>
            <a:ext cx="10966400" cy="0"/>
          </a:xfrm>
          <a:prstGeom prst="line">
            <a:avLst/>
          </a:prstGeom>
          <a:ln w="9525">
            <a:solidFill>
              <a:srgbClr val="3E7A6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921447" y="6364224"/>
            <a:ext cx="3657600" cy="256032"/>
          </a:xfrm>
          <a:prstGeom prst="rect">
            <a:avLst/>
          </a:prstGeom>
          <a:noFill/>
        </p:spPr>
        <p:txBody>
          <a:bodyPr wrap="square" lIns="0" tIns="0" rIns="0" bIns="0" anchor="t">
            <a:spAutoFit/>
          </a:bodyPr>
          <a:lstStyle/>
          <a:p>
            <a:pPr algn="r" rtl="0">
              <a:lnSpc>
                <a:spcPct val="115000"/>
              </a:lnSpc>
            </a:pPr>
            <a:r>
              <a:rPr sz="900" b="1" i="0">
                <a:solidFill>
                  <a:srgbClr val="CFE0D7"/>
                </a:solidFill>
                <a:latin typeface="Cairo"/>
                <a:cs typeface="Cairo"/>
              </a:rPr>
              <a:t>Hasio</a:t>
            </a:r>
            <a:endParaRPr sz="900" b="1" i="0">
              <a:solidFill>
                <a:srgbClr val="CFE0D7"/>
              </a:solidFill>
              <a:latin typeface="Cairo"/>
              <a:cs typeface="Cairo"/>
            </a:endParaRPr>
          </a:p>
        </p:txBody>
      </p:sp>
      <p:sp>
        <p:nvSpPr>
          <p:cNvPr id="7" name="TextBox 6"/>
          <p:cNvSpPr txBox="1"/>
          <p:nvPr/>
        </p:nvSpPr>
        <p:spPr>
          <a:xfrm>
            <a:off x="612647" y="6364224"/>
            <a:ext cx="3657600" cy="256032"/>
          </a:xfrm>
          <a:prstGeom prst="rect">
            <a:avLst/>
          </a:prstGeom>
          <a:noFill/>
        </p:spPr>
        <p:txBody>
          <a:bodyPr wrap="square" lIns="0" tIns="0" rIns="0" bIns="0" anchor="t">
            <a:spAutoFit/>
          </a:bodyPr>
          <a:lstStyle/>
          <a:p>
            <a:pPr algn="l" rtl="1">
              <a:lnSpc>
                <a:spcPct val="115000"/>
              </a:lnSpc>
            </a:pPr>
            <a:r>
              <a:rPr sz="900" b="0" i="0">
                <a:solidFill>
                  <a:srgbClr val="CFE0D7"/>
                </a:solidFill>
                <a:latin typeface="Cairo"/>
                <a:cs typeface="Cairo"/>
              </a:rPr>
              <a:t>القادم</a:t>
            </a:r>
            <a:endParaRPr sz="900" b="0" i="0">
              <a:solidFill>
                <a:srgbClr val="CFE0D7"/>
              </a:solidFill>
              <a:latin typeface="Cairo"/>
              <a:cs typeface="Cairo"/>
            </a:endParaRPr>
          </a:p>
        </p:txBody>
      </p:sp>
      <p:sp>
        <p:nvSpPr>
          <p:cNvPr id="8" name="TextBox 7"/>
          <p:cNvSpPr txBox="1"/>
          <p:nvPr/>
        </p:nvSpPr>
        <p:spPr>
          <a:xfrm>
            <a:off x="6092647" y="1097280"/>
            <a:ext cx="5486400" cy="731520"/>
          </a:xfrm>
          <a:prstGeom prst="rect">
            <a:avLst/>
          </a:prstGeom>
          <a:noFill/>
        </p:spPr>
        <p:txBody>
          <a:bodyPr wrap="square" lIns="0" tIns="0" rIns="0" bIns="0" anchor="t">
            <a:spAutoFit/>
          </a:bodyPr>
          <a:lstStyle/>
          <a:p>
            <a:pPr algn="r" rtl="1">
              <a:lnSpc>
                <a:spcPct val="120000"/>
              </a:lnSpc>
            </a:pPr>
            <a:r>
              <a:rPr sz="2800" b="1" i="0">
                <a:solidFill>
                  <a:srgbClr val="F4F1EA"/>
                </a:solidFill>
                <a:latin typeface="Cairo"/>
                <a:cs typeface="Cairo"/>
              </a:rPr>
              <a:t>ادخل قبل أن تسجّل الوصول.</a:t>
            </a:r>
            <a:endParaRPr sz="2800" b="1" i="0">
              <a:solidFill>
                <a:srgbClr val="F4F1EA"/>
              </a:solidFill>
              <a:latin typeface="Cairo"/>
              <a:cs typeface="Cairo"/>
            </a:endParaRPr>
          </a:p>
        </p:txBody>
      </p:sp>
      <p:sp>
        <p:nvSpPr>
          <p:cNvPr id="9" name="TextBox 8"/>
          <p:cNvSpPr txBox="1"/>
          <p:nvPr/>
        </p:nvSpPr>
        <p:spPr>
          <a:xfrm>
            <a:off x="6458407" y="2011680"/>
            <a:ext cx="5120640" cy="1280160"/>
          </a:xfrm>
          <a:prstGeom prst="rect">
            <a:avLst/>
          </a:prstGeom>
          <a:noFill/>
        </p:spPr>
        <p:txBody>
          <a:bodyPr wrap="square" lIns="0" tIns="0" rIns="0" bIns="0" anchor="t">
            <a:spAutoFit/>
          </a:bodyPr>
          <a:lstStyle/>
          <a:p>
            <a:pPr algn="r" rtl="1">
              <a:lnSpc>
                <a:spcPct val="150000"/>
              </a:lnSpc>
            </a:pPr>
            <a:r>
              <a:rPr sz="1300" b="0" i="0">
                <a:solidFill>
                  <a:srgbClr val="F4F1EA"/>
                </a:solidFill>
                <a:latin typeface="Cairo"/>
                <a:cs typeface="Cairo"/>
              </a:rPr>
              <a:t>تختار فندقاً من بضع صور اليوم ولا تعرف حقيقته إلا عند الوصول. المعاينات الغامرة تزيل هذا التخمين من غرفة معيشتك. الهاتف أولاً، ثم النظارة.</a:t>
            </a:r>
            <a:endParaRPr sz="1300" b="0" i="0">
              <a:solidFill>
                <a:srgbClr val="F4F1EA"/>
              </a:solidFill>
              <a:latin typeface="Cairo"/>
              <a:cs typeface="Cairo"/>
            </a:endParaRPr>
          </a:p>
        </p:txBody>
      </p:sp>
      <p:sp>
        <p:nvSpPr>
          <p:cNvPr id="10" name="Oval 9"/>
          <p:cNvSpPr/>
          <p:nvPr/>
        </p:nvSpPr>
        <p:spPr>
          <a:xfrm>
            <a:off x="11487607" y="3529584"/>
            <a:ext cx="91440" cy="91440"/>
          </a:xfrm>
          <a:prstGeom prst="ellipse">
            <a:avLst/>
          </a:prstGeom>
          <a:solidFill>
            <a:srgbClr val="E2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58407" y="3429000"/>
            <a:ext cx="4892040" cy="566928"/>
          </a:xfrm>
          <a:prstGeom prst="rect">
            <a:avLst/>
          </a:prstGeom>
          <a:noFill/>
        </p:spPr>
        <p:txBody>
          <a:bodyPr wrap="square" lIns="0" tIns="0" rIns="0" bIns="0" anchor="t">
            <a:spAutoFit/>
          </a:bodyPr>
          <a:lstStyle/>
          <a:p>
            <a:pPr algn="r" rtl="1">
              <a:lnSpc>
                <a:spcPct val="140000"/>
              </a:lnSpc>
            </a:pPr>
            <a:r>
              <a:rPr sz="1100" b="0" i="0">
                <a:solidFill>
                  <a:srgbClr val="F4F1EA"/>
                </a:solidFill>
                <a:latin typeface="Cairo"/>
                <a:cs typeface="Cairo"/>
              </a:rPr>
              <a:t>التقاط حقيقي لأماكن سعودية حقيقية، لا تصاميم افتراضية. من يلتقط المنطقة أولاً يملك الفهرس أولاً.</a:t>
            </a:r>
            <a:endParaRPr sz="1100" b="0" i="0">
              <a:solidFill>
                <a:srgbClr val="F4F1EA"/>
              </a:solidFill>
              <a:latin typeface="Cairo"/>
              <a:cs typeface="Cairo"/>
            </a:endParaRPr>
          </a:p>
        </p:txBody>
      </p:sp>
      <p:sp>
        <p:nvSpPr>
          <p:cNvPr id="12" name="Oval 11"/>
          <p:cNvSpPr/>
          <p:nvPr/>
        </p:nvSpPr>
        <p:spPr>
          <a:xfrm>
            <a:off x="11487607" y="4096512"/>
            <a:ext cx="91440" cy="91440"/>
          </a:xfrm>
          <a:prstGeom prst="ellipse">
            <a:avLst/>
          </a:prstGeom>
          <a:solidFill>
            <a:srgbClr val="E2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8407" y="3995928"/>
            <a:ext cx="4892040" cy="566928"/>
          </a:xfrm>
          <a:prstGeom prst="rect">
            <a:avLst/>
          </a:prstGeom>
          <a:noFill/>
        </p:spPr>
        <p:txBody>
          <a:bodyPr wrap="square" lIns="0" tIns="0" rIns="0" bIns="0" anchor="t">
            <a:spAutoFit/>
          </a:bodyPr>
          <a:lstStyle/>
          <a:p>
            <a:pPr algn="r" rtl="1">
              <a:lnSpc>
                <a:spcPct val="140000"/>
              </a:lnSpc>
            </a:pPr>
            <a:r>
              <a:rPr sz="1100" b="0" i="0">
                <a:solidFill>
                  <a:srgbClr val="F4F1EA"/>
                </a:solidFill>
                <a:latin typeface="Cairo"/>
                <a:cs typeface="Cairo"/>
              </a:rPr>
              <a:t>منتج مدفوع للمنشآت ورافعة تحويل للحجوزات.</a:t>
            </a:r>
            <a:endParaRPr sz="1100" b="0" i="0">
              <a:solidFill>
                <a:srgbClr val="F4F1EA"/>
              </a:solidFill>
              <a:latin typeface="Cairo"/>
              <a:cs typeface="Cairo"/>
            </a:endParaRPr>
          </a:p>
        </p:txBody>
      </p:sp>
      <p:sp>
        <p:nvSpPr>
          <p:cNvPr id="14" name="Oval 13"/>
          <p:cNvSpPr/>
          <p:nvPr/>
        </p:nvSpPr>
        <p:spPr>
          <a:xfrm>
            <a:off x="11487607" y="4663440"/>
            <a:ext cx="91440" cy="91440"/>
          </a:xfrm>
          <a:prstGeom prst="ellipse">
            <a:avLst/>
          </a:prstGeom>
          <a:solidFill>
            <a:srgbClr val="E2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8407" y="4562856"/>
            <a:ext cx="4892040" cy="566928"/>
          </a:xfrm>
          <a:prstGeom prst="rect">
            <a:avLst/>
          </a:prstGeom>
          <a:noFill/>
        </p:spPr>
        <p:txBody>
          <a:bodyPr wrap="square" lIns="0" tIns="0" rIns="0" bIns="0" anchor="t">
            <a:spAutoFit/>
          </a:bodyPr>
          <a:lstStyle/>
          <a:p>
            <a:pPr algn="r" rtl="1">
              <a:lnSpc>
                <a:spcPct val="140000"/>
              </a:lnSpc>
            </a:pPr>
            <a:r>
              <a:rPr sz="1100" b="0" i="0">
                <a:solidFill>
                  <a:srgbClr val="F4F1EA"/>
                </a:solidFill>
                <a:latin typeface="Cairo"/>
                <a:cs typeface="Cairo"/>
              </a:rPr>
              <a:t>مكتبة مستقلة عن الأجهزة: واقع معزّز على هاتف اليوم، ونظارات الغد، بالمسوحات نفسها.</a:t>
            </a:r>
            <a:endParaRPr sz="1100" b="0" i="0">
              <a:solidFill>
                <a:srgbClr val="F4F1EA"/>
              </a:solidFill>
              <a:latin typeface="Cairo"/>
              <a:cs typeface="Cairo"/>
            </a:endParaRPr>
          </a:p>
        </p:txBody>
      </p:sp>
      <p:sp>
        <p:nvSpPr>
          <p:cNvPr id="16" name="Rectangle 15"/>
          <p:cNvSpPr/>
          <p:nvPr/>
        </p:nvSpPr>
        <p:spPr>
          <a:xfrm>
            <a:off x="11556187" y="5303520"/>
            <a:ext cx="22860" cy="548640"/>
          </a:xfrm>
          <a:prstGeom prst="rect">
            <a:avLst/>
          </a:prstGeom>
          <a:solidFill>
            <a:srgbClr val="E2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58407" y="5303520"/>
            <a:ext cx="4983479" cy="731520"/>
          </a:xfrm>
          <a:prstGeom prst="rect">
            <a:avLst/>
          </a:prstGeom>
          <a:noFill/>
        </p:spPr>
        <p:txBody>
          <a:bodyPr wrap="square" lIns="0" tIns="0" rIns="0" bIns="0" anchor="t">
            <a:spAutoFit/>
          </a:bodyPr>
          <a:lstStyle/>
          <a:p>
            <a:pPr algn="r" rtl="1">
              <a:lnSpc>
                <a:spcPct val="135000"/>
              </a:lnSpc>
            </a:pPr>
            <a:r>
              <a:rPr sz="1000" b="0" i="0">
                <a:solidFill>
                  <a:srgbClr val="CFE0D7"/>
                </a:solidFill>
                <a:latin typeface="Cairo"/>
                <a:cs typeface="Cairo"/>
              </a:rPr>
              <a:t>النظارة المعروضة مفهوم تصميم صناعي، لا منتج معروض للبيع. Hasio شركة برمجيات؛ وشركاء العتاد يتولون الجهاز.</a:t>
            </a:r>
            <a:endParaRPr sz="1000" b="0" i="0">
              <a:solidFill>
                <a:srgbClr val="CFE0D7"/>
              </a:solidFill>
              <a:latin typeface="Cairo"/>
              <a:cs typeface="Cairo"/>
            </a:endParaRPr>
          </a:p>
        </p:txBody>
      </p:sp>
      <p:pic>
        <p:nvPicPr>
          <p:cNvPr id="18" name="Picture 17" descr="presence.png"/>
          <p:cNvPicPr>
            <a:picLocks noChangeAspect="1"/>
          </p:cNvPicPr>
          <p:nvPr/>
        </p:nvPicPr>
        <p:blipFill>
          <a:blip r:embed="rId1"/>
          <a:stretch>
            <a:fillRect/>
          </a:stretch>
        </p:blipFill>
        <p:spPr>
          <a:xfrm>
            <a:off x="624535" y="1097280"/>
            <a:ext cx="4983480" cy="2807208"/>
          </a:xfrm>
          <a:prstGeom prst="rect">
            <a:avLst/>
          </a:prstGeom>
        </p:spPr>
      </p:pic>
      <p:pic>
        <p:nvPicPr>
          <p:cNvPr id="19" name="Picture 18" descr="hfront.png"/>
          <p:cNvPicPr>
            <a:picLocks noChangeAspect="1"/>
          </p:cNvPicPr>
          <p:nvPr/>
        </p:nvPicPr>
        <p:blipFill>
          <a:blip r:embed="rId2"/>
          <a:stretch>
            <a:fillRect/>
          </a:stretch>
        </p:blipFill>
        <p:spPr>
          <a:xfrm>
            <a:off x="4038295" y="4069080"/>
            <a:ext cx="1569720" cy="1569720"/>
          </a:xfrm>
          <a:prstGeom prst="rect">
            <a:avLst/>
          </a:prstGeom>
        </p:spPr>
      </p:pic>
      <p:pic>
        <p:nvPicPr>
          <p:cNvPr id="20" name="Picture 19" descr="hangle.png"/>
          <p:cNvPicPr>
            <a:picLocks noChangeAspect="1"/>
          </p:cNvPicPr>
          <p:nvPr/>
        </p:nvPicPr>
        <p:blipFill>
          <a:blip r:embed="rId3"/>
          <a:stretch>
            <a:fillRect/>
          </a:stretch>
        </p:blipFill>
        <p:spPr>
          <a:xfrm>
            <a:off x="2331415" y="4069080"/>
            <a:ext cx="1569720" cy="1569720"/>
          </a:xfrm>
          <a:prstGeom prst="rect">
            <a:avLst/>
          </a:prstGeom>
        </p:spPr>
      </p:pic>
      <p:pic>
        <p:nvPicPr>
          <p:cNvPr id="21" name="Picture 20" descr="hband.png"/>
          <p:cNvPicPr>
            <a:picLocks noChangeAspect="1"/>
          </p:cNvPicPr>
          <p:nvPr/>
        </p:nvPicPr>
        <p:blipFill>
          <a:blip r:embed="rId4"/>
          <a:stretch>
            <a:fillRect/>
          </a:stretch>
        </p:blipFill>
        <p:spPr>
          <a:xfrm>
            <a:off x="624535" y="4069080"/>
            <a:ext cx="1569720" cy="15697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C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63847" y="457200"/>
            <a:ext cx="7315200" cy="292608"/>
          </a:xfrm>
          <a:prstGeom prst="rect">
            <a:avLst/>
          </a:prstGeom>
          <a:noFill/>
        </p:spPr>
        <p:txBody>
          <a:bodyPr wrap="square" lIns="0" tIns="0" rIns="0" bIns="0" anchor="t">
            <a:spAutoFit/>
          </a:bodyPr>
          <a:lstStyle/>
          <a:p>
            <a:pPr algn="r" rtl="1">
              <a:lnSpc>
                <a:spcPct val="115000"/>
              </a:lnSpc>
            </a:pPr>
            <a:r>
              <a:rPr sz="1050" b="1" i="0">
                <a:solidFill>
                  <a:srgbClr val="0D7A5F"/>
                </a:solidFill>
                <a:latin typeface="Cairo"/>
                <a:cs typeface="Cairo"/>
              </a:rPr>
              <a:t>الطلب</a:t>
            </a:r>
            <a:endParaRPr sz="1050" b="1" i="0">
              <a:solidFill>
                <a:srgbClr val="0D7A5F"/>
              </a:solidFill>
              <a:latin typeface="Cairo"/>
              <a:cs typeface="Cairo"/>
            </a:endParaRPr>
          </a:p>
        </p:txBody>
      </p:sp>
      <p:sp>
        <p:nvSpPr>
          <p:cNvPr id="4" name="TextBox 3"/>
          <p:cNvSpPr txBox="1"/>
          <p:nvPr/>
        </p:nvSpPr>
        <p:spPr>
          <a:xfrm>
            <a:off x="612647" y="475488"/>
            <a:ext cx="1828800" cy="274320"/>
          </a:xfrm>
          <a:prstGeom prst="rect">
            <a:avLst/>
          </a:prstGeom>
          <a:noFill/>
        </p:spPr>
        <p:txBody>
          <a:bodyPr wrap="square" lIns="0" tIns="0" rIns="0" bIns="0" anchor="t">
            <a:spAutoFit/>
          </a:bodyPr>
          <a:lstStyle/>
          <a:p>
            <a:pPr algn="l" rtl="0">
              <a:lnSpc>
                <a:spcPct val="115000"/>
              </a:lnSpc>
            </a:pPr>
            <a:r>
              <a:rPr sz="950" b="0" i="0" spc="100">
                <a:solidFill>
                  <a:srgbClr val="57635D"/>
                </a:solidFill>
                <a:latin typeface="Cairo"/>
                <a:cs typeface="Cairo"/>
              </a:rPr>
              <a:t>14 / 14</a:t>
            </a:r>
            <a:endParaRPr sz="950" b="0" i="0" spc="100">
              <a:solidFill>
                <a:srgbClr val="57635D"/>
              </a:solidFill>
              <a:latin typeface="Cairo"/>
              <a:cs typeface="Cairo"/>
            </a:endParaRPr>
          </a:p>
        </p:txBody>
      </p:sp>
      <p:cxnSp>
        <p:nvCxnSpPr>
          <p:cNvPr id="5" name="Connector 4"/>
          <p:cNvCxnSpPr/>
          <p:nvPr/>
        </p:nvCxnSpPr>
        <p:spPr>
          <a:xfrm>
            <a:off x="612647" y="822960"/>
            <a:ext cx="10966400" cy="0"/>
          </a:xfrm>
          <a:prstGeom prst="line">
            <a:avLst/>
          </a:prstGeom>
          <a:ln w="9525">
            <a:solidFill>
              <a:srgbClr val="D9D2C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921447" y="6364224"/>
            <a:ext cx="3657600" cy="256032"/>
          </a:xfrm>
          <a:prstGeom prst="rect">
            <a:avLst/>
          </a:prstGeom>
          <a:noFill/>
        </p:spPr>
        <p:txBody>
          <a:bodyPr wrap="square" lIns="0" tIns="0" rIns="0" bIns="0" anchor="t">
            <a:spAutoFit/>
          </a:bodyPr>
          <a:lstStyle/>
          <a:p>
            <a:pPr algn="r" rtl="0">
              <a:lnSpc>
                <a:spcPct val="115000"/>
              </a:lnSpc>
            </a:pPr>
            <a:r>
              <a:rPr sz="900" b="1" i="0">
                <a:solidFill>
                  <a:srgbClr val="57635D"/>
                </a:solidFill>
                <a:latin typeface="Cairo"/>
                <a:cs typeface="Cairo"/>
              </a:rPr>
              <a:t>Hasio</a:t>
            </a:r>
            <a:endParaRPr sz="900" b="1" i="0">
              <a:solidFill>
                <a:srgbClr val="57635D"/>
              </a:solidFill>
              <a:latin typeface="Cairo"/>
              <a:cs typeface="Cairo"/>
            </a:endParaRPr>
          </a:p>
        </p:txBody>
      </p:sp>
      <p:sp>
        <p:nvSpPr>
          <p:cNvPr id="7" name="TextBox 6"/>
          <p:cNvSpPr txBox="1"/>
          <p:nvPr/>
        </p:nvSpPr>
        <p:spPr>
          <a:xfrm>
            <a:off x="612647" y="6364224"/>
            <a:ext cx="3657600" cy="256032"/>
          </a:xfrm>
          <a:prstGeom prst="rect">
            <a:avLst/>
          </a:prstGeom>
          <a:noFill/>
        </p:spPr>
        <p:txBody>
          <a:bodyPr wrap="square" lIns="0" tIns="0" rIns="0" bIns="0" anchor="t">
            <a:spAutoFit/>
          </a:bodyPr>
          <a:lstStyle/>
          <a:p>
            <a:pPr algn="l" rtl="1">
              <a:lnSpc>
                <a:spcPct val="115000"/>
              </a:lnSpc>
            </a:pPr>
            <a:r>
              <a:rPr sz="900" b="0" i="0">
                <a:solidFill>
                  <a:srgbClr val="57635D"/>
                </a:solidFill>
                <a:latin typeface="Cairo"/>
                <a:cs typeface="Cairo"/>
              </a:rPr>
              <a:t>الطلب</a:t>
            </a:r>
            <a:endParaRPr sz="900" b="0" i="0">
              <a:solidFill>
                <a:srgbClr val="57635D"/>
              </a:solidFill>
              <a:latin typeface="Cairo"/>
              <a:cs typeface="Cairo"/>
            </a:endParaRPr>
          </a:p>
        </p:txBody>
      </p:sp>
      <p:sp>
        <p:nvSpPr>
          <p:cNvPr id="8" name="TextBox 7"/>
          <p:cNvSpPr txBox="1"/>
          <p:nvPr/>
        </p:nvSpPr>
        <p:spPr>
          <a:xfrm>
            <a:off x="5909767" y="1097280"/>
            <a:ext cx="5669280" cy="1280160"/>
          </a:xfrm>
          <a:prstGeom prst="rect">
            <a:avLst/>
          </a:prstGeom>
          <a:noFill/>
        </p:spPr>
        <p:txBody>
          <a:bodyPr wrap="square" lIns="0" tIns="0" rIns="0" bIns="0" anchor="t">
            <a:spAutoFit/>
          </a:bodyPr>
          <a:lstStyle/>
          <a:p>
            <a:pPr algn="r" rtl="1">
              <a:lnSpc>
                <a:spcPct val="120000"/>
              </a:lnSpc>
            </a:pPr>
            <a:r>
              <a:rPr sz="2500" b="1" i="0">
                <a:solidFill>
                  <a:srgbClr val="1C1B1B"/>
                </a:solidFill>
                <a:latin typeface="Cairo"/>
                <a:cs typeface="Cairo"/>
              </a:rPr>
              <a:t>نجمع جولة تأسيسية لنمتلك المنطقة الشرقية، ثم المملكة.</a:t>
            </a:r>
            <a:endParaRPr sz="2500" b="1" i="0">
              <a:solidFill>
                <a:srgbClr val="1C1B1B"/>
              </a:solidFill>
              <a:latin typeface="Cairo"/>
              <a:cs typeface="Cairo"/>
            </a:endParaRPr>
          </a:p>
        </p:txBody>
      </p:sp>
      <p:sp>
        <p:nvSpPr>
          <p:cNvPr id="9" name="TextBox 8"/>
          <p:cNvSpPr txBox="1"/>
          <p:nvPr/>
        </p:nvSpPr>
        <p:spPr>
          <a:xfrm>
            <a:off x="6184087" y="2606040"/>
            <a:ext cx="5394960" cy="822960"/>
          </a:xfrm>
          <a:prstGeom prst="rect">
            <a:avLst/>
          </a:prstGeom>
          <a:noFill/>
        </p:spPr>
        <p:txBody>
          <a:bodyPr wrap="square" lIns="0" tIns="0" rIns="0" bIns="0" anchor="t">
            <a:spAutoFit/>
          </a:bodyPr>
          <a:lstStyle/>
          <a:p>
            <a:pPr algn="r" rtl="1">
              <a:lnSpc>
                <a:spcPct val="145000"/>
              </a:lnSpc>
            </a:pPr>
            <a:r>
              <a:rPr sz="1200" b="0" i="0">
                <a:solidFill>
                  <a:srgbClr val="1C1B1B"/>
                </a:solidFill>
                <a:latin typeface="Cairo"/>
                <a:cs typeface="Cairo"/>
              </a:rPr>
              <a:t>المنتج مبني ومتاح. يذهب رأس المال إلى العرض والإيراد وبرنامج الالتقاط، لا إلى بناء نسخة أولى.</a:t>
            </a:r>
            <a:endParaRPr sz="1200" b="0" i="0">
              <a:solidFill>
                <a:srgbClr val="1C1B1B"/>
              </a:solidFill>
              <a:latin typeface="Cairo"/>
              <a:cs typeface="Cairo"/>
            </a:endParaRPr>
          </a:p>
        </p:txBody>
      </p:sp>
      <p:sp>
        <p:nvSpPr>
          <p:cNvPr id="10" name="TextBox 9"/>
          <p:cNvSpPr txBox="1"/>
          <p:nvPr/>
        </p:nvSpPr>
        <p:spPr>
          <a:xfrm>
            <a:off x="9402775" y="3520440"/>
            <a:ext cx="2176272" cy="256032"/>
          </a:xfrm>
          <a:prstGeom prst="rect">
            <a:avLst/>
          </a:prstGeom>
          <a:noFill/>
        </p:spPr>
        <p:txBody>
          <a:bodyPr wrap="square" lIns="0" tIns="0" rIns="0" bIns="0" anchor="t">
            <a:spAutoFit/>
          </a:bodyPr>
          <a:lstStyle/>
          <a:p>
            <a:pPr algn="r" rtl="1">
              <a:lnSpc>
                <a:spcPct val="115000"/>
              </a:lnSpc>
            </a:pPr>
            <a:r>
              <a:rPr sz="950" b="1" i="0">
                <a:solidFill>
                  <a:srgbClr val="57635D"/>
                </a:solidFill>
                <a:latin typeface="Cairo"/>
                <a:cs typeface="Cairo"/>
              </a:rPr>
              <a:t>استخدام التمويل</a:t>
            </a:r>
            <a:endParaRPr sz="950" b="1" i="0">
              <a:solidFill>
                <a:srgbClr val="57635D"/>
              </a:solidFill>
              <a:latin typeface="Cairo"/>
              <a:cs typeface="Cairo"/>
            </a:endParaRPr>
          </a:p>
        </p:txBody>
      </p:sp>
      <p:sp>
        <p:nvSpPr>
          <p:cNvPr id="11" name="TextBox 10"/>
          <p:cNvSpPr txBox="1"/>
          <p:nvPr/>
        </p:nvSpPr>
        <p:spPr>
          <a:xfrm>
            <a:off x="8609076" y="3520440"/>
            <a:ext cx="702259" cy="256032"/>
          </a:xfrm>
          <a:prstGeom prst="rect">
            <a:avLst/>
          </a:prstGeom>
          <a:noFill/>
        </p:spPr>
        <p:txBody>
          <a:bodyPr wrap="square" lIns="0" tIns="0" rIns="0" bIns="0" anchor="t">
            <a:spAutoFit/>
          </a:bodyPr>
          <a:lstStyle/>
          <a:p>
            <a:pPr algn="r" rtl="1">
              <a:lnSpc>
                <a:spcPct val="115000"/>
              </a:lnSpc>
            </a:pPr>
            <a:r>
              <a:rPr sz="950" b="1" i="0">
                <a:solidFill>
                  <a:srgbClr val="57635D"/>
                </a:solidFill>
                <a:latin typeface="Cairo"/>
                <a:cs typeface="Cairo"/>
              </a:rPr>
              <a:t>الحصة</a:t>
            </a:r>
            <a:endParaRPr sz="950" b="1" i="0">
              <a:solidFill>
                <a:srgbClr val="57635D"/>
              </a:solidFill>
              <a:latin typeface="Cairo"/>
              <a:cs typeface="Cairo"/>
            </a:endParaRPr>
          </a:p>
        </p:txBody>
      </p:sp>
      <p:sp>
        <p:nvSpPr>
          <p:cNvPr id="12" name="TextBox 11"/>
          <p:cNvSpPr txBox="1"/>
          <p:nvPr/>
        </p:nvSpPr>
        <p:spPr>
          <a:xfrm>
            <a:off x="6001207" y="3520440"/>
            <a:ext cx="2516428" cy="256032"/>
          </a:xfrm>
          <a:prstGeom prst="rect">
            <a:avLst/>
          </a:prstGeom>
          <a:noFill/>
        </p:spPr>
        <p:txBody>
          <a:bodyPr wrap="square" lIns="0" tIns="0" rIns="0" bIns="0" anchor="t">
            <a:spAutoFit/>
          </a:bodyPr>
          <a:lstStyle/>
          <a:p>
            <a:pPr algn="r" rtl="1">
              <a:lnSpc>
                <a:spcPct val="115000"/>
              </a:lnSpc>
            </a:pPr>
            <a:r>
              <a:rPr sz="950" b="1" i="0">
                <a:solidFill>
                  <a:srgbClr val="57635D"/>
                </a:solidFill>
                <a:latin typeface="Cairo"/>
                <a:cs typeface="Cairo"/>
              </a:rPr>
              <a:t>النتيجة خلال 18 شهراً</a:t>
            </a:r>
            <a:endParaRPr sz="950" b="1" i="0">
              <a:solidFill>
                <a:srgbClr val="57635D"/>
              </a:solidFill>
              <a:latin typeface="Cairo"/>
              <a:cs typeface="Cairo"/>
            </a:endParaRPr>
          </a:p>
        </p:txBody>
      </p:sp>
      <p:cxnSp>
        <p:nvCxnSpPr>
          <p:cNvPr id="13" name="Connector 12"/>
          <p:cNvCxnSpPr/>
          <p:nvPr/>
        </p:nvCxnSpPr>
        <p:spPr>
          <a:xfrm>
            <a:off x="5909767" y="3813048"/>
            <a:ext cx="5669280" cy="0"/>
          </a:xfrm>
          <a:prstGeom prst="line">
            <a:avLst/>
          </a:prstGeom>
          <a:ln w="9525">
            <a:solidFill>
              <a:srgbClr val="D9D2C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9402775" y="3886200"/>
            <a:ext cx="2176272" cy="548640"/>
          </a:xfrm>
          <a:prstGeom prst="rect">
            <a:avLst/>
          </a:prstGeom>
          <a:noFill/>
        </p:spPr>
        <p:txBody>
          <a:bodyPr wrap="square" lIns="0" tIns="0" rIns="0" bIns="0" anchor="t">
            <a:spAutoFit/>
          </a:bodyPr>
          <a:lstStyle/>
          <a:p>
            <a:pPr algn="r" rtl="1">
              <a:lnSpc>
                <a:spcPct val="130000"/>
              </a:lnSpc>
            </a:pPr>
            <a:r>
              <a:rPr sz="1000" b="1" i="0">
                <a:solidFill>
                  <a:srgbClr val="0D7A5F"/>
                </a:solidFill>
                <a:latin typeface="Cairo"/>
                <a:cs typeface="Cairo"/>
              </a:rPr>
              <a:t>العرض والإدخال الميداني</a:t>
            </a:r>
            <a:endParaRPr sz="1000" b="1" i="0">
              <a:solidFill>
                <a:srgbClr val="0D7A5F"/>
              </a:solidFill>
              <a:latin typeface="Cairo"/>
              <a:cs typeface="Cairo"/>
            </a:endParaRPr>
          </a:p>
        </p:txBody>
      </p:sp>
      <p:sp>
        <p:nvSpPr>
          <p:cNvPr id="15" name="TextBox 14"/>
          <p:cNvSpPr txBox="1"/>
          <p:nvPr/>
        </p:nvSpPr>
        <p:spPr>
          <a:xfrm>
            <a:off x="8609076" y="3886200"/>
            <a:ext cx="702259" cy="548640"/>
          </a:xfrm>
          <a:prstGeom prst="rect">
            <a:avLst/>
          </a:prstGeom>
          <a:noFill/>
        </p:spPr>
        <p:txBody>
          <a:bodyPr wrap="square" lIns="0" tIns="0" rIns="0" bIns="0" anchor="t">
            <a:spAutoFit/>
          </a:bodyPr>
          <a:lstStyle/>
          <a:p>
            <a:pPr algn="r" rtl="1">
              <a:lnSpc>
                <a:spcPct val="130000"/>
              </a:lnSpc>
            </a:pPr>
            <a:r>
              <a:rPr sz="1000" b="0" i="0">
                <a:solidFill>
                  <a:srgbClr val="1C1B1B"/>
                </a:solidFill>
                <a:latin typeface="Cairo"/>
                <a:cs typeface="Cairo"/>
              </a:rPr>
              <a:t>35%</a:t>
            </a:r>
            <a:endParaRPr sz="1000" b="0" i="0">
              <a:solidFill>
                <a:srgbClr val="1C1B1B"/>
              </a:solidFill>
              <a:latin typeface="Cairo"/>
              <a:cs typeface="Cairo"/>
            </a:endParaRPr>
          </a:p>
        </p:txBody>
      </p:sp>
      <p:sp>
        <p:nvSpPr>
          <p:cNvPr id="16" name="TextBox 15"/>
          <p:cNvSpPr txBox="1"/>
          <p:nvPr/>
        </p:nvSpPr>
        <p:spPr>
          <a:xfrm>
            <a:off x="6001207" y="3886200"/>
            <a:ext cx="2516428" cy="548640"/>
          </a:xfrm>
          <a:prstGeom prst="rect">
            <a:avLst/>
          </a:prstGeom>
          <a:noFill/>
        </p:spPr>
        <p:txBody>
          <a:bodyPr wrap="square" lIns="0" tIns="0" rIns="0" bIns="0" anchor="t">
            <a:spAutoFit/>
          </a:bodyPr>
          <a:lstStyle/>
          <a:p>
            <a:pPr algn="r" rtl="1">
              <a:lnSpc>
                <a:spcPct val="130000"/>
              </a:lnSpc>
            </a:pPr>
            <a:r>
              <a:rPr sz="1000" b="0" i="0">
                <a:solidFill>
                  <a:srgbClr val="1C1B1B"/>
                </a:solidFill>
                <a:latin typeface="Cairo"/>
                <a:cs typeface="Cairo"/>
              </a:rPr>
              <a:t>أكثر من 300 منشأة ومقدّم خدمة موثّق، وحجوزات مدفوعة فعّالة</a:t>
            </a:r>
            <a:endParaRPr sz="1000" b="0" i="0">
              <a:solidFill>
                <a:srgbClr val="1C1B1B"/>
              </a:solidFill>
              <a:latin typeface="Cairo"/>
              <a:cs typeface="Cairo"/>
            </a:endParaRPr>
          </a:p>
        </p:txBody>
      </p:sp>
      <p:cxnSp>
        <p:nvCxnSpPr>
          <p:cNvPr id="17" name="Connector 16"/>
          <p:cNvCxnSpPr/>
          <p:nvPr/>
        </p:nvCxnSpPr>
        <p:spPr>
          <a:xfrm>
            <a:off x="5909767" y="4379976"/>
            <a:ext cx="5669280" cy="0"/>
          </a:xfrm>
          <a:prstGeom prst="line">
            <a:avLst/>
          </a:prstGeom>
          <a:ln w="9525">
            <a:solidFill>
              <a:srgbClr val="D9D2C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9402775" y="4434840"/>
            <a:ext cx="2176272" cy="548640"/>
          </a:xfrm>
          <a:prstGeom prst="rect">
            <a:avLst/>
          </a:prstGeom>
          <a:noFill/>
        </p:spPr>
        <p:txBody>
          <a:bodyPr wrap="square" lIns="0" tIns="0" rIns="0" bIns="0" anchor="t">
            <a:spAutoFit/>
          </a:bodyPr>
          <a:lstStyle/>
          <a:p>
            <a:pPr algn="r" rtl="1">
              <a:lnSpc>
                <a:spcPct val="130000"/>
              </a:lnSpc>
            </a:pPr>
            <a:r>
              <a:rPr sz="1000" b="1" i="0">
                <a:solidFill>
                  <a:srgbClr val="0D7A5F"/>
                </a:solidFill>
                <a:latin typeface="Cairo"/>
                <a:cs typeface="Cairo"/>
              </a:rPr>
              <a:t>المنتج والذكاء الاصطناعي</a:t>
            </a:r>
            <a:endParaRPr sz="1000" b="1" i="0">
              <a:solidFill>
                <a:srgbClr val="0D7A5F"/>
              </a:solidFill>
              <a:latin typeface="Cairo"/>
              <a:cs typeface="Cairo"/>
            </a:endParaRPr>
          </a:p>
        </p:txBody>
      </p:sp>
      <p:sp>
        <p:nvSpPr>
          <p:cNvPr id="19" name="TextBox 18"/>
          <p:cNvSpPr txBox="1"/>
          <p:nvPr/>
        </p:nvSpPr>
        <p:spPr>
          <a:xfrm>
            <a:off x="8609076" y="4434840"/>
            <a:ext cx="702259" cy="548640"/>
          </a:xfrm>
          <a:prstGeom prst="rect">
            <a:avLst/>
          </a:prstGeom>
          <a:noFill/>
        </p:spPr>
        <p:txBody>
          <a:bodyPr wrap="square" lIns="0" tIns="0" rIns="0" bIns="0" anchor="t">
            <a:spAutoFit/>
          </a:bodyPr>
          <a:lstStyle/>
          <a:p>
            <a:pPr algn="r" rtl="1">
              <a:lnSpc>
                <a:spcPct val="130000"/>
              </a:lnSpc>
            </a:pPr>
            <a:r>
              <a:rPr sz="1000" b="0" i="0">
                <a:solidFill>
                  <a:srgbClr val="1C1B1B"/>
                </a:solidFill>
                <a:latin typeface="Cairo"/>
                <a:cs typeface="Cairo"/>
              </a:rPr>
              <a:t>30%</a:t>
            </a:r>
            <a:endParaRPr sz="1000" b="0" i="0">
              <a:solidFill>
                <a:srgbClr val="1C1B1B"/>
              </a:solidFill>
              <a:latin typeface="Cairo"/>
              <a:cs typeface="Cairo"/>
            </a:endParaRPr>
          </a:p>
        </p:txBody>
      </p:sp>
      <p:sp>
        <p:nvSpPr>
          <p:cNvPr id="20" name="TextBox 19"/>
          <p:cNvSpPr txBox="1"/>
          <p:nvPr/>
        </p:nvSpPr>
        <p:spPr>
          <a:xfrm>
            <a:off x="6001207" y="4434840"/>
            <a:ext cx="2516428" cy="548640"/>
          </a:xfrm>
          <a:prstGeom prst="rect">
            <a:avLst/>
          </a:prstGeom>
          <a:noFill/>
        </p:spPr>
        <p:txBody>
          <a:bodyPr wrap="square" lIns="0" tIns="0" rIns="0" bIns="0" anchor="t">
            <a:spAutoFit/>
          </a:bodyPr>
          <a:lstStyle/>
          <a:p>
            <a:pPr algn="r" rtl="1">
              <a:lnSpc>
                <a:spcPct val="130000"/>
              </a:lnSpc>
            </a:pPr>
            <a:r>
              <a:rPr sz="1000" b="0" i="0">
                <a:solidFill>
                  <a:srgbClr val="1C1B1B"/>
                </a:solidFill>
                <a:latin typeface="Cairo"/>
                <a:cs typeface="Cairo"/>
              </a:rPr>
              <a:t>المدفوعات، والمرشد الصوتي في التطبيق، ومعاينات واقع معزّز لـ 100 إدراج</a:t>
            </a:r>
            <a:endParaRPr sz="1000" b="0" i="0">
              <a:solidFill>
                <a:srgbClr val="1C1B1B"/>
              </a:solidFill>
              <a:latin typeface="Cairo"/>
              <a:cs typeface="Cairo"/>
            </a:endParaRPr>
          </a:p>
        </p:txBody>
      </p:sp>
      <p:cxnSp>
        <p:nvCxnSpPr>
          <p:cNvPr id="21" name="Connector 20"/>
          <p:cNvCxnSpPr/>
          <p:nvPr/>
        </p:nvCxnSpPr>
        <p:spPr>
          <a:xfrm>
            <a:off x="5909767" y="4928616"/>
            <a:ext cx="5669280" cy="0"/>
          </a:xfrm>
          <a:prstGeom prst="line">
            <a:avLst/>
          </a:prstGeom>
          <a:ln w="9525">
            <a:solidFill>
              <a:srgbClr val="D9D2C6"/>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402775" y="4983479"/>
            <a:ext cx="2176272" cy="548640"/>
          </a:xfrm>
          <a:prstGeom prst="rect">
            <a:avLst/>
          </a:prstGeom>
          <a:noFill/>
        </p:spPr>
        <p:txBody>
          <a:bodyPr wrap="square" lIns="0" tIns="0" rIns="0" bIns="0" anchor="t">
            <a:spAutoFit/>
          </a:bodyPr>
          <a:lstStyle/>
          <a:p>
            <a:pPr algn="r" rtl="1">
              <a:lnSpc>
                <a:spcPct val="130000"/>
              </a:lnSpc>
            </a:pPr>
            <a:r>
              <a:rPr sz="1000" b="1" i="0">
                <a:solidFill>
                  <a:srgbClr val="0D7A5F"/>
                </a:solidFill>
                <a:latin typeface="Cairo"/>
                <a:cs typeface="Cairo"/>
              </a:rPr>
              <a:t>النمو والشراكات</a:t>
            </a:r>
            <a:endParaRPr sz="1000" b="1" i="0">
              <a:solidFill>
                <a:srgbClr val="0D7A5F"/>
              </a:solidFill>
              <a:latin typeface="Cairo"/>
              <a:cs typeface="Cairo"/>
            </a:endParaRPr>
          </a:p>
        </p:txBody>
      </p:sp>
      <p:sp>
        <p:nvSpPr>
          <p:cNvPr id="23" name="TextBox 22"/>
          <p:cNvSpPr txBox="1"/>
          <p:nvPr/>
        </p:nvSpPr>
        <p:spPr>
          <a:xfrm>
            <a:off x="8609076" y="4983479"/>
            <a:ext cx="702259" cy="548640"/>
          </a:xfrm>
          <a:prstGeom prst="rect">
            <a:avLst/>
          </a:prstGeom>
          <a:noFill/>
        </p:spPr>
        <p:txBody>
          <a:bodyPr wrap="square" lIns="0" tIns="0" rIns="0" bIns="0" anchor="t">
            <a:spAutoFit/>
          </a:bodyPr>
          <a:lstStyle/>
          <a:p>
            <a:pPr algn="r" rtl="1">
              <a:lnSpc>
                <a:spcPct val="130000"/>
              </a:lnSpc>
            </a:pPr>
            <a:r>
              <a:rPr sz="1000" b="0" i="0">
                <a:solidFill>
                  <a:srgbClr val="1C1B1B"/>
                </a:solidFill>
                <a:latin typeface="Cairo"/>
                <a:cs typeface="Cairo"/>
              </a:rPr>
              <a:t>25%</a:t>
            </a:r>
            <a:endParaRPr sz="1000" b="0" i="0">
              <a:solidFill>
                <a:srgbClr val="1C1B1B"/>
              </a:solidFill>
              <a:latin typeface="Cairo"/>
              <a:cs typeface="Cairo"/>
            </a:endParaRPr>
          </a:p>
        </p:txBody>
      </p:sp>
      <p:sp>
        <p:nvSpPr>
          <p:cNvPr id="24" name="TextBox 23"/>
          <p:cNvSpPr txBox="1"/>
          <p:nvPr/>
        </p:nvSpPr>
        <p:spPr>
          <a:xfrm>
            <a:off x="6001207" y="4983479"/>
            <a:ext cx="2516428" cy="548640"/>
          </a:xfrm>
          <a:prstGeom prst="rect">
            <a:avLst/>
          </a:prstGeom>
          <a:noFill/>
        </p:spPr>
        <p:txBody>
          <a:bodyPr wrap="square" lIns="0" tIns="0" rIns="0" bIns="0" anchor="t">
            <a:spAutoFit/>
          </a:bodyPr>
          <a:lstStyle/>
          <a:p>
            <a:pPr algn="r" rtl="1">
              <a:lnSpc>
                <a:spcPct val="130000"/>
              </a:lnSpc>
            </a:pPr>
            <a:r>
              <a:rPr sz="1000" b="0" i="0">
                <a:solidFill>
                  <a:srgbClr val="1C1B1B"/>
                </a:solidFill>
                <a:latin typeface="Cairo"/>
                <a:cs typeface="Cairo"/>
              </a:rPr>
              <a:t>100 ألف تثبيت في الخليج، وشراكتا وجهات</a:t>
            </a:r>
            <a:endParaRPr sz="1000" b="0" i="0">
              <a:solidFill>
                <a:srgbClr val="1C1B1B"/>
              </a:solidFill>
              <a:latin typeface="Cairo"/>
              <a:cs typeface="Cairo"/>
            </a:endParaRPr>
          </a:p>
        </p:txBody>
      </p:sp>
      <p:cxnSp>
        <p:nvCxnSpPr>
          <p:cNvPr id="25" name="Connector 24"/>
          <p:cNvCxnSpPr/>
          <p:nvPr/>
        </p:nvCxnSpPr>
        <p:spPr>
          <a:xfrm>
            <a:off x="5909767" y="5477255"/>
            <a:ext cx="5669280" cy="0"/>
          </a:xfrm>
          <a:prstGeom prst="line">
            <a:avLst/>
          </a:prstGeom>
          <a:ln w="9525">
            <a:solidFill>
              <a:srgbClr val="D9D2C6"/>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402775" y="5532119"/>
            <a:ext cx="2176272" cy="548640"/>
          </a:xfrm>
          <a:prstGeom prst="rect">
            <a:avLst/>
          </a:prstGeom>
          <a:noFill/>
        </p:spPr>
        <p:txBody>
          <a:bodyPr wrap="square" lIns="0" tIns="0" rIns="0" bIns="0" anchor="t">
            <a:spAutoFit/>
          </a:bodyPr>
          <a:lstStyle/>
          <a:p>
            <a:pPr algn="r" rtl="1">
              <a:lnSpc>
                <a:spcPct val="130000"/>
              </a:lnSpc>
            </a:pPr>
            <a:r>
              <a:rPr sz="1000" b="1" i="0">
                <a:solidFill>
                  <a:srgbClr val="0D7A5F"/>
                </a:solidFill>
                <a:latin typeface="Cairo"/>
                <a:cs typeface="Cairo"/>
              </a:rPr>
              <a:t>التشغيل والاحتياطي</a:t>
            </a:r>
            <a:endParaRPr sz="1000" b="1" i="0">
              <a:solidFill>
                <a:srgbClr val="0D7A5F"/>
              </a:solidFill>
              <a:latin typeface="Cairo"/>
              <a:cs typeface="Cairo"/>
            </a:endParaRPr>
          </a:p>
        </p:txBody>
      </p:sp>
      <p:sp>
        <p:nvSpPr>
          <p:cNvPr id="27" name="TextBox 26"/>
          <p:cNvSpPr txBox="1"/>
          <p:nvPr/>
        </p:nvSpPr>
        <p:spPr>
          <a:xfrm>
            <a:off x="8609076" y="5532119"/>
            <a:ext cx="702259" cy="548640"/>
          </a:xfrm>
          <a:prstGeom prst="rect">
            <a:avLst/>
          </a:prstGeom>
          <a:noFill/>
        </p:spPr>
        <p:txBody>
          <a:bodyPr wrap="square" lIns="0" tIns="0" rIns="0" bIns="0" anchor="t">
            <a:spAutoFit/>
          </a:bodyPr>
          <a:lstStyle/>
          <a:p>
            <a:pPr algn="r" rtl="1">
              <a:lnSpc>
                <a:spcPct val="130000"/>
              </a:lnSpc>
            </a:pPr>
            <a:r>
              <a:rPr sz="1000" b="0" i="0">
                <a:solidFill>
                  <a:srgbClr val="1C1B1B"/>
                </a:solidFill>
                <a:latin typeface="Cairo"/>
                <a:cs typeface="Cairo"/>
              </a:rPr>
              <a:t>10%</a:t>
            </a:r>
            <a:endParaRPr sz="1000" b="0" i="0">
              <a:solidFill>
                <a:srgbClr val="1C1B1B"/>
              </a:solidFill>
              <a:latin typeface="Cairo"/>
              <a:cs typeface="Cairo"/>
            </a:endParaRPr>
          </a:p>
        </p:txBody>
      </p:sp>
      <p:sp>
        <p:nvSpPr>
          <p:cNvPr id="28" name="TextBox 27"/>
          <p:cNvSpPr txBox="1"/>
          <p:nvPr/>
        </p:nvSpPr>
        <p:spPr>
          <a:xfrm>
            <a:off x="6001207" y="5532119"/>
            <a:ext cx="2516428" cy="548640"/>
          </a:xfrm>
          <a:prstGeom prst="rect">
            <a:avLst/>
          </a:prstGeom>
          <a:noFill/>
        </p:spPr>
        <p:txBody>
          <a:bodyPr wrap="square" lIns="0" tIns="0" rIns="0" bIns="0" anchor="t">
            <a:spAutoFit/>
          </a:bodyPr>
          <a:lstStyle/>
          <a:p>
            <a:pPr algn="r" rtl="1">
              <a:lnSpc>
                <a:spcPct val="130000"/>
              </a:lnSpc>
            </a:pPr>
            <a:r>
              <a:rPr sz="1000" b="0" i="0">
                <a:solidFill>
                  <a:srgbClr val="1C1B1B"/>
                </a:solidFill>
                <a:latin typeface="Cairo"/>
                <a:cs typeface="Cairo"/>
              </a:rPr>
              <a:t>احتياطي تشغيل لاثني عشر شهراً</a:t>
            </a:r>
            <a:endParaRPr sz="1000" b="0" i="0">
              <a:solidFill>
                <a:srgbClr val="1C1B1B"/>
              </a:solidFill>
              <a:latin typeface="Cairo"/>
              <a:cs typeface="Cairo"/>
            </a:endParaRPr>
          </a:p>
        </p:txBody>
      </p:sp>
      <p:cxnSp>
        <p:nvCxnSpPr>
          <p:cNvPr id="29" name="Connector 28"/>
          <p:cNvCxnSpPr/>
          <p:nvPr/>
        </p:nvCxnSpPr>
        <p:spPr>
          <a:xfrm>
            <a:off x="5909767" y="6025895"/>
            <a:ext cx="5669280" cy="0"/>
          </a:xfrm>
          <a:prstGeom prst="line">
            <a:avLst/>
          </a:prstGeom>
          <a:ln w="9525">
            <a:solidFill>
              <a:srgbClr val="D9D2C6"/>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047695" y="1188720"/>
            <a:ext cx="2194560" cy="548640"/>
          </a:xfrm>
          <a:prstGeom prst="rect">
            <a:avLst/>
          </a:prstGeom>
          <a:noFill/>
        </p:spPr>
        <p:txBody>
          <a:bodyPr wrap="square" lIns="0" tIns="0" rIns="0" bIns="0" anchor="t">
            <a:spAutoFit/>
          </a:bodyPr>
          <a:lstStyle/>
          <a:p>
            <a:pPr algn="r" rtl="0">
              <a:lnSpc>
                <a:spcPct val="100000"/>
              </a:lnSpc>
            </a:pPr>
            <a:r>
              <a:rPr sz="3600" b="0" i="0">
                <a:solidFill>
                  <a:srgbClr val="1C1B1B"/>
                </a:solidFill>
                <a:latin typeface="Cairo"/>
                <a:cs typeface="Cairo"/>
              </a:rPr>
              <a:t>متاح</a:t>
            </a:r>
            <a:endParaRPr sz="3600" b="0" i="0">
              <a:solidFill>
                <a:srgbClr val="1C1B1B"/>
              </a:solidFill>
              <a:latin typeface="Cairo"/>
              <a:cs typeface="Cairo"/>
            </a:endParaRPr>
          </a:p>
        </p:txBody>
      </p:sp>
      <p:sp>
        <p:nvSpPr>
          <p:cNvPr id="31" name="TextBox 30"/>
          <p:cNvSpPr txBox="1"/>
          <p:nvPr/>
        </p:nvSpPr>
        <p:spPr>
          <a:xfrm>
            <a:off x="3047695" y="1755648"/>
            <a:ext cx="2194560" cy="640080"/>
          </a:xfrm>
          <a:prstGeom prst="rect">
            <a:avLst/>
          </a:prstGeom>
          <a:noFill/>
        </p:spPr>
        <p:txBody>
          <a:bodyPr wrap="square" lIns="0" tIns="0" rIns="0" bIns="0" anchor="t">
            <a:spAutoFit/>
          </a:bodyPr>
          <a:lstStyle/>
          <a:p>
            <a:pPr algn="r" rtl="1">
              <a:lnSpc>
                <a:spcPct val="135000"/>
              </a:lnSpc>
            </a:pPr>
            <a:r>
              <a:rPr sz="1100" b="0" i="0">
                <a:solidFill>
                  <a:srgbClr val="57635D"/>
                </a:solidFill>
                <a:latin typeface="Cairo"/>
                <a:cs typeface="Cairo"/>
              </a:rPr>
              <a:t>على App Store و Google Play، الإصدار الأول متاح</a:t>
            </a:r>
            <a:endParaRPr sz="1100" b="0" i="0">
              <a:solidFill>
                <a:srgbClr val="57635D"/>
              </a:solidFill>
              <a:latin typeface="Cairo"/>
              <a:cs typeface="Cairo"/>
            </a:endParaRPr>
          </a:p>
        </p:txBody>
      </p:sp>
      <p:sp>
        <p:nvSpPr>
          <p:cNvPr id="32" name="TextBox 31"/>
          <p:cNvSpPr txBox="1"/>
          <p:nvPr/>
        </p:nvSpPr>
        <p:spPr>
          <a:xfrm>
            <a:off x="578815" y="1188720"/>
            <a:ext cx="2194560" cy="548640"/>
          </a:xfrm>
          <a:prstGeom prst="rect">
            <a:avLst/>
          </a:prstGeom>
          <a:noFill/>
        </p:spPr>
        <p:txBody>
          <a:bodyPr wrap="square" lIns="0" tIns="0" rIns="0" bIns="0" anchor="t">
            <a:spAutoFit/>
          </a:bodyPr>
          <a:lstStyle/>
          <a:p>
            <a:pPr algn="r" rtl="0">
              <a:lnSpc>
                <a:spcPct val="100000"/>
              </a:lnSpc>
            </a:pPr>
            <a:r>
              <a:rPr sz="3600" b="0" i="0">
                <a:solidFill>
                  <a:srgbClr val="1C1B1B"/>
                </a:solidFill>
                <a:latin typeface="Cairo"/>
                <a:cs typeface="Cairo"/>
              </a:rPr>
              <a:t>13</a:t>
            </a:r>
            <a:endParaRPr sz="3600" b="0" i="0">
              <a:solidFill>
                <a:srgbClr val="1C1B1B"/>
              </a:solidFill>
              <a:latin typeface="Cairo"/>
              <a:cs typeface="Cairo"/>
            </a:endParaRPr>
          </a:p>
        </p:txBody>
      </p:sp>
      <p:sp>
        <p:nvSpPr>
          <p:cNvPr id="33" name="TextBox 32"/>
          <p:cNvSpPr txBox="1"/>
          <p:nvPr/>
        </p:nvSpPr>
        <p:spPr>
          <a:xfrm>
            <a:off x="578815" y="1755648"/>
            <a:ext cx="2194560" cy="640080"/>
          </a:xfrm>
          <a:prstGeom prst="rect">
            <a:avLst/>
          </a:prstGeom>
          <a:noFill/>
        </p:spPr>
        <p:txBody>
          <a:bodyPr wrap="square" lIns="0" tIns="0" rIns="0" bIns="0" anchor="t">
            <a:spAutoFit/>
          </a:bodyPr>
          <a:lstStyle/>
          <a:p>
            <a:pPr algn="r" rtl="1">
              <a:lnSpc>
                <a:spcPct val="135000"/>
              </a:lnSpc>
            </a:pPr>
            <a:r>
              <a:rPr sz="1100" b="0" i="0">
                <a:solidFill>
                  <a:srgbClr val="57635D"/>
                </a:solidFill>
                <a:latin typeface="Cairo"/>
                <a:cs typeface="Cairo"/>
              </a:rPr>
              <a:t>مدينة مغطاة منذ اليوم الأول للجولة</a:t>
            </a:r>
            <a:endParaRPr sz="1100" b="0" i="0">
              <a:solidFill>
                <a:srgbClr val="57635D"/>
              </a:solidFill>
              <a:latin typeface="Cairo"/>
              <a:cs typeface="Cairo"/>
            </a:endParaRPr>
          </a:p>
        </p:txBody>
      </p:sp>
      <p:sp>
        <p:nvSpPr>
          <p:cNvPr id="34" name="TextBox 33"/>
          <p:cNvSpPr txBox="1"/>
          <p:nvPr/>
        </p:nvSpPr>
        <p:spPr>
          <a:xfrm>
            <a:off x="3047695" y="2834640"/>
            <a:ext cx="2194560" cy="548640"/>
          </a:xfrm>
          <a:prstGeom prst="rect">
            <a:avLst/>
          </a:prstGeom>
          <a:noFill/>
        </p:spPr>
        <p:txBody>
          <a:bodyPr wrap="square" lIns="0" tIns="0" rIns="0" bIns="0" anchor="t">
            <a:spAutoFit/>
          </a:bodyPr>
          <a:lstStyle/>
          <a:p>
            <a:pPr algn="r" rtl="0">
              <a:lnSpc>
                <a:spcPct val="100000"/>
              </a:lnSpc>
            </a:pPr>
            <a:r>
              <a:rPr sz="3600" b="0" i="0">
                <a:solidFill>
                  <a:srgbClr val="1C1B1B"/>
                </a:solidFill>
                <a:latin typeface="Cairo"/>
                <a:cs typeface="Cairo"/>
              </a:rPr>
              <a:t>2</a:t>
            </a:r>
            <a:endParaRPr sz="3600" b="0" i="0">
              <a:solidFill>
                <a:srgbClr val="1C1B1B"/>
              </a:solidFill>
              <a:latin typeface="Cairo"/>
              <a:cs typeface="Cairo"/>
            </a:endParaRPr>
          </a:p>
        </p:txBody>
      </p:sp>
      <p:sp>
        <p:nvSpPr>
          <p:cNvPr id="35" name="TextBox 34"/>
          <p:cNvSpPr txBox="1"/>
          <p:nvPr/>
        </p:nvSpPr>
        <p:spPr>
          <a:xfrm>
            <a:off x="3047695" y="3401568"/>
            <a:ext cx="2194560" cy="640080"/>
          </a:xfrm>
          <a:prstGeom prst="rect">
            <a:avLst/>
          </a:prstGeom>
          <a:noFill/>
        </p:spPr>
        <p:txBody>
          <a:bodyPr wrap="square" lIns="0" tIns="0" rIns="0" bIns="0" anchor="t">
            <a:spAutoFit/>
          </a:bodyPr>
          <a:lstStyle/>
          <a:p>
            <a:pPr algn="r" rtl="1">
              <a:lnSpc>
                <a:spcPct val="135000"/>
              </a:lnSpc>
            </a:pPr>
            <a:r>
              <a:rPr sz="1100" b="0" i="0">
                <a:solidFill>
                  <a:srgbClr val="57635D"/>
                </a:solidFill>
                <a:latin typeface="Cairo"/>
                <a:cs typeface="Cairo"/>
              </a:rPr>
              <a:t>مصدرا دخل جاهزان للتفعيل</a:t>
            </a:r>
            <a:endParaRPr sz="1100" b="0" i="0">
              <a:solidFill>
                <a:srgbClr val="57635D"/>
              </a:solidFill>
              <a:latin typeface="Cairo"/>
              <a:cs typeface="Cairo"/>
            </a:endParaRPr>
          </a:p>
        </p:txBody>
      </p:sp>
      <p:sp>
        <p:nvSpPr>
          <p:cNvPr id="36" name="TextBox 35"/>
          <p:cNvSpPr txBox="1"/>
          <p:nvPr/>
        </p:nvSpPr>
        <p:spPr>
          <a:xfrm>
            <a:off x="578815" y="2834640"/>
            <a:ext cx="2194560" cy="548640"/>
          </a:xfrm>
          <a:prstGeom prst="rect">
            <a:avLst/>
          </a:prstGeom>
          <a:noFill/>
        </p:spPr>
        <p:txBody>
          <a:bodyPr wrap="square" lIns="0" tIns="0" rIns="0" bIns="0" anchor="t">
            <a:spAutoFit/>
          </a:bodyPr>
          <a:lstStyle/>
          <a:p>
            <a:pPr algn="r" rtl="0">
              <a:lnSpc>
                <a:spcPct val="100000"/>
              </a:lnSpc>
            </a:pPr>
            <a:r>
              <a:rPr sz="3600" b="0" i="0">
                <a:solidFill>
                  <a:srgbClr val="1C1B1B"/>
                </a:solidFill>
                <a:latin typeface="Cairo"/>
                <a:cs typeface="Cairo"/>
              </a:rPr>
              <a:t>1</a:t>
            </a:r>
            <a:endParaRPr sz="3600" b="0" i="0">
              <a:solidFill>
                <a:srgbClr val="1C1B1B"/>
              </a:solidFill>
              <a:latin typeface="Cairo"/>
              <a:cs typeface="Cairo"/>
            </a:endParaRPr>
          </a:p>
        </p:txBody>
      </p:sp>
      <p:sp>
        <p:nvSpPr>
          <p:cNvPr id="37" name="TextBox 36"/>
          <p:cNvSpPr txBox="1"/>
          <p:nvPr/>
        </p:nvSpPr>
        <p:spPr>
          <a:xfrm>
            <a:off x="578815" y="3401568"/>
            <a:ext cx="2194560" cy="640080"/>
          </a:xfrm>
          <a:prstGeom prst="rect">
            <a:avLst/>
          </a:prstGeom>
          <a:noFill/>
        </p:spPr>
        <p:txBody>
          <a:bodyPr wrap="square" lIns="0" tIns="0" rIns="0" bIns="0" anchor="t">
            <a:spAutoFit/>
          </a:bodyPr>
          <a:lstStyle/>
          <a:p>
            <a:pPr algn="r" rtl="1">
              <a:lnSpc>
                <a:spcPct val="135000"/>
              </a:lnSpc>
            </a:pPr>
            <a:r>
              <a:rPr sz="1100" b="0" i="0">
                <a:solidFill>
                  <a:srgbClr val="57635D"/>
                </a:solidFill>
                <a:latin typeface="Cairo"/>
                <a:cs typeface="Cairo"/>
              </a:rPr>
              <a:t>وعد واحد: اشعر بالمكان قبل أن تذهب</a:t>
            </a:r>
            <a:endParaRPr sz="1100" b="0" i="0">
              <a:solidFill>
                <a:srgbClr val="57635D"/>
              </a:solidFill>
              <a:latin typeface="Cairo"/>
              <a:cs typeface="Cairo"/>
            </a:endParaRPr>
          </a:p>
        </p:txBody>
      </p:sp>
      <p:cxnSp>
        <p:nvCxnSpPr>
          <p:cNvPr id="38" name="Connector 37"/>
          <p:cNvCxnSpPr/>
          <p:nvPr/>
        </p:nvCxnSpPr>
        <p:spPr>
          <a:xfrm>
            <a:off x="624535" y="4526280"/>
            <a:ext cx="4617720" cy="0"/>
          </a:xfrm>
          <a:prstGeom prst="line">
            <a:avLst/>
          </a:prstGeom>
          <a:ln w="9525">
            <a:solidFill>
              <a:srgbClr val="D9D2C6"/>
            </a:solidFill>
          </a:ln>
        </p:spPr>
        <p:style>
          <a:lnRef idx="2">
            <a:schemeClr val="accent1"/>
          </a:lnRef>
          <a:fillRef idx="0">
            <a:schemeClr val="accent1"/>
          </a:fillRef>
          <a:effectRef idx="1">
            <a:schemeClr val="accent1"/>
          </a:effectRef>
          <a:fontRef idx="minor">
            <a:schemeClr val="tx1"/>
          </a:fontRef>
        </p:style>
      </p:cxnSp>
      <p:pic>
        <p:nvPicPr>
          <p:cNvPr id="39" name="Picture 38" descr="logo.png"/>
          <p:cNvPicPr>
            <a:picLocks noChangeAspect="1"/>
          </p:cNvPicPr>
          <p:nvPr/>
        </p:nvPicPr>
        <p:blipFill>
          <a:blip r:embed="rId1"/>
          <a:stretch>
            <a:fillRect/>
          </a:stretch>
        </p:blipFill>
        <p:spPr>
          <a:xfrm>
            <a:off x="4894783" y="4709160"/>
            <a:ext cx="347472" cy="347472"/>
          </a:xfrm>
          <a:prstGeom prst="rect">
            <a:avLst/>
          </a:prstGeom>
        </p:spPr>
      </p:pic>
      <p:sp>
        <p:nvSpPr>
          <p:cNvPr id="40" name="TextBox 39"/>
          <p:cNvSpPr txBox="1"/>
          <p:nvPr/>
        </p:nvSpPr>
        <p:spPr>
          <a:xfrm>
            <a:off x="2041855" y="4681728"/>
            <a:ext cx="2743200" cy="411480"/>
          </a:xfrm>
          <a:prstGeom prst="rect">
            <a:avLst/>
          </a:prstGeom>
          <a:noFill/>
        </p:spPr>
        <p:txBody>
          <a:bodyPr wrap="square" lIns="0" tIns="0" rIns="0" bIns="0" anchor="t">
            <a:spAutoFit/>
          </a:bodyPr>
          <a:lstStyle/>
          <a:p>
            <a:pPr algn="r" rtl="1">
              <a:lnSpc>
                <a:spcPct val="115000"/>
              </a:lnSpc>
            </a:pPr>
            <a:r>
              <a:rPr sz="2000" b="1" i="0">
                <a:solidFill>
                  <a:srgbClr val="1C1B1B"/>
                </a:solidFill>
                <a:latin typeface="Cairo"/>
                <a:cs typeface="Cairo"/>
              </a:rPr>
              <a:t>Hasio</a:t>
            </a:r>
            <a:endParaRPr sz="2000" b="1" i="0">
              <a:solidFill>
                <a:srgbClr val="1C1B1B"/>
              </a:solidFill>
              <a:latin typeface="Cairo"/>
              <a:cs typeface="Cairo"/>
            </a:endParaRPr>
          </a:p>
        </p:txBody>
      </p:sp>
      <p:sp>
        <p:nvSpPr>
          <p:cNvPr id="41" name="TextBox 40"/>
          <p:cNvSpPr txBox="1"/>
          <p:nvPr/>
        </p:nvSpPr>
        <p:spPr>
          <a:xfrm>
            <a:off x="624535" y="5212080"/>
            <a:ext cx="4617720" cy="292608"/>
          </a:xfrm>
          <a:prstGeom prst="rect">
            <a:avLst/>
          </a:prstGeom>
          <a:noFill/>
        </p:spPr>
        <p:txBody>
          <a:bodyPr wrap="square" lIns="0" tIns="0" rIns="0" bIns="0" anchor="t">
            <a:spAutoFit/>
          </a:bodyPr>
          <a:lstStyle/>
          <a:p>
            <a:pPr algn="r" rtl="1">
              <a:lnSpc>
                <a:spcPct val="115000"/>
              </a:lnSpc>
            </a:pPr>
            <a:r>
              <a:rPr sz="1250" b="1" i="0">
                <a:solidFill>
                  <a:srgbClr val="1C1B1B"/>
                </a:solidFill>
                <a:latin typeface="Cairo"/>
                <a:cs typeface="Cairo"/>
              </a:rPr>
              <a:t>مرزوق الشمري، المؤسس</a:t>
            </a:r>
            <a:endParaRPr sz="1250" b="1" i="0">
              <a:solidFill>
                <a:srgbClr val="1C1B1B"/>
              </a:solidFill>
              <a:latin typeface="Cairo"/>
              <a:cs typeface="Cairo"/>
            </a:endParaRPr>
          </a:p>
        </p:txBody>
      </p:sp>
      <p:sp>
        <p:nvSpPr>
          <p:cNvPr id="42" name="TextBox 41"/>
          <p:cNvSpPr txBox="1"/>
          <p:nvPr/>
        </p:nvSpPr>
        <p:spPr>
          <a:xfrm>
            <a:off x="624535" y="5504688"/>
            <a:ext cx="4617720" cy="292608"/>
          </a:xfrm>
          <a:prstGeom prst="rect">
            <a:avLst/>
          </a:prstGeom>
          <a:noFill/>
        </p:spPr>
        <p:txBody>
          <a:bodyPr wrap="square" lIns="0" tIns="0" rIns="0" bIns="0" anchor="t">
            <a:spAutoFit/>
          </a:bodyPr>
          <a:lstStyle/>
          <a:p>
            <a:pPr algn="r" rtl="1">
              <a:lnSpc>
                <a:spcPct val="115000"/>
              </a:lnSpc>
            </a:pPr>
            <a:r>
              <a:rPr sz="1050" b="0" i="0">
                <a:solidFill>
                  <a:srgbClr val="57635D"/>
                </a:solidFill>
                <a:latin typeface="Cairo"/>
                <a:cs typeface="Cairo"/>
              </a:rPr>
              <a:t>hasio.net  ·  الأحساء، المملكة العربية السعودية</a:t>
            </a:r>
            <a:endParaRPr sz="1050" b="0" i="0">
              <a:solidFill>
                <a:srgbClr val="57635D"/>
              </a:solidFill>
              <a:latin typeface="Cairo"/>
              <a:cs typeface="Cairo"/>
            </a:endParaRPr>
          </a:p>
        </p:txBody>
      </p:sp>
      <p:sp>
        <p:nvSpPr>
          <p:cNvPr id="43" name="TextBox 42"/>
          <p:cNvSpPr txBox="1"/>
          <p:nvPr/>
        </p:nvSpPr>
        <p:spPr>
          <a:xfrm>
            <a:off x="624535" y="5779008"/>
            <a:ext cx="4617720" cy="274320"/>
          </a:xfrm>
          <a:prstGeom prst="rect">
            <a:avLst/>
          </a:prstGeom>
          <a:noFill/>
        </p:spPr>
        <p:txBody>
          <a:bodyPr wrap="square" lIns="0" tIns="0" rIns="0" bIns="0" anchor="t">
            <a:spAutoFit/>
          </a:bodyPr>
          <a:lstStyle/>
          <a:p>
            <a:pPr algn="r" rtl="0">
              <a:lnSpc>
                <a:spcPct val="115000"/>
              </a:lnSpc>
            </a:pPr>
            <a:r>
              <a:rPr sz="1050" b="0" i="0">
                <a:solidFill>
                  <a:srgbClr val="57635D"/>
                </a:solidFill>
                <a:latin typeface="Cairo"/>
                <a:cs typeface="Cairo"/>
              </a:rPr>
              <a:t>+966 53 757 7789</a:t>
            </a:r>
            <a:endParaRPr sz="1050" b="0" i="0">
              <a:solidFill>
                <a:srgbClr val="57635D"/>
              </a:solidFill>
              <a:latin typeface="Cairo"/>
              <a:cs typeface="Cairo"/>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11438</Words>
  <Application>WPS Presentation</Application>
  <PresentationFormat>On-screen Show (4:3)</PresentationFormat>
  <Paragraphs>561</Paragraphs>
  <Slides>14</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14</vt:i4>
      </vt:variant>
    </vt:vector>
  </HeadingPairs>
  <TitlesOfParts>
    <vt:vector size="21" baseType="lpstr">
      <vt:lpstr>Arial</vt:lpstr>
      <vt:lpstr>SimSun</vt:lpstr>
      <vt:lpstr>Wingdings</vt:lpstr>
      <vt:lpstr>Arial</vt:lpstr>
      <vt:lpstr>Cairo</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Hasio · عرض للمستثمرين</dc:title>
  <dc:creator>مرزوق الشمري</dc:creator>
  <cp:lastModifiedBy>HP</cp:lastModifiedBy>
  <cp:revision>3</cp:revision>
  <dcterms:created xsi:type="dcterms:W3CDTF">2013-01-27T09:14:00Z</dcterms:created>
  <dcterms:modified xsi:type="dcterms:W3CDTF">2026-09-09T16:55:03Z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77E5CF977E494EE4A3BA84AAADF286A1_13</vt:lpwstr>
  </property>
  <property fmtid="{D5CDD505-2E9C-101B-9397-08002B2CF9AE}" pid="3" name="KSOProductBuildVer">
    <vt:lpwstr>1033-12.1.0.28485</vt:lpwstr>
  </property>
</Properties>
</file>